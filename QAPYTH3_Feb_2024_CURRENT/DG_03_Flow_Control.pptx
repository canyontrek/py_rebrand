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8"/>
  </p:notesMasterIdLst>
  <p:handoutMasterIdLst>
    <p:handoutMasterId r:id="rId29"/>
  </p:handoutMasterIdLst>
  <p:sldIdLst>
    <p:sldId id="304" r:id="rId5"/>
    <p:sldId id="305" r:id="rId6"/>
    <p:sldId id="283" r:id="rId7"/>
    <p:sldId id="302" r:id="rId8"/>
    <p:sldId id="301" r:id="rId9"/>
    <p:sldId id="284" r:id="rId10"/>
    <p:sldId id="285" r:id="rId11"/>
    <p:sldId id="286" r:id="rId12"/>
    <p:sldId id="287" r:id="rId13"/>
    <p:sldId id="288" r:id="rId14"/>
    <p:sldId id="289" r:id="rId15"/>
    <p:sldId id="290" r:id="rId16"/>
    <p:sldId id="291" r:id="rId17"/>
    <p:sldId id="292" r:id="rId18"/>
    <p:sldId id="293" r:id="rId19"/>
    <p:sldId id="303" r:id="rId20"/>
    <p:sldId id="294" r:id="rId21"/>
    <p:sldId id="295" r:id="rId22"/>
    <p:sldId id="296" r:id="rId23"/>
    <p:sldId id="297" r:id="rId24"/>
    <p:sldId id="298" r:id="rId25"/>
    <p:sldId id="299" r:id="rId26"/>
    <p:sldId id="306" r:id="rId27"/>
  </p:sldIdLst>
  <p:sldSz cx="12192000" cy="6858000"/>
  <p:notesSz cx="6645275" cy="9775825"/>
  <p:embeddedFontLst>
    <p:embeddedFont>
      <p:font typeface="Montserrat" pitchFamily="2" charset="0"/>
      <p:regular r:id="rId30"/>
      <p:bold r:id="rId31"/>
      <p:italic r:id="rId32"/>
      <p:boldItalic r:id="rId33"/>
    </p:embeddedFont>
    <p:embeddedFont>
      <p:font typeface="Montserrat Black" pitchFamily="2" charset="0"/>
      <p:bold r:id="rId34"/>
      <p:boldItalic r:id="rId35"/>
    </p:embeddedFont>
  </p:embeddedFontLst>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9EDB8"/>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EDA0EE-6011-4041-A862-163E312470D7}" v="5" dt="2023-08-22T15:28:25.9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15" autoAdjust="0"/>
    <p:restoredTop sz="82244" autoAdjust="0"/>
  </p:normalViewPr>
  <p:slideViewPr>
    <p:cSldViewPr snapToGrid="0" snapToObjects="1" showGuides="1">
      <p:cViewPr>
        <p:scale>
          <a:sx n="75" d="100"/>
          <a:sy n="75" d="100"/>
        </p:scale>
        <p:origin x="31" y="-1581"/>
      </p:cViewPr>
      <p:guideLst>
        <p:guide pos="3840"/>
        <p:guide orient="horz" pos="377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Lst>
  </p:outlineViewPr>
  <p:notesTextViewPr>
    <p:cViewPr>
      <p:scale>
        <a:sx n="125" d="100"/>
        <a:sy n="125" d="100"/>
      </p:scale>
      <p:origin x="0" y="0"/>
    </p:cViewPr>
  </p:notesTextViewPr>
  <p:sorterViewPr>
    <p:cViewPr>
      <p:scale>
        <a:sx n="66" d="100"/>
        <a:sy n="66" d="100"/>
      </p:scale>
      <p:origin x="0" y="0"/>
    </p:cViewPr>
  </p:sorterViewPr>
  <p:notesViewPr>
    <p:cSldViewPr snapToGrid="0" snapToObjects="1" showGuides="1">
      <p:cViewPr varScale="1">
        <p:scale>
          <a:sx n="35" d="100"/>
          <a:sy n="35" d="100"/>
        </p:scale>
        <p:origin x="2421" y="5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font" Target="fonts/font5.fntdata"/><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presProps" Target="presProps.xml"/></Relationships>
</file>

<file path=ppt/_rels/viewProps.xml.rels><?xml version="1.0" encoding="UTF-8" standalone="yes"?>
<Relationships xmlns="http://schemas.openxmlformats.org/package/2006/relationships"><Relationship Id="rId8" Type="http://schemas.openxmlformats.org/officeDocument/2006/relationships/slide" Target="slides/slide10.xml"/><Relationship Id="rId13" Type="http://schemas.openxmlformats.org/officeDocument/2006/relationships/slide" Target="slides/slide15.xml"/><Relationship Id="rId18" Type="http://schemas.openxmlformats.org/officeDocument/2006/relationships/slide" Target="slides/slide20.xml"/><Relationship Id="rId3" Type="http://schemas.openxmlformats.org/officeDocument/2006/relationships/slide" Target="slides/slide4.xml"/><Relationship Id="rId7" Type="http://schemas.openxmlformats.org/officeDocument/2006/relationships/slide" Target="slides/slide9.xml"/><Relationship Id="rId12" Type="http://schemas.openxmlformats.org/officeDocument/2006/relationships/slide" Target="slides/slide14.xml"/><Relationship Id="rId17" Type="http://schemas.openxmlformats.org/officeDocument/2006/relationships/slide" Target="slides/slide19.xml"/><Relationship Id="rId2" Type="http://schemas.openxmlformats.org/officeDocument/2006/relationships/slide" Target="slides/slide3.xml"/><Relationship Id="rId16" Type="http://schemas.openxmlformats.org/officeDocument/2006/relationships/slide" Target="slides/slide18.xml"/><Relationship Id="rId20" Type="http://schemas.openxmlformats.org/officeDocument/2006/relationships/slide" Target="slides/slide23.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3.xml"/><Relationship Id="rId5" Type="http://schemas.openxmlformats.org/officeDocument/2006/relationships/slide" Target="slides/slide6.xml"/><Relationship Id="rId15" Type="http://schemas.openxmlformats.org/officeDocument/2006/relationships/slide" Target="slides/slide17.xml"/><Relationship Id="rId10" Type="http://schemas.openxmlformats.org/officeDocument/2006/relationships/slide" Target="slides/slide12.xml"/><Relationship Id="rId19" Type="http://schemas.openxmlformats.org/officeDocument/2006/relationships/slide" Target="slides/slide21.xml"/><Relationship Id="rId4" Type="http://schemas.openxmlformats.org/officeDocument/2006/relationships/slide" Target="slides/slide5.xml"/><Relationship Id="rId9" Type="http://schemas.openxmlformats.org/officeDocument/2006/relationships/slide" Target="slides/slide11.xml"/><Relationship Id="rId14"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28/08/2025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28/08/2025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360363" y="1050925"/>
            <a:ext cx="5992812" cy="3371850"/>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latin typeface="Arial" charset="0"/>
              <a:cs typeface="Arial" charset="0"/>
            </a:endParaRPr>
          </a:p>
        </p:txBody>
      </p:sp>
    </p:spTree>
    <p:extLst>
      <p:ext uri="{BB962C8B-B14F-4D97-AF65-F5344CB8AC3E}">
        <p14:creationId xmlns:p14="http://schemas.microsoft.com/office/powerpoint/2010/main" val="4230687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body" idx="1"/>
          </p:nvPr>
        </p:nvSpPr>
        <p:spPr/>
        <p:txBody>
          <a:bodyPr/>
          <a:lstStyle/>
          <a:p>
            <a:r>
              <a:rPr lang="en-GB" dirty="0"/>
              <a:t>Now we look at decision making, if statements and loops. Finally, we look at how to give-up and exit our program.</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593187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3"/>
          <p:cNvSpPr>
            <a:spLocks noGrp="1" noChangeArrowheads="1"/>
          </p:cNvSpPr>
          <p:nvPr>
            <p:ph type="body" idx="1"/>
          </p:nvPr>
        </p:nvSpPr>
        <p:spPr/>
        <p:txBody>
          <a:bodyPr/>
          <a:lstStyle/>
          <a:p>
            <a:r>
              <a:rPr lang="en-GB" dirty="0"/>
              <a:t>The Python syntax for conditional statements is very simple. The condition is terminated by a colon, and membership of the block which follows is by consistent indentation. The indentation of the first line of the block is expected in lines which follow. A change in indentation, marks the end of the block (or an error if Python cannot figure out what you mean). The white-space used can be any amount but must be consistent.</a:t>
            </a:r>
          </a:p>
          <a:p>
            <a:endParaRPr lang="en-GB" dirty="0">
              <a:latin typeface="Montserrat"/>
            </a:endParaRPr>
          </a:p>
          <a:p>
            <a:r>
              <a:rPr lang="en-GB" dirty="0">
                <a:latin typeface="Montserrat"/>
              </a:rPr>
              <a:t>The usual set of comparison operators are supported:</a:t>
            </a:r>
          </a:p>
          <a:p>
            <a:pPr lvl="1"/>
            <a:r>
              <a:rPr lang="en-GB" dirty="0"/>
              <a:t>&gt; &lt; == &gt;= &lt;= or and not in</a:t>
            </a:r>
          </a:p>
          <a:p>
            <a:endParaRPr lang="en-GB" dirty="0">
              <a:latin typeface="Montserrat"/>
            </a:endParaRPr>
          </a:p>
          <a:p>
            <a:r>
              <a:rPr lang="en-GB" dirty="0">
                <a:latin typeface="Montserrat"/>
              </a:rPr>
              <a:t>No special operators are required for built-in types (like comparing strings), the standard operators are overloaded.</a:t>
            </a:r>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905114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3"/>
          <p:cNvSpPr>
            <a:spLocks noGrp="1" noChangeArrowheads="1"/>
          </p:cNvSpPr>
          <p:nvPr>
            <p:ph type="body" idx="1"/>
          </p:nvPr>
        </p:nvSpPr>
        <p:spPr/>
        <p:txBody>
          <a:bodyPr/>
          <a:lstStyle/>
          <a:p>
            <a:r>
              <a:rPr lang="en-GB" dirty="0"/>
              <a:t>A common test in a script is to test which platform the script is executing on. Useful for setting up different paths or environment variables in the script and therefore making the script more portable.</a:t>
            </a:r>
          </a:p>
          <a:p>
            <a:endParaRPr lang="en-GB" dirty="0"/>
          </a:p>
          <a:p>
            <a:r>
              <a:rPr lang="en-GB" dirty="0"/>
              <a:t>The </a:t>
            </a:r>
            <a:r>
              <a:rPr lang="en-GB" i="1" dirty="0"/>
              <a:t>sys</a:t>
            </a:r>
            <a:r>
              <a:rPr lang="en-GB" dirty="0"/>
              <a:t> module, so called as it provides access to system specific variables and functions that interact with the Python interpreter. There is a string object called platform that holds the current platform. Possible values include ‘</a:t>
            </a:r>
            <a:r>
              <a:rPr lang="en-GB" dirty="0" err="1"/>
              <a:t>linux</a:t>
            </a:r>
            <a:r>
              <a:rPr lang="en-GB" dirty="0"/>
              <a:t>’, ‘</a:t>
            </a:r>
            <a:r>
              <a:rPr lang="en-GB" dirty="0" err="1"/>
              <a:t>posix</a:t>
            </a:r>
            <a:r>
              <a:rPr lang="en-GB" dirty="0"/>
              <a:t>’, ‘win32’, ‘</a:t>
            </a:r>
            <a:r>
              <a:rPr lang="en-GB" dirty="0" err="1"/>
              <a:t>cygwin</a:t>
            </a:r>
            <a:r>
              <a:rPr lang="en-GB" dirty="0"/>
              <a:t>’, ‘Darwin’ and ‘openbsd6’.</a:t>
            </a:r>
          </a:p>
          <a:p>
            <a:endParaRPr lang="en-GB" dirty="0"/>
          </a:p>
          <a:p>
            <a:r>
              <a:rPr lang="en-GB" dirty="0"/>
              <a:t>Alternatively, we could use the </a:t>
            </a:r>
            <a:r>
              <a:rPr lang="en-GB" i="1" dirty="0"/>
              <a:t>platform</a:t>
            </a:r>
            <a:r>
              <a:rPr lang="en-GB" dirty="0"/>
              <a:t> module, and the </a:t>
            </a:r>
            <a:r>
              <a:rPr lang="en-GB" dirty="0" err="1"/>
              <a:t>platform.system</a:t>
            </a:r>
            <a:r>
              <a:rPr lang="en-GB" dirty="0"/>
              <a:t>() function to return the current platform, for example ‘Windows’. It also provides additional functions for finding the architecture, machine type, hostname, processor and which Python platform we are using – for example, ‘</a:t>
            </a:r>
            <a:r>
              <a:rPr lang="en-GB" dirty="0" err="1"/>
              <a:t>Cpython</a:t>
            </a:r>
            <a:r>
              <a:rPr lang="en-GB" dirty="0"/>
              <a:t>’.</a:t>
            </a:r>
          </a:p>
          <a:p>
            <a:endParaRPr lang="en-GB" dirty="0"/>
          </a:p>
          <a:p>
            <a:r>
              <a:rPr lang="en-GB" dirty="0"/>
              <a:t>The </a:t>
            </a:r>
            <a:r>
              <a:rPr lang="en-GB" i="1" dirty="0"/>
              <a:t>os</a:t>
            </a:r>
            <a:r>
              <a:rPr lang="en-GB" dirty="0"/>
              <a:t> module provides miscellaneous operating system interfaces and can also return the operating system with os.name, for example ‘</a:t>
            </a:r>
            <a:r>
              <a:rPr lang="en-GB" dirty="0" err="1"/>
              <a:t>nt</a:t>
            </a:r>
            <a:r>
              <a:rPr lang="en-GB" dirty="0"/>
              <a:t>’. But it the sys and platform equivalent provide more granular information and are preferred.</a:t>
            </a:r>
          </a:p>
          <a:p>
            <a:endParaRPr lang="en-GB" dirty="0"/>
          </a:p>
          <a:p>
            <a:r>
              <a:rPr lang="en-GB" dirty="0"/>
              <a:t>All three modules are part of the Python Standard Library.</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861879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3"/>
          <p:cNvSpPr>
            <a:spLocks noGrp="1" noChangeArrowheads="1"/>
          </p:cNvSpPr>
          <p:nvPr>
            <p:ph type="body" idx="1"/>
          </p:nvPr>
        </p:nvSpPr>
        <p:spPr/>
        <p:txBody>
          <a:bodyPr/>
          <a:lstStyle/>
          <a:p>
            <a:r>
              <a:rPr lang="en-GB" dirty="0"/>
              <a:t>Python was considered behind the times as this structure existed in many languages for a long time. Introduced in python 3.10, this was the first official method that allowed python coders to use a match, although there were many documented ‘get arounds’ for solutions.</a:t>
            </a:r>
          </a:p>
          <a:p>
            <a:endParaRPr lang="en-GB" dirty="0"/>
          </a:p>
          <a:p>
            <a:r>
              <a:rPr lang="en-GB" dirty="0"/>
              <a:t>By too vast, we mean any more than 3 </a:t>
            </a:r>
            <a:r>
              <a:rPr lang="en-GB" dirty="0" err="1"/>
              <a:t>elifs</a:t>
            </a:r>
            <a:r>
              <a:rPr lang="en-GB" dirty="0"/>
              <a:t>!</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831614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3"/>
          <p:cNvSpPr>
            <a:spLocks noGrp="1" noChangeArrowheads="1"/>
          </p:cNvSpPr>
          <p:nvPr>
            <p:ph type="body" idx="1"/>
          </p:nvPr>
        </p:nvSpPr>
        <p:spPr/>
        <p:txBody>
          <a:bodyPr/>
          <a:lstStyle/>
          <a:p>
            <a:r>
              <a:rPr lang="en-GB" dirty="0"/>
              <a:t>The Donald Knuth quote is from "Structured Programming with go to Statements", written in 1974.</a:t>
            </a:r>
          </a:p>
          <a:p>
            <a:endParaRPr lang="en-GB" dirty="0">
              <a:latin typeface="Montserrat"/>
            </a:endParaRPr>
          </a:p>
          <a:p>
            <a:r>
              <a:rPr lang="en-GB" dirty="0"/>
              <a:t>How much indentation should be used? It is generally thought that 4 spaces is the optimum, but it really does not matter if you disagree - pick the indentation that you feel is the best and stick with that. Tabs are usually a bad idea because their size varies between editors. What looks good in one may be terrible in another.</a:t>
            </a:r>
          </a:p>
          <a:p>
            <a:endParaRPr lang="en-GB" dirty="0">
              <a:latin typeface="Montserrat"/>
            </a:endParaRPr>
          </a:p>
          <a:p>
            <a:r>
              <a:rPr lang="en-GB" dirty="0"/>
              <a:t>In addition to the guidelines from PEP008 shown:</a:t>
            </a:r>
          </a:p>
          <a:p>
            <a:pPr lvl="1"/>
            <a:r>
              <a:rPr lang="en-GB" dirty="0">
                <a:latin typeface="Montserrat"/>
              </a:rPr>
              <a:t>Indentation </a:t>
            </a:r>
            <a:endParaRPr lang="en-GB" dirty="0"/>
          </a:p>
          <a:p>
            <a:pPr lvl="2"/>
            <a:r>
              <a:rPr lang="en-GB" dirty="0"/>
              <a:t>Use 4 spaces per indentation level. </a:t>
            </a:r>
          </a:p>
          <a:p>
            <a:pPr lvl="1"/>
            <a:r>
              <a:rPr lang="en-GB" dirty="0">
                <a:latin typeface="Montserrat"/>
              </a:rPr>
              <a:t>Tabs or Spaces? </a:t>
            </a:r>
            <a:endParaRPr lang="en-GB" dirty="0"/>
          </a:p>
          <a:p>
            <a:pPr lvl="2"/>
            <a:r>
              <a:rPr lang="en-GB" dirty="0"/>
              <a:t>Never mix tabs and spaces </a:t>
            </a:r>
          </a:p>
          <a:p>
            <a:pPr lvl="1"/>
            <a:r>
              <a:rPr lang="en-GB" dirty="0">
                <a:latin typeface="Montserrat"/>
              </a:rPr>
              <a:t>Tabs should be used solely to remain consistent with code that is already indented with tabs.</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12571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4" name="Rectangle 3"/>
          <p:cNvSpPr>
            <a:spLocks noGrp="1" noChangeArrowheads="1"/>
          </p:cNvSpPr>
          <p:nvPr>
            <p:ph type="body" idx="1"/>
          </p:nvPr>
        </p:nvSpPr>
        <p:spPr/>
        <p:txBody>
          <a:bodyPr/>
          <a:lstStyle/>
          <a:p>
            <a:r>
              <a:rPr lang="en-GB" dirty="0"/>
              <a:t>Unlike C based languages, not every statement in Python has a Boolean value.   For example, assignments cannot be mis-read as a comparison in Python, unless you specifically wrap it inside a bool. </a:t>
            </a:r>
          </a:p>
          <a:p>
            <a:endParaRPr lang="en-GB" dirty="0"/>
          </a:p>
          <a:p>
            <a:r>
              <a:rPr lang="en-GB" dirty="0"/>
              <a:t>The comparison operator == is overloaded for different classes and compares the values of two objects. If you wish to test if two variables refer to the same object, use </a:t>
            </a:r>
            <a:r>
              <a:rPr lang="en-GB" i="1" dirty="0"/>
              <a:t>is</a:t>
            </a:r>
            <a:r>
              <a:rPr lang="en-GB" dirty="0"/>
              <a:t>.</a:t>
            </a:r>
          </a:p>
          <a:p>
            <a:endParaRPr lang="en-GB" dirty="0"/>
          </a:p>
          <a:p>
            <a:r>
              <a:rPr lang="en-GB" dirty="0"/>
              <a:t>A useful operator (from awk) is </a:t>
            </a:r>
            <a:r>
              <a:rPr lang="en-GB" i="1" dirty="0"/>
              <a:t>in</a:t>
            </a:r>
            <a:r>
              <a:rPr lang="en-GB" dirty="0"/>
              <a:t>. This tests for membership of any sequence, including strings, lists, and dictionaries (where it tests for a key).  For example:</a:t>
            </a:r>
          </a:p>
          <a:p>
            <a:r>
              <a:rPr lang="en-GB" dirty="0">
                <a:latin typeface="Courier New" panose="02070309020205020404" pitchFamily="49" charset="0"/>
                <a:cs typeface="Courier New" panose="02070309020205020404" pitchFamily="49" charset="0"/>
              </a:rPr>
              <a:t>&gt;&gt;&gt; slang = "We luv Python“</a:t>
            </a:r>
          </a:p>
          <a:p>
            <a:r>
              <a:rPr lang="en-GB" dirty="0">
                <a:latin typeface="Courier New" panose="02070309020205020404" pitchFamily="49" charset="0"/>
                <a:cs typeface="Courier New" panose="02070309020205020404" pitchFamily="49" charset="0"/>
              </a:rPr>
              <a:t>&gt;&gt;&gt; if 'Python' in slang:</a:t>
            </a:r>
          </a:p>
          <a:p>
            <a:r>
              <a:rPr lang="en-GB" dirty="0">
                <a:latin typeface="Courier New" panose="02070309020205020404" pitchFamily="49" charset="0"/>
                <a:cs typeface="Courier New" panose="02070309020205020404" pitchFamily="49" charset="0"/>
              </a:rPr>
              <a:t>&gt;&gt;&gt;</a:t>
            </a:r>
            <a:r>
              <a:rPr lang="en-GB" dirty="0">
                <a:latin typeface="Courier New"/>
                <a:cs typeface="Courier New"/>
              </a:rPr>
              <a:t>    print("Python is in slang")</a:t>
            </a:r>
          </a:p>
          <a:p>
            <a:endParaRPr lang="en-GB" dirty="0">
              <a:latin typeface="Courier New"/>
              <a:cs typeface="Courier New"/>
            </a:endParaRPr>
          </a:p>
          <a:p>
            <a:r>
              <a:rPr lang="en-GB" dirty="0">
                <a:latin typeface="Courier New"/>
                <a:cs typeface="Courier New"/>
              </a:rPr>
              <a:t>&gt;&gt;&gt; </a:t>
            </a:r>
            <a:r>
              <a:rPr lang="en-GB" dirty="0" err="1">
                <a:latin typeface="Courier New"/>
                <a:cs typeface="Courier New"/>
              </a:rPr>
              <a:t>dlang</a:t>
            </a:r>
            <a:r>
              <a:rPr lang="en-GB" dirty="0">
                <a:latin typeface="Courier New"/>
                <a:cs typeface="Courier New"/>
              </a:rPr>
              <a:t> = {'Perl': '</a:t>
            </a:r>
            <a:r>
              <a:rPr lang="en-GB" dirty="0" err="1">
                <a:latin typeface="Courier New"/>
                <a:cs typeface="Courier New"/>
              </a:rPr>
              <a:t>sigils</a:t>
            </a:r>
            <a:r>
              <a:rPr lang="en-GB" dirty="0">
                <a:latin typeface="Courier New"/>
                <a:cs typeface="Courier New"/>
              </a:rPr>
              <a:t>',  'Python': 'indentation',  'PHP': 'functions', 'Ruby': 'Rails’</a:t>
            </a:r>
          </a:p>
          <a:p>
            <a:r>
              <a:rPr lang="en-GB" dirty="0">
                <a:latin typeface="Courier New"/>
                <a:cs typeface="Courier New"/>
              </a:rPr>
              <a:t>&gt;&gt;&gt; </a:t>
            </a:r>
            <a:r>
              <a:rPr lang="en-GB" dirty="0">
                <a:latin typeface="Courier New" panose="02070309020205020404" pitchFamily="49" charset="0"/>
                <a:cs typeface="Courier New" panose="02070309020205020404" pitchFamily="49" charset="0"/>
              </a:rPr>
              <a:t>if 'Python' in </a:t>
            </a:r>
            <a:r>
              <a:rPr lang="en-GB" dirty="0" err="1">
                <a:latin typeface="Courier New" panose="02070309020205020404" pitchFamily="49" charset="0"/>
                <a:cs typeface="Courier New" panose="02070309020205020404" pitchFamily="49" charset="0"/>
              </a:rPr>
              <a:t>dlang</a:t>
            </a:r>
            <a:r>
              <a:rPr lang="en-GB" dirty="0">
                <a:latin typeface="Courier New" panose="02070309020205020404" pitchFamily="49" charset="0"/>
                <a:cs typeface="Courier New" panose="02070309020205020404" pitchFamily="49" charset="0"/>
              </a:rPr>
              <a:t>:</a:t>
            </a:r>
          </a:p>
          <a:p>
            <a:r>
              <a:rPr lang="en-GB" dirty="0">
                <a:latin typeface="Courier New" panose="02070309020205020404" pitchFamily="49" charset="0"/>
                <a:cs typeface="Courier New" panose="02070309020205020404" pitchFamily="49" charset="0"/>
              </a:rPr>
              <a:t>&gt;&gt;&gt;</a:t>
            </a:r>
            <a:r>
              <a:rPr lang="en-GB" dirty="0">
                <a:latin typeface="Courier New"/>
                <a:cs typeface="Courier New"/>
              </a:rPr>
              <a:t>    print("Python is there: " + </a:t>
            </a:r>
            <a:r>
              <a:rPr lang="en-GB" dirty="0" err="1">
                <a:latin typeface="Courier New"/>
                <a:cs typeface="Courier New"/>
              </a:rPr>
              <a:t>dlang</a:t>
            </a:r>
            <a:r>
              <a:rPr lang="en-GB" dirty="0">
                <a:latin typeface="Courier New"/>
                <a:cs typeface="Courier New"/>
              </a:rPr>
              <a:t>['Python’])</a:t>
            </a:r>
          </a:p>
          <a:p>
            <a:endParaRPr lang="en-GB" dirty="0"/>
          </a:p>
          <a:p>
            <a:r>
              <a:rPr lang="en-GB" dirty="0"/>
              <a:t>Strangely, in Python 2 True and False are variables? So, this was legal, if silly:</a:t>
            </a:r>
          </a:p>
          <a:p>
            <a:r>
              <a:rPr lang="en-GB" dirty="0"/>
              <a:t>&gt;&gt;&gt; True = False</a:t>
            </a:r>
          </a:p>
          <a:p>
            <a:r>
              <a:rPr lang="en-GB" dirty="0"/>
              <a:t>Fortunately, that gives a </a:t>
            </a:r>
            <a:r>
              <a:rPr lang="en-GB" dirty="0" err="1"/>
              <a:t>SyntaxError</a:t>
            </a:r>
            <a:r>
              <a:rPr lang="en-GB" dirty="0"/>
              <a:t> in Python 3.</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416253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Rectangle 3"/>
          <p:cNvSpPr>
            <a:spLocks noGrp="1" noChangeArrowheads="1"/>
          </p:cNvSpPr>
          <p:nvPr>
            <p:ph type="body" idx="1"/>
          </p:nvPr>
        </p:nvSpPr>
        <p:spPr/>
        <p:txBody>
          <a:bodyPr/>
          <a:lstStyle/>
          <a:p>
            <a:r>
              <a:rPr lang="en-GB" dirty="0"/>
              <a:t>The Boolean (true/false) operators in Python are conventional in most ways. Unlike some languages, however the same operators are overloaded for different types. For example, these operators may be used to test numbers, strings, lists, or dictionaries. What happens when you mix incompatible types is discussed later.</a:t>
            </a:r>
          </a:p>
          <a:p>
            <a:endParaRPr lang="en-GB" dirty="0"/>
          </a:p>
          <a:p>
            <a:r>
              <a:rPr lang="en-GB" dirty="0"/>
              <a:t>The odd operator out in the list is ‘is’. All the other operators test the values placed either side of them, is tests the identity of the references themselves to see if they refer to the same object.</a:t>
            </a:r>
          </a:p>
          <a:p>
            <a:endParaRPr lang="en-GB" dirty="0"/>
          </a:p>
          <a:p>
            <a:r>
              <a:rPr lang="en-GB" dirty="0"/>
              <a:t>Python 2 not only had &lt;&gt;, but also a </a:t>
            </a:r>
            <a:r>
              <a:rPr lang="en-GB" i="1" dirty="0" err="1"/>
              <a:t>cmp</a:t>
            </a:r>
            <a:r>
              <a:rPr lang="en-GB" dirty="0"/>
              <a:t> built-in function which is now deprecated.</a:t>
            </a:r>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629532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Rectangle 3"/>
          <p:cNvSpPr>
            <a:spLocks noGrp="1" noChangeArrowheads="1"/>
          </p:cNvSpPr>
          <p:nvPr>
            <p:ph type="body" idx="1"/>
          </p:nvPr>
        </p:nvSpPr>
        <p:spPr/>
        <p:txBody>
          <a:bodyPr/>
          <a:lstStyle/>
          <a:p>
            <a:r>
              <a:rPr lang="en-GB" dirty="0"/>
              <a:t>A useful shortcut for complex tests (in 'if' statements or 'while' loops) are chained comparisons. These enable the programmer to write a more readable test when a range is concerned.</a:t>
            </a:r>
          </a:p>
          <a:p>
            <a:endParaRPr lang="en-GB" dirty="0">
              <a:latin typeface="Montserrat"/>
            </a:endParaRPr>
          </a:p>
          <a:p>
            <a:r>
              <a:rPr lang="en-GB" dirty="0">
                <a:latin typeface="Montserrat"/>
              </a:rPr>
              <a:t>They can become fairly complex, as our first example shows (and can get worse than that). In principle, you should write code that is easy to understand.  Only use a chained comparison, if it makes the code simpler - remember the Zen of Python.</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312100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3"/>
          <p:cNvSpPr>
            <a:spLocks noGrp="1" noChangeArrowheads="1"/>
          </p:cNvSpPr>
          <p:nvPr>
            <p:ph type="body" idx="1"/>
          </p:nvPr>
        </p:nvSpPr>
        <p:spPr/>
        <p:txBody>
          <a:bodyPr/>
          <a:lstStyle/>
          <a:p>
            <a:r>
              <a:rPr lang="en-GB" dirty="0"/>
              <a:t>An empty list is not the same as a list which has not been defined. A list, and any sequence (like a string), or dictionary, can exist but be empty, in which case it also has the Boolean value False.</a:t>
            </a:r>
          </a:p>
          <a:p>
            <a:endParaRPr lang="en-GB" dirty="0">
              <a:latin typeface="Montserrat"/>
            </a:endParaRPr>
          </a:p>
          <a:p>
            <a:r>
              <a:rPr lang="en-GB" dirty="0">
                <a:latin typeface="Montserrat"/>
              </a:rPr>
              <a:t>Sequences also support the built-in functions all() and any(), which are occasionally useful. The all() function returns True if all its objects evaluate to True, whilst any() returns True if any evaluate to True.</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1034028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Rectangle 3"/>
          <p:cNvSpPr>
            <a:spLocks noGrp="1" noChangeArrowheads="1"/>
          </p:cNvSpPr>
          <p:nvPr>
            <p:ph type="body" idx="1"/>
          </p:nvPr>
        </p:nvSpPr>
        <p:spPr/>
        <p:txBody>
          <a:bodyPr/>
          <a:lstStyle/>
          <a:p>
            <a:r>
              <a:rPr lang="en-GB" dirty="0"/>
              <a:t>A drawback of Python's use of overloaded operators is when a binary operator has two dissimilar objects on each side. In old releases of Python, it guessed which object's operator to use, and its guess was not always what the programmer intended. Fortunately, that has been fixed in Python 3, and we get an error message (Exception) as expected.</a:t>
            </a:r>
          </a:p>
          <a:p>
            <a:endParaRPr lang="en-GB" dirty="0">
              <a:latin typeface="Montserrat"/>
            </a:endParaRPr>
          </a:p>
          <a:p>
            <a:r>
              <a:rPr lang="en-GB" dirty="0">
                <a:latin typeface="Montserrat"/>
              </a:rPr>
              <a:t>It is important to force conversion to the correct type, often using the int() or str() functions. </a:t>
            </a:r>
            <a:endParaRPr lang="en-GB" dirty="0"/>
          </a:p>
          <a:p>
            <a:endParaRPr lang="en-GB" dirty="0">
              <a:latin typeface="Montserrat"/>
            </a:endParaRPr>
          </a:p>
          <a:p>
            <a:r>
              <a:rPr lang="en-GB" dirty="0">
                <a:latin typeface="Montserrat"/>
              </a:rPr>
              <a:t>This is the price we have to pay for simpler syntax, the alternative would be to have multiple operators (Perl) or a plethora of built-in functions for comparisons (PHP).</a:t>
            </a:r>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562650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4" name="Rectangle 3"/>
          <p:cNvSpPr>
            <a:spLocks noGrp="1" noChangeArrowheads="1"/>
          </p:cNvSpPr>
          <p:nvPr>
            <p:ph type="body" idx="1"/>
          </p:nvPr>
        </p:nvSpPr>
        <p:spPr/>
        <p:txBody>
          <a:bodyPr/>
          <a:lstStyle/>
          <a:p>
            <a:r>
              <a:rPr lang="en-GB" dirty="0"/>
              <a:t>The </a:t>
            </a:r>
            <a:r>
              <a:rPr lang="en-GB" dirty="0" err="1"/>
              <a:t>TypeError</a:t>
            </a:r>
            <a:r>
              <a:rPr lang="en-GB" dirty="0"/>
              <a:t> shown on the previous slide was actually an Exception. It can be trapped, and the error message changed, as follows:</a:t>
            </a:r>
          </a:p>
          <a:p>
            <a:pPr lvl="1"/>
            <a:r>
              <a:rPr lang="en-GB" dirty="0"/>
              <a:t>try:</a:t>
            </a:r>
          </a:p>
          <a:p>
            <a:pPr lvl="1"/>
            <a:r>
              <a:rPr lang="en-GB" dirty="0"/>
              <a:t>    if txt &lt; </a:t>
            </a:r>
            <a:r>
              <a:rPr lang="en-GB" dirty="0" err="1"/>
              <a:t>num</a:t>
            </a:r>
            <a:r>
              <a:rPr lang="en-GB" dirty="0"/>
              <a:t>:</a:t>
            </a:r>
          </a:p>
          <a:p>
            <a:pPr lvl="1"/>
            <a:r>
              <a:rPr lang="en-GB" dirty="0">
                <a:latin typeface="Montserrat"/>
              </a:rPr>
              <a:t>        print('Wow!')</a:t>
            </a:r>
          </a:p>
          <a:p>
            <a:pPr lvl="1"/>
            <a:r>
              <a:rPr lang="en-GB" dirty="0"/>
              <a:t>    else:</a:t>
            </a:r>
          </a:p>
          <a:p>
            <a:pPr lvl="1"/>
            <a:r>
              <a:rPr lang="en-GB" dirty="0">
                <a:latin typeface="Montserrat"/>
              </a:rPr>
              <a:t>        print('Doh!')</a:t>
            </a:r>
          </a:p>
          <a:p>
            <a:pPr lvl="1"/>
            <a:r>
              <a:rPr lang="en-GB" dirty="0"/>
              <a:t>except </a:t>
            </a:r>
            <a:r>
              <a:rPr lang="en-GB" dirty="0" err="1"/>
              <a:t>TypeError</a:t>
            </a:r>
            <a:r>
              <a:rPr lang="en-GB" dirty="0"/>
              <a:t>:</a:t>
            </a:r>
          </a:p>
          <a:p>
            <a:pPr lvl="1"/>
            <a:r>
              <a:rPr lang="en-GB" dirty="0"/>
              <a:t>    print("Invalid types compared", file=</a:t>
            </a:r>
            <a:r>
              <a:rPr lang="en-GB" dirty="0" err="1"/>
              <a:t>sys.stderr</a:t>
            </a:r>
            <a:r>
              <a:rPr lang="en-GB" dirty="0"/>
              <a:t>)</a:t>
            </a:r>
          </a:p>
          <a:p>
            <a:endParaRPr lang="en-GB" dirty="0"/>
          </a:p>
          <a:p>
            <a:r>
              <a:rPr lang="en-GB" dirty="0">
                <a:latin typeface="Montserrat"/>
              </a:rPr>
              <a:t>The try block contains code to be tested. Should any of that code (which is often a function call) raise an exception, then it can be trapped, and code executed in the except block to handle it. If an exception list is specified then the handler code will only be executed if the exception is in the list, otherwise the stack will be unwound until a handler is found. Unhandled exceptions terminate the program. Python exception handling also supports a finally and else block.</a:t>
            </a:r>
          </a:p>
          <a:p>
            <a:endParaRPr lang="en-GB" dirty="0">
              <a:latin typeface="Montserrat"/>
            </a:endParaRPr>
          </a:p>
          <a:p>
            <a:r>
              <a:rPr lang="en-GB" dirty="0"/>
              <a:t>We discuss exception handling in more detail later.</a:t>
            </a:r>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4212667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Rectangle 3"/>
          <p:cNvSpPr>
            <a:spLocks noGrp="1" noChangeArrowheads="1"/>
          </p:cNvSpPr>
          <p:nvPr>
            <p:ph type="body" idx="1"/>
          </p:nvPr>
        </p:nvSpPr>
        <p:spPr/>
        <p:txBody>
          <a:bodyPr/>
          <a:lstStyle/>
          <a:p>
            <a:r>
              <a:rPr lang="en-GB" dirty="0"/>
              <a:t>Loops follow a similar syntax to the if statements, membership of the body of the loop is by consistent indentation. The usual while loops and list processing for statement are available.  </a:t>
            </a:r>
          </a:p>
          <a:p>
            <a:endParaRPr lang="en-GB" dirty="0">
              <a:latin typeface="Montserrat"/>
            </a:endParaRPr>
          </a:p>
          <a:p>
            <a:r>
              <a:rPr lang="en-GB" dirty="0">
                <a:latin typeface="Montserrat"/>
              </a:rPr>
              <a:t>Somewhat unusually, in Python there is no do.. while loop.</a:t>
            </a:r>
          </a:p>
          <a:p>
            <a:endParaRPr lang="en-GB" dirty="0">
              <a:latin typeface="Montserrat"/>
            </a:endParaRPr>
          </a:p>
          <a:p>
            <a:r>
              <a:rPr lang="en-GB" dirty="0"/>
              <a:t>The first example is fairly simple but indicates that the tested variable must already exist. Missing out that initialisation would result in a </a:t>
            </a:r>
            <a:r>
              <a:rPr lang="en-GB" dirty="0" err="1"/>
              <a:t>NameError</a:t>
            </a:r>
            <a:r>
              <a:rPr lang="en-GB" dirty="0"/>
              <a:t> exception.</a:t>
            </a:r>
          </a:p>
          <a:p>
            <a:endParaRPr lang="en-GB" dirty="0">
              <a:latin typeface="Montserrat"/>
            </a:endParaRPr>
          </a:p>
          <a:p>
            <a:r>
              <a:rPr lang="en-GB" dirty="0">
                <a:latin typeface="Montserrat"/>
              </a:rPr>
              <a:t>The second example loops while the list is true and not empty. We are using the pop() list method (which we shall see later) which removes the last (right-most) item from a list and returns it.  </a:t>
            </a:r>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1041544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Rectangle 3"/>
          <p:cNvSpPr>
            <a:spLocks noGrp="1" noChangeArrowheads="1"/>
          </p:cNvSpPr>
          <p:nvPr>
            <p:ph type="body" idx="1"/>
          </p:nvPr>
        </p:nvSpPr>
        <p:spPr/>
        <p:txBody>
          <a:bodyPr/>
          <a:lstStyle/>
          <a:p>
            <a:r>
              <a:rPr lang="en-GB" dirty="0"/>
              <a:t>The loop control statements continue and break may be familiar from other languages such as C, C++, C#, Java, PHP,  </a:t>
            </a:r>
            <a:r>
              <a:rPr lang="en-GB" dirty="0" err="1"/>
              <a:t>awk</a:t>
            </a:r>
            <a:r>
              <a:rPr lang="en-GB" dirty="0"/>
              <a:t>, </a:t>
            </a:r>
            <a:r>
              <a:rPr lang="en-GB" dirty="0" err="1"/>
              <a:t>ksh</a:t>
            </a:r>
            <a:r>
              <a:rPr lang="en-GB" dirty="0"/>
              <a:t>, Bash. Their use is often frowned upon, and it is true that redesigning conditionals can often make them unnecessary. However, this can make code more difficult to follow, so our guideline is to use them when they make the code easier to follow.</a:t>
            </a:r>
          </a:p>
          <a:p>
            <a:endParaRPr lang="en-GB" dirty="0"/>
          </a:p>
          <a:p>
            <a:r>
              <a:rPr lang="en-GB" dirty="0"/>
              <a:t>The "do nothing" pass statement is unusual in languages (COBOL has NEXT SENTENCE) and is a consequence of Python's use of white-space to denote membership. Its use is not confined to loops - pass may be used in if statements, and usefully in an exception handler where we just want to ignore the exception.</a:t>
            </a:r>
          </a:p>
          <a:p>
            <a:endParaRPr lang="en-GB" dirty="0"/>
          </a:p>
          <a:p>
            <a:r>
              <a:rPr lang="en-GB" dirty="0"/>
              <a:t>The else: clause in a loop is also unusual. Statements that are part of this clause are executed when the loop exits, except for a break. In the example, the break is not executed because </a:t>
            </a:r>
            <a:r>
              <a:rPr lang="en-GB" dirty="0" err="1"/>
              <a:t>i</a:t>
            </a:r>
            <a:r>
              <a:rPr lang="en-GB" dirty="0"/>
              <a:t> will never exceed j, but if j was lower than 42, for example 12, then the break would be executed and the else: clause would not.</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4268878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6" name="Rectangle 3"/>
          <p:cNvSpPr>
            <a:spLocks noGrp="1" noChangeArrowheads="1"/>
          </p:cNvSpPr>
          <p:nvPr>
            <p:ph type="body" idx="1"/>
          </p:nvPr>
        </p:nvSpPr>
        <p:spPr/>
        <p:txBody>
          <a:bodyPr/>
          <a:lstStyle/>
          <a:p>
            <a:r>
              <a:rPr lang="en-GB" dirty="0"/>
              <a:t>Accessing a list or tuple sequentially (iterating) is a common enough requirement, and many languages have a for construct for this purpose. A difference with Python is that the iteration might not be done using a simple integer count, the class may have its own iterator (implemented in the class through __</a:t>
            </a:r>
            <a:r>
              <a:rPr lang="en-GB" dirty="0" err="1"/>
              <a:t>iter</a:t>
            </a:r>
            <a:r>
              <a:rPr lang="en-GB" dirty="0"/>
              <a:t>__). The for loop is preferable to using your own iterator and counting each element yourself - the class is much better at that sort of thing.  </a:t>
            </a:r>
          </a:p>
          <a:p>
            <a:endParaRPr lang="en-GB" dirty="0"/>
          </a:p>
          <a:p>
            <a:r>
              <a:rPr lang="en-GB" dirty="0"/>
              <a:t>The loop variable (</a:t>
            </a:r>
            <a:r>
              <a:rPr lang="en-GB" dirty="0" err="1"/>
              <a:t>arg</a:t>
            </a:r>
            <a:r>
              <a:rPr lang="en-GB" dirty="0"/>
              <a:t> in the example) holds a copy of each element, so altering the variable value will not alter the list (see later for a solution).</a:t>
            </a:r>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0565532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6" name="Rectangle 3"/>
          <p:cNvSpPr>
            <a:spLocks noGrp="1" noChangeArrowheads="1"/>
          </p:cNvSpPr>
          <p:nvPr>
            <p:ph type="body" idx="1"/>
          </p:nvPr>
        </p:nvSpPr>
        <p:spPr/>
        <p:txBody>
          <a:bodyPr/>
          <a:lstStyle/>
          <a:p>
            <a:r>
              <a:rPr lang="en-GB" dirty="0"/>
              <a:t>Iterator for loops can be combined with </a:t>
            </a:r>
            <a:r>
              <a:rPr lang="en-GB" dirty="0" err="1"/>
              <a:t>iterable</a:t>
            </a:r>
            <a:r>
              <a:rPr lang="en-GB" dirty="0"/>
              <a:t> objects, which is an object that contains multiple values. The </a:t>
            </a:r>
            <a:r>
              <a:rPr lang="en-GB" dirty="0" err="1"/>
              <a:t>glob.glob</a:t>
            </a:r>
            <a:r>
              <a:rPr lang="en-GB" dirty="0"/>
              <a:t>() function returns a list (</a:t>
            </a:r>
            <a:r>
              <a:rPr lang="en-GB" dirty="0" err="1"/>
              <a:t>iterable</a:t>
            </a:r>
            <a:r>
              <a:rPr lang="en-GB" dirty="0"/>
              <a:t> object) of files that match the given pattern. The loop can then iterate though the list of filenames (and directories) returned.</a:t>
            </a:r>
          </a:p>
          <a:p>
            <a:endParaRPr lang="en-GB" dirty="0"/>
          </a:p>
          <a:p>
            <a:r>
              <a:rPr lang="en-GB" dirty="0"/>
              <a:t>In this example we also use the </a:t>
            </a:r>
            <a:r>
              <a:rPr lang="en-GB" dirty="0" err="1"/>
              <a:t>os.path.getsize</a:t>
            </a:r>
            <a:r>
              <a:rPr lang="en-GB" dirty="0"/>
              <a:t>() function to get the size of each file.</a:t>
            </a:r>
          </a:p>
          <a:p>
            <a:endParaRPr lang="en-GB" dirty="0"/>
          </a:p>
          <a:p>
            <a:r>
              <a:rPr lang="en-GB" dirty="0"/>
              <a:t>One note to consider is that the glob() function returns a list which could be large if there is many files matched. An alternative would be to use the </a:t>
            </a:r>
            <a:r>
              <a:rPr lang="en-GB" dirty="0" err="1"/>
              <a:t>os.scandir</a:t>
            </a:r>
            <a:r>
              <a:rPr lang="en-GB" dirty="0"/>
              <a:t>() function that returns an iterator object (it is a generator function – more of that in a later chapter) and will yield one pathname at a time.</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4157652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0" name="Rectangle 3"/>
          <p:cNvSpPr>
            <a:spLocks noGrp="1" noChangeArrowheads="1"/>
          </p:cNvSpPr>
          <p:nvPr>
            <p:ph type="body" idx="1"/>
          </p:nvPr>
        </p:nvSpPr>
        <p:spPr/>
        <p:txBody>
          <a:bodyPr/>
          <a:lstStyle/>
          <a:p>
            <a:r>
              <a:rPr lang="en-GB" dirty="0">
                <a:latin typeface="Montserrat"/>
              </a:rPr>
              <a:t>The enumerate() function (added at Python 2.3) enables us to obtain the current position in a sequence, as well as the data item. This function can be used on any sequence: a list, tuple, string, or </a:t>
            </a:r>
            <a:r>
              <a:rPr lang="en-GB" dirty="0" err="1">
                <a:latin typeface="Montserrat"/>
              </a:rPr>
              <a:t>bytearray</a:t>
            </a:r>
            <a:r>
              <a:rPr lang="en-GB" dirty="0">
                <a:latin typeface="Montserrat"/>
              </a:rPr>
              <a:t> - or any object that supports iteration.</a:t>
            </a:r>
          </a:p>
          <a:p>
            <a:endParaRPr lang="en-GB" dirty="0">
              <a:latin typeface="Montserrat"/>
            </a:endParaRPr>
          </a:p>
          <a:p>
            <a:r>
              <a:rPr lang="en-GB" dirty="0"/>
              <a:t>Two items are returned from enumerate, the sequential number (starting from zero) and the data item at that position. We can also specify a different start number (introduced at Python 2.6).  </a:t>
            </a:r>
          </a:p>
          <a:p>
            <a:endParaRPr lang="en-GB" dirty="0">
              <a:latin typeface="Montserrat"/>
            </a:endParaRPr>
          </a:p>
          <a:p>
            <a:r>
              <a:rPr lang="en-GB" dirty="0"/>
              <a:t>On the slide, we show a less obvious use of enumerate, from a file open - we shall be describing file IO in more detail later.  </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5007237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4" name="Rectangle 3"/>
          <p:cNvSpPr>
            <a:spLocks noGrp="1" noChangeArrowheads="1"/>
          </p:cNvSpPr>
          <p:nvPr>
            <p:ph type="body" idx="1"/>
          </p:nvPr>
        </p:nvSpPr>
        <p:spPr/>
        <p:txBody>
          <a:bodyPr/>
          <a:lstStyle/>
          <a:p>
            <a:r>
              <a:rPr lang="en-GB" dirty="0">
                <a:latin typeface="Montserrat"/>
              </a:rPr>
              <a:t>The built-in range() (previously called </a:t>
            </a:r>
            <a:r>
              <a:rPr lang="en-GB" dirty="0" err="1">
                <a:latin typeface="Montserrat"/>
              </a:rPr>
              <a:t>xrange</a:t>
            </a:r>
            <a:r>
              <a:rPr lang="en-GB" dirty="0">
                <a:latin typeface="Montserrat"/>
              </a:rPr>
              <a:t>() in Python2) is often used to produce a list of values for counting. All parameters must be integers, but they can be positive or negative. Notice that the value of the stop parameter is never reached.</a:t>
            </a:r>
          </a:p>
          <a:p>
            <a:endParaRPr lang="en-GB" dirty="0">
              <a:latin typeface="Montserrat"/>
            </a:endParaRPr>
          </a:p>
          <a:p>
            <a:r>
              <a:rPr lang="en-GB" dirty="0"/>
              <a:t>Counting loops are popular in most primitive languages for iterating through lists, but often they are not required in Python - it is easier and faster to use a system generated iterator than to maintain your own.</a:t>
            </a:r>
          </a:p>
          <a:p>
            <a:endParaRPr lang="en-GB" dirty="0">
              <a:latin typeface="Montserrat"/>
            </a:endParaRPr>
          </a:p>
          <a:p>
            <a:r>
              <a:rPr lang="en-GB" dirty="0">
                <a:latin typeface="Montserrat"/>
              </a:rPr>
              <a:t>We mentioned earlier that the loop variable only holds a copy of the item in the loop, so altering it will not alter the sequence. We need an index to be able to do that and enumerate() comes to the rescue. To be fair, enumerate() cannot do everything - it does not have stop or step parameters.</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0602627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8" name="Rectangle 3"/>
          <p:cNvSpPr>
            <a:spLocks noGrp="1" noChangeArrowheads="1"/>
          </p:cNvSpPr>
          <p:nvPr>
            <p:ph type="body" idx="1"/>
          </p:nvPr>
        </p:nvSpPr>
        <p:spPr/>
        <p:txBody>
          <a:bodyPr/>
          <a:lstStyle/>
          <a:p>
            <a:r>
              <a:rPr lang="en-GB" dirty="0">
                <a:latin typeface="Montserrat"/>
              </a:rPr>
              <a:t>The zip() built-in function returns an iterator of tuples, and the most common use is shown. When used with a for loop and a tuple of loop variables, each loop variable is set to an item from the corresponding tuple (or list). It avoids having to create our own iterator, as in the classic C-style for loop.</a:t>
            </a:r>
          </a:p>
          <a:p>
            <a:endParaRPr lang="en-GB" dirty="0">
              <a:latin typeface="Montserrat"/>
            </a:endParaRPr>
          </a:p>
          <a:p>
            <a:r>
              <a:rPr lang="en-GB" dirty="0"/>
              <a:t>The function is useful in other scenarios. For example, here is a quick way of constructing a dictionary from lists of keys and values:</a:t>
            </a:r>
          </a:p>
          <a:p>
            <a:pPr lvl="1"/>
            <a:r>
              <a:rPr lang="en-GB" dirty="0">
                <a:latin typeface="Montserrat"/>
              </a:rPr>
              <a:t>keys = ['Australia', 'Eire', 'France', 'Finland', 'UK', 'US']</a:t>
            </a:r>
          </a:p>
          <a:p>
            <a:pPr lvl="1"/>
            <a:r>
              <a:rPr lang="en-GB" dirty="0" err="1">
                <a:latin typeface="Montserrat"/>
              </a:rPr>
              <a:t>vals</a:t>
            </a:r>
            <a:r>
              <a:rPr lang="en-GB" dirty="0">
                <a:latin typeface="Montserrat"/>
              </a:rPr>
              <a:t> = ['Canberra', 'Dublin', 'Paris', 'Helsinki', 'London', 'Washington']</a:t>
            </a:r>
          </a:p>
          <a:p>
            <a:pPr lvl="1"/>
            <a:r>
              <a:rPr lang="en-GB" dirty="0" err="1"/>
              <a:t>mydict</a:t>
            </a:r>
            <a:r>
              <a:rPr lang="en-GB" dirty="0"/>
              <a:t> = </a:t>
            </a:r>
            <a:r>
              <a:rPr lang="en-GB" dirty="0" err="1"/>
              <a:t>dict</a:t>
            </a:r>
            <a:r>
              <a:rPr lang="en-GB" dirty="0"/>
              <a:t>(zip(</a:t>
            </a:r>
            <a:r>
              <a:rPr lang="en-GB" dirty="0" err="1"/>
              <a:t>keys,vals</a:t>
            </a:r>
            <a:r>
              <a:rPr lang="en-GB" dirty="0"/>
              <a:t>))</a:t>
            </a:r>
          </a:p>
          <a:p>
            <a:pPr lvl="1"/>
            <a:endParaRPr lang="en-GB" dirty="0">
              <a:latin typeface="Montserrat"/>
            </a:endParaRPr>
          </a:p>
          <a:p>
            <a:r>
              <a:rPr lang="en-GB" dirty="0"/>
              <a:t>In Python 2 zip returned a list of tuples, in Python 3 zip returns an iterator of tuples, so Python 2 </a:t>
            </a:r>
            <a:r>
              <a:rPr lang="en-GB" dirty="0" err="1"/>
              <a:t>zlist</a:t>
            </a:r>
            <a:r>
              <a:rPr lang="en-GB" dirty="0"/>
              <a:t> = zip(</a:t>
            </a:r>
            <a:r>
              <a:rPr lang="en-GB" dirty="0" err="1"/>
              <a:t>keys,vals</a:t>
            </a:r>
            <a:r>
              <a:rPr lang="en-GB" dirty="0"/>
              <a:t>) becomes </a:t>
            </a:r>
            <a:r>
              <a:rPr lang="en-GB" dirty="0" err="1"/>
              <a:t>zlist</a:t>
            </a:r>
            <a:r>
              <a:rPr lang="en-GB" dirty="0"/>
              <a:t> = list(zip(</a:t>
            </a:r>
            <a:r>
              <a:rPr lang="en-GB" dirty="0" err="1"/>
              <a:t>keys,vals</a:t>
            </a:r>
            <a:r>
              <a:rPr lang="en-GB" dirty="0"/>
              <a:t>)) in Python 3.</a:t>
            </a:r>
          </a:p>
          <a:p>
            <a:endParaRPr lang="en-GB" dirty="0"/>
          </a:p>
          <a:p>
            <a:r>
              <a:rPr lang="en-GB" dirty="0">
                <a:latin typeface="Montserrat"/>
              </a:rPr>
              <a:t>It is worth noting that the zip() function has nothing to do with archiving like the similarly named tools on UNIX.</a:t>
            </a:r>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1941988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2" name="Rectangle 3"/>
          <p:cNvSpPr>
            <a:spLocks noGrp="1" noChangeArrowheads="1"/>
          </p:cNvSpPr>
          <p:nvPr>
            <p:ph type="body" idx="1"/>
          </p:nvPr>
        </p:nvSpPr>
        <p:spPr/>
        <p:txBody>
          <a:bodyPr/>
          <a:lstStyle/>
          <a:p>
            <a:r>
              <a:rPr lang="en-GB" dirty="0"/>
              <a:t>Conditional expressions replace the ternary conditional (:?) in C-style languages.  </a:t>
            </a:r>
          </a:p>
          <a:p>
            <a:endParaRPr lang="en-GB" dirty="0">
              <a:latin typeface="Montserrat"/>
            </a:endParaRPr>
          </a:p>
          <a:p>
            <a:r>
              <a:rPr lang="en-GB" dirty="0"/>
              <a:t>The extra parentheses are required in the last example because otherwise if would add 5 to a only if a &lt; 42, otherwise it would set answer to zero.</a:t>
            </a:r>
          </a:p>
          <a:p>
            <a:endParaRPr lang="en-GB" dirty="0">
              <a:latin typeface="Montserrat"/>
            </a:endParaRPr>
          </a:p>
          <a:p>
            <a:r>
              <a:rPr lang="en-GB" dirty="0"/>
              <a:t>You may think that conditional expressions contravene Python's clean style, however they are useful for certain more advanced statements, such as lambda functions.</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7221456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6" name="Rectangle 3"/>
          <p:cNvSpPr>
            <a:spLocks noGrp="1" noChangeArrowheads="1"/>
          </p:cNvSpPr>
          <p:nvPr>
            <p:ph type="body" idx="1"/>
          </p:nvPr>
        </p:nvSpPr>
        <p:spPr/>
        <p:txBody>
          <a:bodyPr/>
          <a:lstStyle/>
          <a:p>
            <a:r>
              <a:rPr lang="en-GB" dirty="0"/>
              <a:t>The </a:t>
            </a:r>
            <a:r>
              <a:rPr lang="en-GB" dirty="0" err="1"/>
              <a:t>sys.exit</a:t>
            </a:r>
            <a:r>
              <a:rPr lang="en-GB" dirty="0"/>
              <a:t> method will shutdown the current process, even if called from a function (covered later). The argument to exit is returned to the caller, which is often a shell program, but could be another application. Many environments (e.g. UNIX) only support a single byte for the return code, so do not return numbers outside the range 0 - 255. For portability reasons, it is wise to stay within that range, even on Windows. By convention, zero is success. Some standard exit codes are defined in the UNIX version of the os module (prefixed </a:t>
            </a:r>
            <a:r>
              <a:rPr lang="en-GB" dirty="0" err="1"/>
              <a:t>os.EX</a:t>
            </a:r>
            <a:r>
              <a:rPr lang="en-GB" dirty="0"/>
              <a:t>_), but these are not universally adopted.</a:t>
            </a:r>
          </a:p>
          <a:p>
            <a:r>
              <a:rPr lang="en-GB" dirty="0"/>
              <a:t>The main advantage of </a:t>
            </a:r>
            <a:r>
              <a:rPr lang="en-GB" dirty="0" err="1"/>
              <a:t>sys.exit</a:t>
            </a:r>
            <a:r>
              <a:rPr lang="en-GB" dirty="0"/>
              <a:t> over the more primitive </a:t>
            </a:r>
            <a:r>
              <a:rPr lang="en-GB" dirty="0" err="1"/>
              <a:t>os._exit</a:t>
            </a:r>
            <a:r>
              <a:rPr lang="en-GB" dirty="0"/>
              <a:t> is that it can be trapped by exception handling. It is recommended that </a:t>
            </a:r>
            <a:r>
              <a:rPr lang="en-GB" dirty="0" err="1"/>
              <a:t>os._exit</a:t>
            </a:r>
            <a:r>
              <a:rPr lang="en-GB" dirty="0"/>
              <a:t> is only used in special circumstances, such as immediately after a fork (UNIX specific way of creating a new process). </a:t>
            </a:r>
          </a:p>
          <a:p>
            <a:r>
              <a:rPr lang="en-GB" dirty="0"/>
              <a:t>There appears to be a built-in called exit which has the same behaviour as </a:t>
            </a:r>
            <a:r>
              <a:rPr lang="en-GB" dirty="0" err="1"/>
              <a:t>sys.exit</a:t>
            </a:r>
            <a:r>
              <a:rPr lang="en-GB" dirty="0"/>
              <a:t>, but appearances can be deceptive. In fact, exit is not a built-in function but a </a:t>
            </a:r>
            <a:r>
              <a:rPr lang="en-GB" dirty="0" err="1"/>
              <a:t>site.Quitter</a:t>
            </a:r>
            <a:r>
              <a:rPr lang="en-GB" dirty="0"/>
              <a:t> callable object which raises a </a:t>
            </a:r>
            <a:r>
              <a:rPr lang="en-GB" dirty="0" err="1"/>
              <a:t>SystemExit</a:t>
            </a:r>
            <a:r>
              <a:rPr lang="en-GB" dirty="0"/>
              <a:t> exception. In early versions of Python (prior to 2.4), the difference was significant, but not anymore.  The site module is usually automatically loaded on start-up but can be supressed with the -S command-line option, in which case exit will not work.</a:t>
            </a:r>
          </a:p>
          <a:p>
            <a:endParaRPr lang="en-GB" dirty="0"/>
          </a:p>
          <a:p>
            <a:r>
              <a:rPr lang="en-GB" dirty="0"/>
              <a:t>If exit or </a:t>
            </a:r>
            <a:r>
              <a:rPr lang="en-GB" dirty="0" err="1"/>
              <a:t>sys.exit</a:t>
            </a:r>
            <a:r>
              <a:rPr lang="en-GB" dirty="0"/>
              <a:t> are not used, then the Python program will return zero.</a:t>
            </a:r>
          </a:p>
          <a:p>
            <a:r>
              <a:rPr lang="en-GB" dirty="0"/>
              <a:t>Python has an </a:t>
            </a:r>
            <a:r>
              <a:rPr lang="en-GB" dirty="0" err="1"/>
              <a:t>atexit</a:t>
            </a:r>
            <a:r>
              <a:rPr lang="en-GB" dirty="0"/>
              <a:t> module which enables one or more user-written functions to be run on exit to the program (early versions of Python also had </a:t>
            </a:r>
            <a:r>
              <a:rPr lang="en-GB" dirty="0" err="1"/>
              <a:t>exitfunc</a:t>
            </a:r>
            <a:r>
              <a:rPr lang="en-GB" dirty="0"/>
              <a:t>, which is now deprecated in favour of </a:t>
            </a:r>
            <a:r>
              <a:rPr lang="en-GB" dirty="0" err="1"/>
              <a:t>atexit</a:t>
            </a:r>
            <a:r>
              <a:rPr lang="en-GB" dirty="0"/>
              <a:t>). These are not run by </a:t>
            </a:r>
            <a:r>
              <a:rPr lang="en-GB" dirty="0" err="1"/>
              <a:t>os._exit</a:t>
            </a:r>
            <a:r>
              <a:rPr lang="en-GB" dirty="0"/>
              <a:t>.</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6975917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latin typeface="Montserrat"/>
              </a:rPr>
              <a:t>The exit() and quit() functions are actually objects of </a:t>
            </a:r>
            <a:r>
              <a:rPr lang="en-GB" dirty="0" err="1">
                <a:latin typeface="Montserrat"/>
              </a:rPr>
              <a:t>site.Quitter</a:t>
            </a:r>
            <a:r>
              <a:rPr lang="en-GB" dirty="0">
                <a:latin typeface="Montserrat"/>
              </a:rPr>
              <a:t> class, and the magic behaviour is obtained by the class implementing the special methods __call__ and __</a:t>
            </a:r>
            <a:r>
              <a:rPr lang="en-GB" dirty="0" err="1">
                <a:latin typeface="Montserrat"/>
              </a:rPr>
              <a:t>repr</a:t>
            </a:r>
            <a:r>
              <a:rPr lang="en-GB" dirty="0">
                <a:latin typeface="Montserrat"/>
              </a:rPr>
              <a:t>__ (see later).</a:t>
            </a:r>
          </a:p>
          <a:p>
            <a:endParaRPr lang="en-GB" dirty="0">
              <a:latin typeface="Montserrat"/>
            </a:endParaRPr>
          </a:p>
          <a:p>
            <a:r>
              <a:rPr lang="en-GB" dirty="0"/>
              <a:t>Other objects loaded by the site module include copyright, license, and credits, these are objects of class </a:t>
            </a:r>
            <a:r>
              <a:rPr lang="en-GB" dirty="0" err="1"/>
              <a:t>site._Printer</a:t>
            </a:r>
            <a:r>
              <a:rPr lang="en-GB" dirty="0"/>
              <a:t>.  </a:t>
            </a:r>
          </a:p>
          <a:p>
            <a:endParaRPr lang="en-GB" dirty="0">
              <a:latin typeface="Montserrat"/>
            </a:endParaRPr>
          </a:p>
          <a:p>
            <a:r>
              <a:rPr lang="en-GB" dirty="0"/>
              <a:t>Quote from the python documentation "They are useful for the interactive interpreter shell and should not be used in programs."</a:t>
            </a:r>
          </a:p>
          <a:p>
            <a:endParaRPr lang="en-GB" dirty="0">
              <a:latin typeface="Montserrat"/>
            </a:endParaRPr>
          </a:p>
          <a:p>
            <a:r>
              <a:rPr lang="en-GB" dirty="0"/>
              <a:t>Quite apart from the fact that the site module might not be loaded, the side effect of closing standard input could upset programs that trap the </a:t>
            </a:r>
            <a:r>
              <a:rPr lang="en-GB" dirty="0" err="1"/>
              <a:t>SystemExit</a:t>
            </a:r>
            <a:r>
              <a:rPr lang="en-GB" dirty="0"/>
              <a:t> exception.</a:t>
            </a:r>
          </a:p>
          <a:p>
            <a:endParaRPr lang="en-GB" dirty="0"/>
          </a:p>
        </p:txBody>
      </p:sp>
      <p:sp>
        <p:nvSpPr>
          <p:cNvPr id="6" name="Slide Image Placeholder 5"/>
          <p:cNvSpPr>
            <a:spLocks noGrp="1" noRot="1" noChangeAspect="1"/>
          </p:cNvSpPr>
          <p:nvPr>
            <p:ph type="sldImg"/>
          </p:nvPr>
        </p:nvSpPr>
        <p:spPr/>
      </p:sp>
    </p:spTree>
    <p:extLst>
      <p:ext uri="{BB962C8B-B14F-4D97-AF65-F5344CB8AC3E}">
        <p14:creationId xmlns:p14="http://schemas.microsoft.com/office/powerpoint/2010/main" val="1623272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4589798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Graphic 31">
            <a:extLst>
              <a:ext uri="{FF2B5EF4-FFF2-40B4-BE49-F238E27FC236}">
                <a16:creationId xmlns:a16="http://schemas.microsoft.com/office/drawing/2014/main" id="{0CE16E1A-807F-2DC4-D3F1-7D139AC72ED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Graphic 31">
            <a:extLst>
              <a:ext uri="{FF2B5EF4-FFF2-40B4-BE49-F238E27FC236}">
                <a16:creationId xmlns:a16="http://schemas.microsoft.com/office/drawing/2014/main" id="{90B73D29-129B-EC83-6096-C05E868257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11721003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2611082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68225237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25167531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 id="2147483904" r:id="rId37"/>
    <p:sldLayoutId id="2147483905" r:id="rId38"/>
  </p:sldLayoutIdLst>
  <p:hf hdr="0" ft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0"/>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0"/>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0"/>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image" Target="../media/image17.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0.xml"/><Relationship Id="rId1" Type="http://schemas.openxmlformats.org/officeDocument/2006/relationships/slideLayout" Target="../slideLayouts/slideLayout27.xml"/><Relationship Id="rId4" Type="http://schemas.openxmlformats.org/officeDocument/2006/relationships/image" Target="../media/image19.wmf"/></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93332" y="1659364"/>
            <a:ext cx="6596062" cy="2431485"/>
          </a:xfrm>
        </p:spPr>
        <p:txBody>
          <a:bodyPr>
            <a:normAutofit/>
          </a:bodyPr>
          <a:lstStyle/>
          <a:p>
            <a:r>
              <a:rPr lang="en-GB" dirty="0">
                <a:solidFill>
                  <a:srgbClr val="004050"/>
                </a:solidFill>
              </a:rPr>
              <a:t>Python 3 programming</a:t>
            </a:r>
            <a:endParaRPr lang="en-US" dirty="0">
              <a:solidFill>
                <a:srgbClr val="004050"/>
              </a:solidFill>
              <a:latin typeface="Arial" charset="0"/>
              <a:cs typeface="Arial" charset="0"/>
            </a:endParaRPr>
          </a:p>
        </p:txBody>
      </p:sp>
      <p:sp>
        <p:nvSpPr>
          <p:cNvPr id="4099" name="Subtitle 2"/>
          <p:cNvSpPr>
            <a:spLocks noGrp="1"/>
          </p:cNvSpPr>
          <p:nvPr>
            <p:ph type="body" sz="quarter" idx="10"/>
          </p:nvPr>
        </p:nvSpPr>
        <p:spPr>
          <a:xfrm>
            <a:off x="393332" y="4476963"/>
            <a:ext cx="6604609" cy="709613"/>
          </a:xfrm>
        </p:spPr>
        <p:txBody>
          <a:bodyPr/>
          <a:lstStyle/>
          <a:p>
            <a:r>
              <a:rPr lang="en-GB" sz="2400" b="1" dirty="0">
                <a:solidFill>
                  <a:srgbClr val="004050"/>
                </a:solidFill>
              </a:rPr>
              <a:t>Flow control</a:t>
            </a:r>
            <a:endParaRPr lang="en-US" sz="2400" b="1" dirty="0">
              <a:solidFill>
                <a:srgbClr val="004050"/>
              </a:solidFill>
              <a:latin typeface="Arial" charset="0"/>
              <a:cs typeface="Arial" charset="0"/>
            </a:endParaRPr>
          </a:p>
        </p:txBody>
      </p:sp>
    </p:spTree>
    <p:extLst>
      <p:ext uri="{BB962C8B-B14F-4D97-AF65-F5344CB8AC3E}">
        <p14:creationId xmlns:p14="http://schemas.microsoft.com/office/powerpoint/2010/main" val="251037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sz="quarter" idx="10"/>
          </p:nvPr>
        </p:nvSpPr>
        <p:spPr/>
        <p:txBody>
          <a:bodyPr>
            <a:normAutofit/>
          </a:bodyPr>
          <a:lstStyle/>
          <a:p>
            <a:pPr>
              <a:lnSpc>
                <a:spcPct val="110000"/>
              </a:lnSpc>
            </a:pPr>
            <a:r>
              <a:rPr lang="en-GB" dirty="0"/>
              <a:t>Flow control</a:t>
            </a:r>
          </a:p>
        </p:txBody>
      </p:sp>
      <p:sp>
        <p:nvSpPr>
          <p:cNvPr id="2" name="Text Placeholder 1">
            <a:extLst>
              <a:ext uri="{FF2B5EF4-FFF2-40B4-BE49-F238E27FC236}">
                <a16:creationId xmlns:a16="http://schemas.microsoft.com/office/drawing/2014/main" id="{F2FB0BF6-58BD-468A-8C6F-589502369773}"/>
              </a:ext>
            </a:extLst>
          </p:cNvPr>
          <p:cNvSpPr>
            <a:spLocks noGrp="1"/>
          </p:cNvSpPr>
          <p:nvPr>
            <p:ph type="body" sz="quarter" idx="15"/>
          </p:nvPr>
        </p:nvSpPr>
        <p:spPr>
          <a:xfrm>
            <a:off x="4694237" y="327556"/>
            <a:ext cx="6770688" cy="5119407"/>
          </a:xfrm>
        </p:spPr>
        <p:txBody>
          <a:bodyPr/>
          <a:lstStyle/>
          <a:p>
            <a:pPr>
              <a:lnSpc>
                <a:spcPct val="110000"/>
              </a:lnSpc>
            </a:pPr>
            <a:r>
              <a:rPr lang="en-GB" sz="2300" b="1" dirty="0"/>
              <a:t>Contents</a:t>
            </a:r>
          </a:p>
          <a:p>
            <a:pPr lvl="1"/>
            <a:r>
              <a:rPr lang="en-GB" sz="2300" dirty="0"/>
              <a:t>Python conditionals</a:t>
            </a:r>
          </a:p>
          <a:p>
            <a:pPr lvl="1"/>
            <a:r>
              <a:rPr lang="en-GB" sz="2300" dirty="0"/>
              <a:t>What is truth?</a:t>
            </a:r>
          </a:p>
          <a:p>
            <a:pPr lvl="1"/>
            <a:r>
              <a:rPr lang="en-GB" sz="2300" dirty="0"/>
              <a:t>Boolean and logical operators</a:t>
            </a:r>
          </a:p>
          <a:p>
            <a:pPr lvl="1"/>
            <a:r>
              <a:rPr lang="en-GB" sz="2300" dirty="0"/>
              <a:t>Chained comparisons</a:t>
            </a:r>
          </a:p>
          <a:p>
            <a:pPr lvl="1"/>
            <a:r>
              <a:rPr lang="en-GB" sz="2300" dirty="0"/>
              <a:t>Sequence and collection tests</a:t>
            </a:r>
          </a:p>
          <a:p>
            <a:pPr lvl="1"/>
            <a:r>
              <a:rPr lang="en-GB" sz="2300" dirty="0"/>
              <a:t>Object types</a:t>
            </a:r>
          </a:p>
          <a:p>
            <a:pPr lvl="1"/>
            <a:r>
              <a:rPr lang="en-GB" sz="2300" dirty="0"/>
              <a:t>While loops</a:t>
            </a:r>
          </a:p>
          <a:p>
            <a:pPr lvl="1"/>
            <a:r>
              <a:rPr lang="en-GB" sz="2300" dirty="0"/>
              <a:t>For loops</a:t>
            </a:r>
          </a:p>
          <a:p>
            <a:pPr lvl="1"/>
            <a:r>
              <a:rPr lang="en-GB" sz="2300" dirty="0"/>
              <a:t>Conditional expressions</a:t>
            </a:r>
          </a:p>
          <a:p>
            <a:pPr lvl="1"/>
            <a:r>
              <a:rPr lang="en-GB" sz="2300" dirty="0"/>
              <a:t>Unconditional closedown</a:t>
            </a:r>
          </a:p>
          <a:p>
            <a:endParaRPr lang="en-GB" sz="2300" dirty="0"/>
          </a:p>
        </p:txBody>
      </p:sp>
      <p:pic>
        <p:nvPicPr>
          <p:cNvPr id="5" name="Picture 5" descr="A picture containing text, clock&#10;&#10;Description automatically generated">
            <a:extLst>
              <a:ext uri="{FF2B5EF4-FFF2-40B4-BE49-F238E27FC236}">
                <a16:creationId xmlns:a16="http://schemas.microsoft.com/office/drawing/2014/main" id="{60A1B827-5861-5877-6BFD-7212A66A1078}"/>
              </a:ext>
            </a:extLst>
          </p:cNvPr>
          <p:cNvPicPr>
            <a:picLocks noChangeAspect="1"/>
          </p:cNvPicPr>
          <p:nvPr/>
        </p:nvPicPr>
        <p:blipFill>
          <a:blip r:embed="rId3"/>
          <a:stretch>
            <a:fillRect/>
          </a:stretch>
        </p:blipFill>
        <p:spPr>
          <a:xfrm>
            <a:off x="9127561" y="4501176"/>
            <a:ext cx="3068586" cy="2353904"/>
          </a:xfrm>
          <a:prstGeom prst="rect">
            <a:avLst/>
          </a:prstGeom>
        </p:spPr>
      </p:pic>
      <p:sp>
        <p:nvSpPr>
          <p:cNvPr id="3" name="Slide Number Placeholder 2">
            <a:extLst>
              <a:ext uri="{FF2B5EF4-FFF2-40B4-BE49-F238E27FC236}">
                <a16:creationId xmlns:a16="http://schemas.microsoft.com/office/drawing/2014/main" id="{9F879E15-BFFF-D94C-232A-1157BB5BF7F0}"/>
              </a:ext>
            </a:extLst>
          </p:cNvPr>
          <p:cNvSpPr>
            <a:spLocks noGrp="1"/>
          </p:cNvSpPr>
          <p:nvPr>
            <p:ph type="sldNum" sz="quarter" idx="4"/>
          </p:nvPr>
        </p:nvSpPr>
        <p:spPr/>
        <p:txBody>
          <a:bodyPr/>
          <a:lstStyle/>
          <a:p>
            <a:fld id="{EF892D59-8F09-EF4B-AD6D-DA609442F868}" type="slidenum">
              <a:rPr lang="en-GB" smtClean="0"/>
              <a:pPr/>
              <a:t>2</a:t>
            </a:fld>
            <a:endParaRPr lang="en-GB" dirty="0"/>
          </a:p>
        </p:txBody>
      </p:sp>
    </p:spTree>
    <p:extLst>
      <p:ext uri="{BB962C8B-B14F-4D97-AF65-F5344CB8AC3E}">
        <p14:creationId xmlns:p14="http://schemas.microsoft.com/office/powerpoint/2010/main" val="269648116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0457" y="366145"/>
            <a:ext cx="11517818" cy="805001"/>
          </a:xfrm>
        </p:spPr>
        <p:txBody>
          <a:bodyPr/>
          <a:lstStyle/>
          <a:p>
            <a:pPr eaLnBrk="1" hangingPunct="1"/>
            <a:r>
              <a:rPr lang="en-GB" dirty="0"/>
              <a:t>Python conditionals</a:t>
            </a:r>
            <a:endParaRPr lang="en-GB" dirty="0" err="1"/>
          </a:p>
        </p:txBody>
      </p:sp>
      <p:sp>
        <p:nvSpPr>
          <p:cNvPr id="5123" name="Rectangle 3"/>
          <p:cNvSpPr>
            <a:spLocks noGrp="1" noChangeArrowheads="1"/>
          </p:cNvSpPr>
          <p:nvPr>
            <p:ph idx="1"/>
          </p:nvPr>
        </p:nvSpPr>
        <p:spPr/>
        <p:txBody>
          <a:bodyPr/>
          <a:lstStyle/>
          <a:p>
            <a:r>
              <a:rPr lang="en-GB" b="1" dirty="0"/>
              <a:t>Conditional membership is by </a:t>
            </a:r>
            <a:r>
              <a:rPr lang="en-GB" b="1" i="1" dirty="0"/>
              <a:t>indentation</a:t>
            </a:r>
            <a:endParaRPr lang="en-GB" b="1" dirty="0"/>
          </a:p>
          <a:p>
            <a:pPr marL="457200" lvl="1" indent="-228600">
              <a:buFont typeface="Arial" panose="020B0604020202020204" pitchFamily="34" charset="0"/>
              <a:buChar char="•"/>
            </a:pPr>
            <a:r>
              <a:rPr lang="en-GB" sz="1800" dirty="0">
                <a:latin typeface="Montserrat"/>
              </a:rPr>
              <a:t>Designed for readability.</a:t>
            </a:r>
          </a:p>
          <a:p>
            <a:pPr lvl="1">
              <a:buFontTx/>
              <a:buChar char="•"/>
            </a:pPr>
            <a:endParaRPr lang="en-GB" dirty="0"/>
          </a:p>
          <a:p>
            <a:pPr lvl="1"/>
            <a:endParaRPr lang="en-GB" dirty="0"/>
          </a:p>
          <a:p>
            <a:pPr lvl="1"/>
            <a:endParaRPr lang="en-GB" dirty="0"/>
          </a:p>
          <a:p>
            <a:pPr marL="88900" lvl="3" indent="0">
              <a:buNone/>
            </a:pPr>
            <a:endParaRPr lang="en-GB" dirty="0"/>
          </a:p>
          <a:p>
            <a:pPr marL="88900" lvl="3" indent="0">
              <a:buNone/>
            </a:pPr>
            <a:endParaRPr lang="en-GB" dirty="0">
              <a:latin typeface="Montserrat"/>
            </a:endParaRPr>
          </a:p>
          <a:p>
            <a:pPr marL="457200" lvl="1" indent="-228600">
              <a:buFont typeface="Arial" panose="020B0604020202020204" pitchFamily="34" charset="0"/>
              <a:buChar char="•"/>
            </a:pPr>
            <a:r>
              <a:rPr lang="en-GB" sz="1800" dirty="0">
                <a:latin typeface="Montserrat"/>
              </a:rPr>
              <a:t>Boolean operators are overloaded by type.</a:t>
            </a:r>
          </a:p>
          <a:p>
            <a:pPr marL="457200" lvl="4" indent="-228600">
              <a:buFont typeface="Arial"/>
              <a:buChar char="•"/>
            </a:pPr>
            <a:r>
              <a:rPr lang="en-GB" sz="1800" dirty="0">
                <a:latin typeface="Montserrat"/>
              </a:rPr>
              <a:t>No need for different text or numeric operators.</a:t>
            </a:r>
          </a:p>
        </p:txBody>
      </p:sp>
      <p:sp>
        <p:nvSpPr>
          <p:cNvPr id="5124" name="Text Box 4"/>
          <p:cNvSpPr txBox="1">
            <a:spLocks noChangeArrowheads="1"/>
          </p:cNvSpPr>
          <p:nvPr/>
        </p:nvSpPr>
        <p:spPr bwMode="auto">
          <a:xfrm>
            <a:off x="826079" y="2156984"/>
            <a:ext cx="2818725" cy="1569660"/>
          </a:xfrm>
          <a:prstGeom prst="rect">
            <a:avLst/>
          </a:prstGeom>
          <a:solidFill>
            <a:schemeClr val="bg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600" b="1" dirty="0">
                <a:solidFill>
                  <a:srgbClr val="3333CC"/>
                </a:solidFill>
                <a:latin typeface="Courier New" panose="02070309020205020404" pitchFamily="49" charset="0"/>
                <a:cs typeface="Courier New" panose="02070309020205020404" pitchFamily="49" charset="0"/>
              </a:rPr>
              <a:t>if</a:t>
            </a:r>
            <a:r>
              <a:rPr lang="en-GB" sz="1600" b="1" dirty="0">
                <a:latin typeface="Courier New" panose="02070309020205020404" pitchFamily="49" charset="0"/>
                <a:cs typeface="Courier New" panose="02070309020205020404" pitchFamily="49" charset="0"/>
              </a:rPr>
              <a:t> </a:t>
            </a:r>
            <a:r>
              <a:rPr lang="en-GB" sz="1600" i="1" dirty="0"/>
              <a:t>condition</a:t>
            </a:r>
            <a:r>
              <a:rPr lang="en-GB" sz="1600" b="1" dirty="0">
                <a:solidFill>
                  <a:srgbClr val="3333CC"/>
                </a:solidFill>
                <a:latin typeface="Courier New" panose="02070309020205020404" pitchFamily="49" charset="0"/>
                <a:cs typeface="Courier New" panose="02070309020205020404" pitchFamily="49" charset="0"/>
              </a:rPr>
              <a:t>:</a:t>
            </a:r>
            <a:r>
              <a:rPr lang="en-GB" sz="1600" b="1" dirty="0">
                <a:latin typeface="Courier New" panose="02070309020205020404" pitchFamily="49" charset="0"/>
              </a:rPr>
              <a:t> </a:t>
            </a:r>
          </a:p>
          <a:p>
            <a:pPr>
              <a:spcBef>
                <a:spcPct val="0"/>
              </a:spcBef>
            </a:pPr>
            <a:r>
              <a:rPr lang="en-GB" sz="1600" b="1" dirty="0">
                <a:latin typeface="Courier New" panose="02070309020205020404" pitchFamily="49" charset="0"/>
              </a:rPr>
              <a:t>    </a:t>
            </a:r>
            <a:r>
              <a:rPr lang="en-GB" sz="1600" i="1" dirty="0"/>
              <a:t>statements</a:t>
            </a:r>
          </a:p>
          <a:p>
            <a:pPr>
              <a:spcBef>
                <a:spcPct val="0"/>
              </a:spcBef>
            </a:pPr>
            <a:r>
              <a:rPr lang="en-GB" sz="1600" b="1" dirty="0" err="1">
                <a:solidFill>
                  <a:srgbClr val="3333CC"/>
                </a:solidFill>
                <a:latin typeface="Courier New" panose="02070309020205020404" pitchFamily="49" charset="0"/>
                <a:cs typeface="Courier New" panose="02070309020205020404" pitchFamily="49" charset="0"/>
              </a:rPr>
              <a:t>elif</a:t>
            </a:r>
            <a:r>
              <a:rPr lang="en-GB" sz="1600" b="1" dirty="0">
                <a:latin typeface="Courier New" panose="02070309020205020404" pitchFamily="49" charset="0"/>
              </a:rPr>
              <a:t> </a:t>
            </a:r>
            <a:r>
              <a:rPr lang="en-GB" sz="1600" i="1" dirty="0"/>
              <a:t>condition</a:t>
            </a:r>
            <a:r>
              <a:rPr lang="en-GB" sz="1600" b="1" dirty="0">
                <a:solidFill>
                  <a:srgbClr val="3333CC"/>
                </a:solidFill>
                <a:latin typeface="Courier New" panose="02070309020205020404" pitchFamily="49" charset="0"/>
                <a:cs typeface="Courier New" panose="02070309020205020404" pitchFamily="49" charset="0"/>
              </a:rPr>
              <a:t>:</a:t>
            </a:r>
          </a:p>
          <a:p>
            <a:pPr>
              <a:spcBef>
                <a:spcPct val="0"/>
              </a:spcBef>
            </a:pPr>
            <a:r>
              <a:rPr lang="en-GB" sz="1600" b="1" dirty="0">
                <a:latin typeface="Courier New" panose="02070309020205020404" pitchFamily="49" charset="0"/>
              </a:rPr>
              <a:t>    </a:t>
            </a:r>
            <a:r>
              <a:rPr lang="en-GB" sz="1600" i="1" dirty="0"/>
              <a:t>statements</a:t>
            </a:r>
          </a:p>
          <a:p>
            <a:pPr>
              <a:spcBef>
                <a:spcPct val="0"/>
              </a:spcBef>
            </a:pPr>
            <a:r>
              <a:rPr lang="en-GB" sz="1600" b="1" dirty="0">
                <a:solidFill>
                  <a:srgbClr val="3333CC"/>
                </a:solidFill>
                <a:latin typeface="Courier New" panose="02070309020205020404" pitchFamily="49" charset="0"/>
                <a:cs typeface="Courier New" panose="02070309020205020404" pitchFamily="49" charset="0"/>
              </a:rPr>
              <a:t>else:</a:t>
            </a:r>
          </a:p>
          <a:p>
            <a:pPr>
              <a:spcBef>
                <a:spcPct val="0"/>
              </a:spcBef>
            </a:pPr>
            <a:r>
              <a:rPr lang="en-GB" sz="1600" b="1" dirty="0">
                <a:latin typeface="Courier New" panose="02070309020205020404" pitchFamily="49" charset="0"/>
              </a:rPr>
              <a:t>    </a:t>
            </a:r>
            <a:r>
              <a:rPr lang="en-GB" sz="1600" i="1" dirty="0"/>
              <a:t>statements</a:t>
            </a:r>
          </a:p>
        </p:txBody>
      </p:sp>
      <p:sp>
        <p:nvSpPr>
          <p:cNvPr id="5125" name="Text Box 5"/>
          <p:cNvSpPr txBox="1">
            <a:spLocks noChangeArrowheads="1"/>
          </p:cNvSpPr>
          <p:nvPr/>
        </p:nvSpPr>
        <p:spPr bwMode="auto">
          <a:xfrm>
            <a:off x="822172" y="4911511"/>
            <a:ext cx="3826689" cy="1477328"/>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if </a:t>
            </a:r>
            <a:r>
              <a:rPr lang="en-GB" sz="1800" dirty="0" err="1">
                <a:latin typeface="Courier New" panose="02070309020205020404" pitchFamily="49" charset="0"/>
                <a:cs typeface="Courier New" panose="02070309020205020404" pitchFamily="49" charset="0"/>
              </a:rPr>
              <a:t>lista</a:t>
            </a:r>
            <a:r>
              <a:rPr lang="en-GB" sz="1800" dirty="0">
                <a:latin typeface="Courier New" panose="02070309020205020404" pitchFamily="49" charset="0"/>
                <a:cs typeface="Courier New" panose="02070309020205020404" pitchFamily="49" charset="0"/>
              </a:rPr>
              <a:t> == </a:t>
            </a:r>
            <a:r>
              <a:rPr lang="en-GB" sz="1800" dirty="0" err="1">
                <a:latin typeface="Courier New" panose="02070309020205020404" pitchFamily="49" charset="0"/>
                <a:cs typeface="Courier New" panose="02070309020205020404" pitchFamily="49" charset="0"/>
              </a:rPr>
              <a:t>listb</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print("Same!")</a:t>
            </a:r>
          </a:p>
          <a:p>
            <a:pPr>
              <a:spcBef>
                <a:spcPct val="0"/>
              </a:spcBef>
            </a:pPr>
            <a:endParaRPr lang="en-GB" sz="1800" dirty="0">
              <a:latin typeface="Courier New" panose="02070309020205020404" pitchFamily="49" charset="0"/>
              <a:cs typeface="Courier New" panose="02070309020205020404" pitchFamily="49" charset="0"/>
            </a:endParaRPr>
          </a:p>
          <a:p>
            <a:r>
              <a:rPr lang="en-GB" sz="1800" dirty="0">
                <a:latin typeface="Courier New" panose="02070309020205020404" pitchFamily="49" charset="0"/>
                <a:cs typeface="Courier New" panose="02070309020205020404" pitchFamily="49" charset="0"/>
              </a:rPr>
              <a:t>if "eggs" in </a:t>
            </a:r>
            <a:r>
              <a:rPr lang="en-GB" sz="1800" dirty="0" err="1">
                <a:latin typeface="Courier New" panose="02070309020205020404" pitchFamily="49" charset="0"/>
                <a:cs typeface="Courier New" panose="02070309020205020404" pitchFamily="49" charset="0"/>
              </a:rPr>
              <a:t>lista</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print("It </a:t>
            </a:r>
            <a:r>
              <a:rPr lang="en-GB" sz="1800" dirty="0" err="1">
                <a:latin typeface="Courier New" panose="02070309020205020404" pitchFamily="49" charset="0"/>
                <a:cs typeface="Courier New" panose="02070309020205020404" pitchFamily="49" charset="0"/>
              </a:rPr>
              <a:t>eggists</a:t>
            </a:r>
            <a:r>
              <a:rPr lang="en-GB" sz="1800" dirty="0">
                <a:latin typeface="Courier New" panose="02070309020205020404" pitchFamily="49" charset="0"/>
                <a:cs typeface="Courier New" panose="02070309020205020404" pitchFamily="49" charset="0"/>
              </a:rPr>
              <a:t>!")</a:t>
            </a:r>
          </a:p>
        </p:txBody>
      </p:sp>
      <p:sp>
        <p:nvSpPr>
          <p:cNvPr id="2" name="Text Box 5">
            <a:extLst>
              <a:ext uri="{FF2B5EF4-FFF2-40B4-BE49-F238E27FC236}">
                <a16:creationId xmlns:a16="http://schemas.microsoft.com/office/drawing/2014/main" id="{228B2F31-4AFD-4DF1-AD31-90EA69815CD3}"/>
              </a:ext>
            </a:extLst>
          </p:cNvPr>
          <p:cNvSpPr txBox="1">
            <a:spLocks noChangeArrowheads="1"/>
          </p:cNvSpPr>
          <p:nvPr/>
        </p:nvSpPr>
        <p:spPr bwMode="auto">
          <a:xfrm>
            <a:off x="6865135" y="2557495"/>
            <a:ext cx="3688829" cy="2585323"/>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temp = 0</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if temp &lt; 10:</a:t>
            </a:r>
          </a:p>
          <a:p>
            <a:pPr>
              <a:spcBef>
                <a:spcPct val="0"/>
              </a:spcBef>
            </a:pPr>
            <a:r>
              <a:rPr lang="en-GB" sz="1800" dirty="0">
                <a:latin typeface="Courier New" panose="02070309020205020404" pitchFamily="49" charset="0"/>
              </a:rPr>
              <a:t>	print(</a:t>
            </a:r>
            <a:r>
              <a:rPr lang="en-GB" sz="1800" dirty="0">
                <a:latin typeface="Courier New" panose="02070309020205020404" pitchFamily="49" charset="0"/>
                <a:cs typeface="Courier New" panose="02070309020205020404" pitchFamily="49" charset="0"/>
              </a:rPr>
              <a:t>"</a:t>
            </a:r>
            <a:r>
              <a:rPr lang="en-GB" sz="1800" dirty="0">
                <a:latin typeface="Courier New" panose="02070309020205020404" pitchFamily="49" charset="0"/>
              </a:rPr>
              <a:t>That’s cold</a:t>
            </a:r>
            <a:r>
              <a:rPr lang="en-GB" sz="1800" dirty="0">
                <a:latin typeface="Courier New" panose="02070309020205020404" pitchFamily="49" charset="0"/>
                <a:cs typeface="Courier New" panose="02070309020205020404" pitchFamily="49" charset="0"/>
              </a:rPr>
              <a:t>"</a:t>
            </a:r>
            <a:r>
              <a:rPr lang="en-GB" sz="1800" dirty="0">
                <a:latin typeface="Courier New" panose="02070309020205020404" pitchFamily="49" charset="0"/>
              </a:rPr>
              <a:t>)</a:t>
            </a:r>
          </a:p>
          <a:p>
            <a:pPr>
              <a:spcBef>
                <a:spcPct val="0"/>
              </a:spcBef>
            </a:pPr>
            <a:r>
              <a:rPr lang="en-GB" sz="1800" dirty="0" err="1">
                <a:latin typeface="Courier New" panose="02070309020205020404" pitchFamily="49" charset="0"/>
              </a:rPr>
              <a:t>elif</a:t>
            </a:r>
            <a:r>
              <a:rPr lang="en-GB" sz="1800" dirty="0">
                <a:latin typeface="Courier New" panose="02070309020205020404" pitchFamily="49" charset="0"/>
              </a:rPr>
              <a:t> temp &lt;= 15:</a:t>
            </a:r>
          </a:p>
          <a:p>
            <a:pPr>
              <a:spcBef>
                <a:spcPct val="0"/>
              </a:spcBef>
            </a:pPr>
            <a:r>
              <a:rPr lang="en-GB" sz="1800" dirty="0">
                <a:latin typeface="Courier New" panose="02070309020205020404" pitchFamily="49" charset="0"/>
              </a:rPr>
              <a:t>	print(</a:t>
            </a:r>
            <a:r>
              <a:rPr lang="en-GB" sz="1800" dirty="0">
                <a:latin typeface="Courier New" panose="02070309020205020404" pitchFamily="49" charset="0"/>
                <a:cs typeface="Courier New" panose="02070309020205020404" pitchFamily="49" charset="0"/>
              </a:rPr>
              <a:t>"</a:t>
            </a:r>
            <a:r>
              <a:rPr lang="en-GB" sz="1800" dirty="0">
                <a:latin typeface="Courier New" panose="02070309020205020404" pitchFamily="49" charset="0"/>
              </a:rPr>
              <a:t>That’s mild</a:t>
            </a:r>
            <a:r>
              <a:rPr lang="en-GB" sz="1800" dirty="0">
                <a:latin typeface="Courier New" panose="02070309020205020404" pitchFamily="49" charset="0"/>
                <a:cs typeface="Courier New" panose="02070309020205020404" pitchFamily="49" charset="0"/>
              </a:rPr>
              <a:t>"</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else:</a:t>
            </a:r>
          </a:p>
          <a:p>
            <a:pPr>
              <a:spcBef>
                <a:spcPct val="0"/>
              </a:spcBef>
            </a:pPr>
            <a:r>
              <a:rPr lang="en-GB" sz="1800" dirty="0">
                <a:latin typeface="Courier New" panose="02070309020205020404" pitchFamily="49" charset="0"/>
              </a:rPr>
              <a:t>	print(</a:t>
            </a:r>
            <a:r>
              <a:rPr lang="en-GB" sz="1800" dirty="0">
                <a:latin typeface="Courier New" panose="02070309020205020404" pitchFamily="49" charset="0"/>
                <a:cs typeface="Courier New" panose="02070309020205020404" pitchFamily="49" charset="0"/>
              </a:rPr>
              <a:t>"</a:t>
            </a:r>
            <a:r>
              <a:rPr lang="en-GB" sz="1800" dirty="0">
                <a:latin typeface="Courier New" panose="02070309020205020404" pitchFamily="49" charset="0"/>
              </a:rPr>
              <a:t>That’s warm</a:t>
            </a:r>
            <a:r>
              <a:rPr lang="en-GB" sz="1800" dirty="0">
                <a:latin typeface="Courier New" panose="02070309020205020404" pitchFamily="49" charset="0"/>
                <a:cs typeface="Courier New" panose="02070309020205020404" pitchFamily="49" charset="0"/>
              </a:rPr>
              <a:t>"</a:t>
            </a:r>
            <a:r>
              <a:rPr lang="en-GB" sz="1800" dirty="0">
                <a:latin typeface="Courier New" panose="02070309020205020404" pitchFamily="49" charset="0"/>
              </a:rPr>
              <a:t>)</a:t>
            </a:r>
          </a:p>
          <a:p>
            <a:pPr>
              <a:spcBef>
                <a:spcPct val="0"/>
              </a:spcBef>
            </a:pPr>
            <a:endParaRPr lang="en-GB" sz="1800" dirty="0">
              <a:latin typeface="Courier New" panose="02070309020205020404" pitchFamily="49" charset="0"/>
            </a:endParaRPr>
          </a:p>
        </p:txBody>
      </p:sp>
      <p:pic>
        <p:nvPicPr>
          <p:cNvPr id="16" name="Picture 15">
            <a:extLst>
              <a:ext uri="{FF2B5EF4-FFF2-40B4-BE49-F238E27FC236}">
                <a16:creationId xmlns:a16="http://schemas.microsoft.com/office/drawing/2014/main" id="{A2952B48-9D17-0265-B649-FF48CF6D1F7C}"/>
              </a:ext>
            </a:extLst>
          </p:cNvPr>
          <p:cNvPicPr>
            <a:picLocks noChangeAspect="1"/>
          </p:cNvPicPr>
          <p:nvPr/>
        </p:nvPicPr>
        <p:blipFill>
          <a:blip r:embed="rId3"/>
          <a:stretch>
            <a:fillRect/>
          </a:stretch>
        </p:blipFill>
        <p:spPr>
          <a:xfrm>
            <a:off x="9608922" y="1171146"/>
            <a:ext cx="1933575" cy="1971675"/>
          </a:xfrm>
          <a:prstGeom prst="rect">
            <a:avLst/>
          </a:prstGeom>
        </p:spPr>
      </p:pic>
      <p:sp>
        <p:nvSpPr>
          <p:cNvPr id="3" name="Slide Number Placeholder 2">
            <a:extLst>
              <a:ext uri="{FF2B5EF4-FFF2-40B4-BE49-F238E27FC236}">
                <a16:creationId xmlns:a16="http://schemas.microsoft.com/office/drawing/2014/main" id="{2877E7E6-34BD-DBC0-A31D-825065ECFA3A}"/>
              </a:ext>
            </a:extLst>
          </p:cNvPr>
          <p:cNvSpPr>
            <a:spLocks noGrp="1"/>
          </p:cNvSpPr>
          <p:nvPr>
            <p:ph type="sldNum" sz="quarter" idx="4"/>
          </p:nvPr>
        </p:nvSpPr>
        <p:spPr/>
        <p:txBody>
          <a:bodyPr/>
          <a:lstStyle/>
          <a:p>
            <a:fld id="{EF892D59-8F09-EF4B-AD6D-DA609442F868}" type="slidenum">
              <a:rPr lang="en-GB" smtClean="0"/>
              <a:pPr/>
              <a:t>3</a:t>
            </a:fld>
            <a:endParaRPr lang="en-GB" dirty="0"/>
          </a:p>
        </p:txBody>
      </p:sp>
    </p:spTree>
    <p:extLst>
      <p:ext uri="{BB962C8B-B14F-4D97-AF65-F5344CB8AC3E}">
        <p14:creationId xmlns:p14="http://schemas.microsoft.com/office/powerpoint/2010/main" val="2523259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37146" y="336032"/>
            <a:ext cx="11517818" cy="805001"/>
          </a:xfrm>
        </p:spPr>
        <p:txBody>
          <a:bodyPr/>
          <a:lstStyle/>
          <a:p>
            <a:pPr eaLnBrk="1" hangingPunct="1"/>
            <a:r>
              <a:rPr lang="en-GB" dirty="0"/>
              <a:t>Python conditionals</a:t>
            </a:r>
            <a:endParaRPr lang="en-GB" dirty="0" err="1"/>
          </a:p>
        </p:txBody>
      </p:sp>
      <p:sp>
        <p:nvSpPr>
          <p:cNvPr id="5123" name="Rectangle 3"/>
          <p:cNvSpPr>
            <a:spLocks noGrp="1" noChangeArrowheads="1"/>
          </p:cNvSpPr>
          <p:nvPr>
            <p:ph idx="1"/>
          </p:nvPr>
        </p:nvSpPr>
        <p:spPr>
          <a:xfrm>
            <a:off x="341272" y="1303592"/>
            <a:ext cx="11516239" cy="4955354"/>
          </a:xfrm>
        </p:spPr>
        <p:txBody>
          <a:bodyPr/>
          <a:lstStyle/>
          <a:p>
            <a:r>
              <a:rPr lang="en-GB" b="1" dirty="0"/>
              <a:t>Testing for System and Platform information</a:t>
            </a:r>
          </a:p>
          <a:p>
            <a:pPr marL="457200" lvl="1" indent="-228600">
              <a:buFont typeface="Arial" panose="020B0604020202020204" pitchFamily="34" charset="0"/>
              <a:buChar char="•"/>
            </a:pPr>
            <a:r>
              <a:rPr lang="en-GB" sz="1800" dirty="0">
                <a:latin typeface="Montserrat"/>
              </a:rPr>
              <a:t>Common to test for system script it is running on.</a:t>
            </a:r>
          </a:p>
          <a:p>
            <a:pPr marL="457200" lvl="1" indent="-228600">
              <a:buFont typeface="Arial" panose="020B0604020202020204" pitchFamily="34" charset="0"/>
              <a:buChar char="•"/>
            </a:pPr>
            <a:r>
              <a:rPr lang="en-GB" sz="1800" dirty="0">
                <a:latin typeface="Montserrat"/>
              </a:rPr>
              <a:t>Can be used to setup different file paths and environment variables.</a:t>
            </a:r>
          </a:p>
          <a:p>
            <a:pPr marL="457200" lvl="1" indent="-228600">
              <a:buFont typeface="Arial" panose="020B0604020202020204" pitchFamily="34" charset="0"/>
              <a:buChar char="•"/>
            </a:pPr>
            <a:r>
              <a:rPr lang="en-GB" sz="1800" dirty="0">
                <a:latin typeface="Montserrat"/>
              </a:rPr>
              <a:t>Can use std library modules </a:t>
            </a:r>
            <a:r>
              <a:rPr lang="en-GB" sz="1800" i="1" dirty="0">
                <a:latin typeface="Montserrat"/>
              </a:rPr>
              <a:t>sys</a:t>
            </a:r>
            <a:r>
              <a:rPr lang="en-GB" sz="1800" dirty="0">
                <a:latin typeface="Montserrat"/>
              </a:rPr>
              <a:t> and </a:t>
            </a:r>
            <a:r>
              <a:rPr lang="en-GB" sz="1800" i="1" dirty="0">
                <a:latin typeface="Montserrat"/>
              </a:rPr>
              <a:t>platform.</a:t>
            </a:r>
            <a:endParaRPr lang="en-GB" sz="1800" dirty="0">
              <a:latin typeface="Montserrat"/>
            </a:endParaRPr>
          </a:p>
          <a:p>
            <a:pPr marL="457200" lvl="1" indent="-228600">
              <a:buFont typeface="Arial" panose="020B0604020202020204" pitchFamily="34" charset="0"/>
              <a:buChar char="•"/>
            </a:pPr>
            <a:endParaRPr lang="en-GB" sz="1800" dirty="0">
              <a:latin typeface="Montserrat"/>
            </a:endParaRPr>
          </a:p>
          <a:p>
            <a:pPr lvl="1">
              <a:buFontTx/>
              <a:buChar char="•"/>
            </a:pPr>
            <a:endParaRPr lang="en-GB" dirty="0"/>
          </a:p>
          <a:p>
            <a:pPr lvl="1"/>
            <a:endParaRPr lang="en-GB" dirty="0"/>
          </a:p>
          <a:p>
            <a:pPr marL="88900" lvl="3" indent="0">
              <a:buNone/>
            </a:pPr>
            <a:endParaRPr lang="en-GB" dirty="0">
              <a:latin typeface="Montserrat"/>
            </a:endParaRPr>
          </a:p>
          <a:p>
            <a:pPr marL="457200" lvl="4" indent="-228600">
              <a:buFont typeface="Arial"/>
              <a:buChar char="•"/>
            </a:pPr>
            <a:r>
              <a:rPr lang="en-GB" sz="1800" dirty="0">
                <a:latin typeface="Montserrat"/>
              </a:rPr>
              <a:t>Platform module also provides other information.</a:t>
            </a:r>
          </a:p>
        </p:txBody>
      </p:sp>
      <p:sp>
        <p:nvSpPr>
          <p:cNvPr id="5125" name="Text Box 5"/>
          <p:cNvSpPr txBox="1">
            <a:spLocks noChangeArrowheads="1"/>
          </p:cNvSpPr>
          <p:nvPr/>
        </p:nvSpPr>
        <p:spPr bwMode="auto">
          <a:xfrm>
            <a:off x="822172" y="2788359"/>
            <a:ext cx="5648076" cy="1323439"/>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import sys</a:t>
            </a:r>
          </a:p>
          <a:p>
            <a:pPr>
              <a:spcBef>
                <a:spcPct val="0"/>
              </a:spcBef>
            </a:pPr>
            <a:r>
              <a:rPr lang="en-GB" sz="1600" dirty="0">
                <a:latin typeface="Courier New" panose="02070309020205020404" pitchFamily="49" charset="0"/>
                <a:cs typeface="Courier New" panose="02070309020205020404" pitchFamily="49" charset="0"/>
              </a:rPr>
              <a:t>if </a:t>
            </a:r>
            <a:r>
              <a:rPr lang="en-GB" sz="1600" dirty="0" err="1">
                <a:latin typeface="Courier New" panose="02070309020205020404" pitchFamily="49" charset="0"/>
                <a:cs typeface="Courier New" panose="02070309020205020404" pitchFamily="49" charset="0"/>
              </a:rPr>
              <a:t>sys.platform</a:t>
            </a:r>
            <a:r>
              <a:rPr lang="en-GB" sz="1600" dirty="0">
                <a:latin typeface="Courier New" panose="02070309020205020404" pitchFamily="49" charset="0"/>
                <a:cs typeface="Courier New" panose="02070309020205020404" pitchFamily="49" charset="0"/>
              </a:rPr>
              <a:t> == "win32":</a:t>
            </a:r>
          </a:p>
          <a:p>
            <a:pPr>
              <a:spcBef>
                <a:spcPct val="0"/>
              </a:spcBef>
            </a:pP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home_dir</a:t>
            </a:r>
            <a:r>
              <a:rPr lang="en-GB" sz="1600" dirty="0">
                <a:latin typeface="Courier New" panose="02070309020205020404" pitchFamily="49" charset="0"/>
                <a:cs typeface="Courier New" panose="02070309020205020404" pitchFamily="49" charset="0"/>
              </a:rPr>
              <a:t> = </a:t>
            </a:r>
            <a:r>
              <a:rPr lang="en-GB" sz="1600" dirty="0" err="1">
                <a:latin typeface="Courier New" panose="02070309020205020404" pitchFamily="49" charset="0"/>
                <a:cs typeface="Courier New" panose="02070309020205020404" pitchFamily="49" charset="0"/>
              </a:rPr>
              <a:t>os.environ</a:t>
            </a:r>
            <a:r>
              <a:rPr lang="en-GB" sz="1600" dirty="0">
                <a:latin typeface="Courier New" panose="02070309020205020404" pitchFamily="49" charset="0"/>
                <a:cs typeface="Courier New" panose="02070309020205020404" pitchFamily="49" charset="0"/>
              </a:rPr>
              <a:t>["HOMEDIR"]</a:t>
            </a:r>
          </a:p>
          <a:p>
            <a:pPr>
              <a:spcBef>
                <a:spcPct val="0"/>
              </a:spcBef>
            </a:pPr>
            <a:r>
              <a:rPr lang="en-GB" sz="1600" dirty="0">
                <a:latin typeface="Courier New" panose="02070309020205020404" pitchFamily="49" charset="0"/>
                <a:cs typeface="Courier New" panose="02070309020205020404" pitchFamily="49" charset="0"/>
              </a:rPr>
              <a:t>else:</a:t>
            </a:r>
          </a:p>
          <a:p>
            <a:pPr>
              <a:spcBef>
                <a:spcPct val="0"/>
              </a:spcBef>
            </a:pP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home_dir</a:t>
            </a:r>
            <a:r>
              <a:rPr lang="en-GB" sz="1600" dirty="0">
                <a:latin typeface="Courier New" panose="02070309020205020404" pitchFamily="49" charset="0"/>
                <a:cs typeface="Courier New" panose="02070309020205020404" pitchFamily="49" charset="0"/>
              </a:rPr>
              <a:t> = </a:t>
            </a:r>
            <a:r>
              <a:rPr lang="en-GB" sz="1600" dirty="0" err="1">
                <a:latin typeface="Courier New" panose="02070309020205020404" pitchFamily="49" charset="0"/>
                <a:cs typeface="Courier New" panose="02070309020205020404" pitchFamily="49" charset="0"/>
              </a:rPr>
              <a:t>os.environ</a:t>
            </a:r>
            <a:r>
              <a:rPr lang="en-GB" sz="1600" dirty="0">
                <a:latin typeface="Courier New" panose="02070309020205020404" pitchFamily="49" charset="0"/>
                <a:cs typeface="Courier New" panose="02070309020205020404" pitchFamily="49" charset="0"/>
              </a:rPr>
              <a:t>["HOME"]</a:t>
            </a:r>
          </a:p>
        </p:txBody>
      </p:sp>
      <p:sp>
        <p:nvSpPr>
          <p:cNvPr id="3" name="Text Box 5">
            <a:extLst>
              <a:ext uri="{FF2B5EF4-FFF2-40B4-BE49-F238E27FC236}">
                <a16:creationId xmlns:a16="http://schemas.microsoft.com/office/drawing/2014/main" id="{25CC3050-D8C5-E8F5-3C59-0F303943632E}"/>
              </a:ext>
            </a:extLst>
          </p:cNvPr>
          <p:cNvSpPr txBox="1">
            <a:spLocks noChangeArrowheads="1"/>
          </p:cNvSpPr>
          <p:nvPr/>
        </p:nvSpPr>
        <p:spPr bwMode="auto">
          <a:xfrm>
            <a:off x="822172" y="4753950"/>
            <a:ext cx="5648076" cy="156966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import platform</a:t>
            </a:r>
          </a:p>
          <a:p>
            <a:pPr>
              <a:spcBef>
                <a:spcPct val="0"/>
              </a:spcBef>
            </a:pPr>
            <a:r>
              <a:rPr lang="en-GB" sz="1600" dirty="0">
                <a:latin typeface="Courier New" panose="02070309020205020404" pitchFamily="49" charset="0"/>
                <a:cs typeface="Courier New" panose="02070309020205020404" pitchFamily="49" charset="0"/>
              </a:rPr>
              <a:t>if </a:t>
            </a:r>
            <a:r>
              <a:rPr lang="en-GB" sz="1600" dirty="0" err="1">
                <a:latin typeface="Courier New" panose="02070309020205020404" pitchFamily="49" charset="0"/>
                <a:cs typeface="Courier New" panose="02070309020205020404" pitchFamily="49" charset="0"/>
              </a:rPr>
              <a:t>platform.system</a:t>
            </a:r>
            <a:r>
              <a:rPr lang="en-GB" sz="1600" dirty="0">
                <a:latin typeface="Courier New" panose="02070309020205020404" pitchFamily="49" charset="0"/>
                <a:cs typeface="Courier New" panose="02070309020205020404" pitchFamily="49" charset="0"/>
              </a:rPr>
              <a:t>() == "Windows":</a:t>
            </a:r>
          </a:p>
          <a:p>
            <a:pPr>
              <a:spcBef>
                <a:spcPct val="0"/>
              </a:spcBef>
            </a:pPr>
            <a:r>
              <a:rPr lang="en-GB" sz="1600" dirty="0">
                <a:latin typeface="Courier New" panose="02070309020205020404" pitchFamily="49" charset="0"/>
                <a:cs typeface="Courier New" panose="02070309020205020404" pitchFamily="49" charset="0"/>
              </a:rPr>
              <a:t>    print("Machine =", </a:t>
            </a:r>
            <a:r>
              <a:rPr lang="en-GB" sz="1600" dirty="0" err="1">
                <a:latin typeface="Courier New" panose="02070309020205020404" pitchFamily="49" charset="0"/>
                <a:cs typeface="Courier New" panose="02070309020205020404" pitchFamily="49" charset="0"/>
              </a:rPr>
              <a:t>platform.machine</a:t>
            </a:r>
            <a:r>
              <a:rPr lang="en-GB" sz="1600" dirty="0">
                <a:latin typeface="Courier New" panose="02070309020205020404" pitchFamily="49" charset="0"/>
                <a:cs typeface="Courier New" panose="02070309020205020404" pitchFamily="49" charset="0"/>
              </a:rPr>
              <a:t>())</a:t>
            </a:r>
          </a:p>
          <a:p>
            <a:pPr>
              <a:spcBef>
                <a:spcPct val="0"/>
              </a:spcBef>
            </a:pPr>
            <a:r>
              <a:rPr lang="en-GB" sz="1600" dirty="0">
                <a:latin typeface="Courier New" panose="02070309020205020404" pitchFamily="49" charset="0"/>
                <a:cs typeface="Courier New" panose="02070309020205020404" pitchFamily="49" charset="0"/>
              </a:rPr>
              <a:t>    print("Hostname =", </a:t>
            </a:r>
            <a:r>
              <a:rPr lang="en-GB" sz="1600" dirty="0" err="1">
                <a:latin typeface="Courier New" panose="02070309020205020404" pitchFamily="49" charset="0"/>
                <a:cs typeface="Courier New" panose="02070309020205020404" pitchFamily="49" charset="0"/>
              </a:rPr>
              <a:t>platform.node</a:t>
            </a:r>
            <a:r>
              <a:rPr lang="en-GB" sz="1600" dirty="0">
                <a:latin typeface="Courier New" panose="02070309020205020404" pitchFamily="49" charset="0"/>
                <a:cs typeface="Courier New" panose="02070309020205020404" pitchFamily="49" charset="0"/>
              </a:rPr>
              <a:t>())</a:t>
            </a:r>
          </a:p>
          <a:p>
            <a:pPr>
              <a:spcBef>
                <a:spcPct val="0"/>
              </a:spcBef>
            </a:pPr>
            <a:r>
              <a:rPr lang="en-GB" sz="1600" dirty="0">
                <a:latin typeface="Courier New" panose="02070309020205020404" pitchFamily="49" charset="0"/>
                <a:cs typeface="Courier New" panose="02070309020205020404" pitchFamily="49" charset="0"/>
              </a:rPr>
              <a:t>    print("OS =", </a:t>
            </a:r>
            <a:r>
              <a:rPr lang="en-GB" sz="1600" dirty="0" err="1">
                <a:latin typeface="Courier New" panose="02070309020205020404" pitchFamily="49" charset="0"/>
                <a:cs typeface="Courier New" panose="02070309020205020404" pitchFamily="49" charset="0"/>
              </a:rPr>
              <a:t>platform.platform</a:t>
            </a:r>
            <a:r>
              <a:rPr lang="en-GB" sz="1600" dirty="0">
                <a:latin typeface="Courier New" panose="02070309020205020404" pitchFamily="49" charset="0"/>
                <a:cs typeface="Courier New" panose="02070309020205020404" pitchFamily="49" charset="0"/>
              </a:rPr>
              <a:t>())</a:t>
            </a:r>
          </a:p>
          <a:p>
            <a:pPr>
              <a:spcBef>
                <a:spcPct val="0"/>
              </a:spcBef>
            </a:pPr>
            <a:r>
              <a:rPr lang="en-GB" sz="1600" dirty="0">
                <a:latin typeface="Courier New" panose="02070309020205020404" pitchFamily="49" charset="0"/>
                <a:cs typeface="Courier New" panose="02070309020205020404" pitchFamily="49" charset="0"/>
              </a:rPr>
              <a:t>    print("Python =", </a:t>
            </a:r>
            <a:r>
              <a:rPr lang="en-GB" sz="1600" dirty="0" err="1">
                <a:latin typeface="Courier New" panose="02070309020205020404" pitchFamily="49" charset="0"/>
                <a:cs typeface="Courier New" panose="02070309020205020404" pitchFamily="49" charset="0"/>
              </a:rPr>
              <a:t>platform.platform</a:t>
            </a:r>
            <a:r>
              <a:rPr lang="en-GB" sz="1600" dirty="0">
                <a:latin typeface="Courier New" panose="02070309020205020404" pitchFamily="49" charset="0"/>
                <a:cs typeface="Courier New" panose="02070309020205020404" pitchFamily="49" charset="0"/>
              </a:rPr>
              <a:t>())</a:t>
            </a:r>
          </a:p>
        </p:txBody>
      </p:sp>
      <p:sp>
        <p:nvSpPr>
          <p:cNvPr id="4" name="Text Box 6">
            <a:extLst>
              <a:ext uri="{FF2B5EF4-FFF2-40B4-BE49-F238E27FC236}">
                <a16:creationId xmlns:a16="http://schemas.microsoft.com/office/drawing/2014/main" id="{B3933E34-E9C9-F9AF-DA6C-191BB3ABCA12}"/>
              </a:ext>
            </a:extLst>
          </p:cNvPr>
          <p:cNvSpPr txBox="1">
            <a:spLocks noChangeArrowheads="1"/>
          </p:cNvSpPr>
          <p:nvPr/>
        </p:nvSpPr>
        <p:spPr bwMode="auto">
          <a:xfrm>
            <a:off x="6365200" y="5246392"/>
            <a:ext cx="3517310" cy="107721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AMD64</a:t>
            </a:r>
          </a:p>
          <a:p>
            <a:pPr>
              <a:spcBef>
                <a:spcPct val="0"/>
              </a:spcBef>
            </a:pPr>
            <a:r>
              <a:rPr lang="en-GB" sz="1600" dirty="0">
                <a:latin typeface="Courier New" panose="02070309020205020404" pitchFamily="49" charset="0"/>
              </a:rPr>
              <a:t>DESKTOP-A600EVV</a:t>
            </a:r>
          </a:p>
          <a:p>
            <a:pPr>
              <a:spcBef>
                <a:spcPct val="0"/>
              </a:spcBef>
            </a:pPr>
            <a:r>
              <a:rPr lang="en-GB" sz="1600" dirty="0">
                <a:latin typeface="Courier New" panose="02070309020205020404" pitchFamily="49" charset="0"/>
              </a:rPr>
              <a:t>Windows-10-10.0.1.19045-SP0</a:t>
            </a:r>
          </a:p>
          <a:p>
            <a:pPr>
              <a:spcBef>
                <a:spcPct val="0"/>
              </a:spcBef>
            </a:pPr>
            <a:r>
              <a:rPr lang="en-GB" sz="1600" dirty="0" err="1">
                <a:latin typeface="Courier New" panose="02070309020205020404" pitchFamily="49" charset="0"/>
              </a:rPr>
              <a:t>CPython</a:t>
            </a:r>
            <a:endParaRPr lang="en-GB" sz="1600" dirty="0">
              <a:latin typeface="Courier New" panose="02070309020205020404" pitchFamily="49" charset="0"/>
            </a:endParaRPr>
          </a:p>
        </p:txBody>
      </p:sp>
      <p:sp>
        <p:nvSpPr>
          <p:cNvPr id="5" name="Text Box 6">
            <a:extLst>
              <a:ext uri="{FF2B5EF4-FFF2-40B4-BE49-F238E27FC236}">
                <a16:creationId xmlns:a16="http://schemas.microsoft.com/office/drawing/2014/main" id="{8D8FF032-E861-B016-C59D-85EA4FA4C3E9}"/>
              </a:ext>
            </a:extLst>
          </p:cNvPr>
          <p:cNvSpPr txBox="1">
            <a:spLocks noChangeArrowheads="1"/>
          </p:cNvSpPr>
          <p:nvPr/>
        </p:nvSpPr>
        <p:spPr bwMode="auto">
          <a:xfrm>
            <a:off x="6674283" y="3773244"/>
            <a:ext cx="4134465"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Capture env variables from shell</a:t>
            </a:r>
          </a:p>
        </p:txBody>
      </p:sp>
      <p:sp>
        <p:nvSpPr>
          <p:cNvPr id="6" name="Line 8">
            <a:extLst>
              <a:ext uri="{FF2B5EF4-FFF2-40B4-BE49-F238E27FC236}">
                <a16:creationId xmlns:a16="http://schemas.microsoft.com/office/drawing/2014/main" id="{24B19759-0063-E0D0-8C7A-027C839CA8D1}"/>
              </a:ext>
            </a:extLst>
          </p:cNvPr>
          <p:cNvSpPr>
            <a:spLocks noChangeShapeType="1"/>
          </p:cNvSpPr>
          <p:nvPr/>
        </p:nvSpPr>
        <p:spPr bwMode="auto">
          <a:xfrm flipH="1">
            <a:off x="5497974" y="3962601"/>
            <a:ext cx="1206281" cy="0"/>
          </a:xfrm>
          <a:prstGeom prst="line">
            <a:avLst/>
          </a:prstGeom>
          <a:solidFill>
            <a:schemeClr val="tx2">
              <a:lumMod val="20000"/>
              <a:lumOff val="80000"/>
            </a:schemeClr>
          </a:solidFill>
          <a:ln w="9525">
            <a:solidFill>
              <a:schemeClr val="tx1"/>
            </a:solidFill>
            <a:round/>
            <a:headEnd/>
            <a:tailEnd type="triangle" w="med" len="med"/>
          </a:ln>
        </p:spPr>
        <p:txBody>
          <a:bodyPr wrap="square">
            <a:spAutoFit/>
          </a:bodyPr>
          <a:lstStyle/>
          <a:p>
            <a:endParaRPr lang="en-GB" u="sng"/>
          </a:p>
        </p:txBody>
      </p:sp>
      <p:sp>
        <p:nvSpPr>
          <p:cNvPr id="2" name="Slide Number Placeholder 1">
            <a:extLst>
              <a:ext uri="{FF2B5EF4-FFF2-40B4-BE49-F238E27FC236}">
                <a16:creationId xmlns:a16="http://schemas.microsoft.com/office/drawing/2014/main" id="{10161D5C-A136-2C84-D5C5-6D20570C4C53}"/>
              </a:ext>
            </a:extLst>
          </p:cNvPr>
          <p:cNvSpPr>
            <a:spLocks noGrp="1"/>
          </p:cNvSpPr>
          <p:nvPr>
            <p:ph type="sldNum" sz="quarter" idx="4"/>
          </p:nvPr>
        </p:nvSpPr>
        <p:spPr/>
        <p:txBody>
          <a:bodyPr/>
          <a:lstStyle/>
          <a:p>
            <a:fld id="{EF892D59-8F09-EF4B-AD6D-DA609442F868}" type="slidenum">
              <a:rPr lang="en-GB" smtClean="0"/>
              <a:pPr/>
              <a:t>4</a:t>
            </a:fld>
            <a:endParaRPr lang="en-GB" dirty="0"/>
          </a:p>
        </p:txBody>
      </p:sp>
    </p:spTree>
    <p:extLst>
      <p:ext uri="{BB962C8B-B14F-4D97-AF65-F5344CB8AC3E}">
        <p14:creationId xmlns:p14="http://schemas.microsoft.com/office/powerpoint/2010/main" val="2879056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00436" y="312132"/>
            <a:ext cx="11517818" cy="805001"/>
          </a:xfrm>
        </p:spPr>
        <p:txBody>
          <a:bodyPr/>
          <a:lstStyle/>
          <a:p>
            <a:pPr eaLnBrk="1" hangingPunct="1"/>
            <a:r>
              <a:rPr lang="en-GB" dirty="0"/>
              <a:t>Python conditionals</a:t>
            </a:r>
          </a:p>
        </p:txBody>
      </p:sp>
      <p:sp>
        <p:nvSpPr>
          <p:cNvPr id="5123" name="Rectangle 3"/>
          <p:cNvSpPr>
            <a:spLocks noGrp="1" noChangeArrowheads="1"/>
          </p:cNvSpPr>
          <p:nvPr>
            <p:ph idx="1"/>
          </p:nvPr>
        </p:nvSpPr>
        <p:spPr>
          <a:xfrm>
            <a:off x="341272" y="1333273"/>
            <a:ext cx="11698328" cy="4955354"/>
          </a:xfrm>
        </p:spPr>
        <p:txBody>
          <a:bodyPr/>
          <a:lstStyle/>
          <a:p>
            <a:r>
              <a:rPr lang="en-GB" b="1" dirty="0"/>
              <a:t>Match Case (introduced in 3.10)</a:t>
            </a:r>
          </a:p>
          <a:p>
            <a:pPr marL="457200" indent="-228600">
              <a:buFont typeface="Arial"/>
              <a:buChar char="•"/>
            </a:pPr>
            <a:r>
              <a:rPr lang="en-GB" dirty="0">
                <a:latin typeface="Montserrat"/>
              </a:rPr>
              <a:t>When if /</a:t>
            </a:r>
            <a:r>
              <a:rPr lang="en-GB" dirty="0" err="1">
                <a:latin typeface="Montserrat"/>
              </a:rPr>
              <a:t>elif</a:t>
            </a:r>
            <a:r>
              <a:rPr lang="en-GB" dirty="0">
                <a:latin typeface="Montserrat"/>
              </a:rPr>
              <a:t> /else statements become too vast, you can use a Python match in its place.</a:t>
            </a:r>
          </a:p>
          <a:p>
            <a:pPr marL="457200" indent="-228600">
              <a:buFont typeface="Arial"/>
              <a:buChar char="•"/>
            </a:pPr>
            <a:r>
              <a:rPr lang="en-GB" dirty="0">
                <a:latin typeface="Montserrat"/>
              </a:rPr>
              <a:t>Considered to be easier to read than multiple </a:t>
            </a:r>
            <a:r>
              <a:rPr lang="en-GB" dirty="0" err="1">
                <a:latin typeface="Montserrat"/>
              </a:rPr>
              <a:t>elif</a:t>
            </a:r>
            <a:r>
              <a:rPr lang="en-GB" dirty="0">
                <a:latin typeface="Montserrat"/>
              </a:rPr>
              <a:t> statements.</a:t>
            </a:r>
          </a:p>
          <a:p>
            <a:pPr marL="88900" lvl="1" indent="0">
              <a:buNone/>
            </a:pPr>
            <a:endParaRPr lang="en-GB" dirty="0"/>
          </a:p>
          <a:p>
            <a:pPr lvl="1"/>
            <a:endParaRPr lang="en-GB" dirty="0"/>
          </a:p>
          <a:p>
            <a:pPr lvl="1"/>
            <a:endParaRPr lang="en-GB" dirty="0"/>
          </a:p>
          <a:p>
            <a:pPr marL="88900" lvl="3" indent="0">
              <a:buNone/>
            </a:pPr>
            <a:endParaRPr lang="en-GB" dirty="0"/>
          </a:p>
        </p:txBody>
      </p:sp>
      <p:sp>
        <p:nvSpPr>
          <p:cNvPr id="2" name="Text Box 5">
            <a:extLst>
              <a:ext uri="{FF2B5EF4-FFF2-40B4-BE49-F238E27FC236}">
                <a16:creationId xmlns:a16="http://schemas.microsoft.com/office/drawing/2014/main" id="{228B2F31-4AFD-4DF1-AD31-90EA69815CD3}"/>
              </a:ext>
            </a:extLst>
          </p:cNvPr>
          <p:cNvSpPr txBox="1">
            <a:spLocks noChangeArrowheads="1"/>
          </p:cNvSpPr>
          <p:nvPr/>
        </p:nvSpPr>
        <p:spPr bwMode="auto">
          <a:xfrm>
            <a:off x="846006" y="2728378"/>
            <a:ext cx="5602772" cy="3139321"/>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http_code</a:t>
            </a:r>
            <a:r>
              <a:rPr lang="en-GB" sz="1800" dirty="0">
                <a:latin typeface="Courier New" panose="02070309020205020404" pitchFamily="49" charset="0"/>
              </a:rPr>
              <a:t> = "418"</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match </a:t>
            </a:r>
            <a:r>
              <a:rPr lang="en-GB" sz="1800" dirty="0" err="1">
                <a:latin typeface="Courier New" panose="02070309020205020404" pitchFamily="49" charset="0"/>
              </a:rPr>
              <a:t>http_code</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case "200":</a:t>
            </a:r>
          </a:p>
          <a:p>
            <a:pPr>
              <a:spcBef>
                <a:spcPct val="0"/>
              </a:spcBef>
            </a:pPr>
            <a:r>
              <a:rPr lang="en-GB" sz="1800" dirty="0">
                <a:latin typeface="Courier New" panose="02070309020205020404" pitchFamily="49" charset="0"/>
              </a:rPr>
              <a:t>        print("OK")</a:t>
            </a:r>
          </a:p>
          <a:p>
            <a:pPr>
              <a:spcBef>
                <a:spcPct val="0"/>
              </a:spcBef>
            </a:pPr>
            <a:r>
              <a:rPr lang="en-GB" sz="1800" dirty="0">
                <a:latin typeface="Courier New" panose="02070309020205020404" pitchFamily="49" charset="0"/>
              </a:rPr>
              <a:t>    case "404":</a:t>
            </a:r>
          </a:p>
          <a:p>
            <a:pPr>
              <a:spcBef>
                <a:spcPct val="0"/>
              </a:spcBef>
            </a:pPr>
            <a:r>
              <a:rPr lang="en-GB" sz="1800" dirty="0">
                <a:latin typeface="Courier New" panose="02070309020205020404" pitchFamily="49" charset="0"/>
              </a:rPr>
              <a:t>        print("Not Found")</a:t>
            </a:r>
          </a:p>
          <a:p>
            <a:pPr>
              <a:spcBef>
                <a:spcPct val="0"/>
              </a:spcBef>
            </a:pPr>
            <a:r>
              <a:rPr lang="en-GB" sz="1800" dirty="0">
                <a:latin typeface="Courier New" panose="02070309020205020404" pitchFamily="49" charset="0"/>
              </a:rPr>
              <a:t>    case "418":</a:t>
            </a:r>
          </a:p>
          <a:p>
            <a:pPr>
              <a:spcBef>
                <a:spcPct val="0"/>
              </a:spcBef>
            </a:pPr>
            <a:r>
              <a:rPr lang="en-GB" sz="1800" dirty="0">
                <a:latin typeface="Courier New" panose="02070309020205020404" pitchFamily="49" charset="0"/>
              </a:rPr>
              <a:t>        print("Some other problem")</a:t>
            </a:r>
          </a:p>
          <a:p>
            <a:pPr>
              <a:spcBef>
                <a:spcPct val="0"/>
              </a:spcBef>
            </a:pPr>
            <a:r>
              <a:rPr lang="en-GB" sz="1800" dirty="0">
                <a:latin typeface="Courier New" panose="02070309020205020404" pitchFamily="49" charset="0"/>
              </a:rPr>
              <a:t>    case _:</a:t>
            </a:r>
          </a:p>
          <a:p>
            <a:pPr>
              <a:spcBef>
                <a:spcPct val="0"/>
              </a:spcBef>
            </a:pPr>
            <a:r>
              <a:rPr lang="en-GB" sz="1800" dirty="0">
                <a:latin typeface="Courier New" panose="02070309020205020404" pitchFamily="49" charset="0"/>
              </a:rPr>
              <a:t>        print("Code not found")</a:t>
            </a:r>
          </a:p>
        </p:txBody>
      </p:sp>
      <p:sp>
        <p:nvSpPr>
          <p:cNvPr id="3" name="Text Box 5">
            <a:extLst>
              <a:ext uri="{FF2B5EF4-FFF2-40B4-BE49-F238E27FC236}">
                <a16:creationId xmlns:a16="http://schemas.microsoft.com/office/drawing/2014/main" id="{B80B16A8-CCA9-DA53-E630-152B4B42CE1D}"/>
              </a:ext>
            </a:extLst>
          </p:cNvPr>
          <p:cNvSpPr txBox="1">
            <a:spLocks noChangeArrowheads="1"/>
          </p:cNvSpPr>
          <p:nvPr/>
        </p:nvSpPr>
        <p:spPr bwMode="auto">
          <a:xfrm>
            <a:off x="5788536" y="5652705"/>
            <a:ext cx="2837304"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Some other problem</a:t>
            </a:r>
            <a:endParaRPr lang="en-GB" sz="1800" dirty="0">
              <a:latin typeface="Courier New" panose="02070309020205020404" pitchFamily="49" charset="0"/>
            </a:endParaRPr>
          </a:p>
        </p:txBody>
      </p:sp>
      <p:sp>
        <p:nvSpPr>
          <p:cNvPr id="4" name="Slide Number Placeholder 3">
            <a:extLst>
              <a:ext uri="{FF2B5EF4-FFF2-40B4-BE49-F238E27FC236}">
                <a16:creationId xmlns:a16="http://schemas.microsoft.com/office/drawing/2014/main" id="{2C546F1A-7BDB-F901-0B6D-101E4044F999}"/>
              </a:ext>
            </a:extLst>
          </p:cNvPr>
          <p:cNvSpPr>
            <a:spLocks noGrp="1"/>
          </p:cNvSpPr>
          <p:nvPr>
            <p:ph type="sldNum" sz="quarter" idx="4"/>
          </p:nvPr>
        </p:nvSpPr>
        <p:spPr/>
        <p:txBody>
          <a:bodyPr/>
          <a:lstStyle/>
          <a:p>
            <a:fld id="{EF892D59-8F09-EF4B-AD6D-DA609442F868}" type="slidenum">
              <a:rPr lang="en-GB" smtClean="0"/>
              <a:pPr/>
              <a:t>5</a:t>
            </a:fld>
            <a:endParaRPr lang="en-GB" dirty="0"/>
          </a:p>
        </p:txBody>
      </p:sp>
    </p:spTree>
    <p:extLst>
      <p:ext uri="{BB962C8B-B14F-4D97-AF65-F5344CB8AC3E}">
        <p14:creationId xmlns:p14="http://schemas.microsoft.com/office/powerpoint/2010/main" val="2905504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title"/>
          </p:nvPr>
        </p:nvSpPr>
        <p:spPr>
          <a:xfrm>
            <a:off x="1004000" y="291844"/>
            <a:ext cx="11517818" cy="805001"/>
          </a:xfrm>
        </p:spPr>
        <p:txBody>
          <a:bodyPr/>
          <a:lstStyle/>
          <a:p>
            <a:pPr eaLnBrk="1" hangingPunct="1"/>
            <a:r>
              <a:rPr lang="en-GB" dirty="0"/>
              <a:t>Indentation</a:t>
            </a:r>
          </a:p>
        </p:txBody>
      </p:sp>
      <p:sp>
        <p:nvSpPr>
          <p:cNvPr id="4" name="Text Placeholder 3"/>
          <p:cNvSpPr>
            <a:spLocks noGrp="1"/>
          </p:cNvSpPr>
          <p:nvPr>
            <p:ph idx="1"/>
          </p:nvPr>
        </p:nvSpPr>
        <p:spPr/>
        <p:txBody>
          <a:bodyPr/>
          <a:lstStyle/>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b="1" dirty="0"/>
              <a:t>Guidelines from PEP008:</a:t>
            </a:r>
          </a:p>
          <a:p>
            <a:pPr marL="457200" lvl="1" indent="-228600">
              <a:buFont typeface="Arial" panose="020B0604020202020204" pitchFamily="34" charset="0"/>
              <a:buChar char="•"/>
            </a:pPr>
            <a:r>
              <a:rPr lang="en-GB" sz="1800" dirty="0">
                <a:latin typeface="Montserrat"/>
              </a:rPr>
              <a:t>Spaces are the preferred indentation method.</a:t>
            </a:r>
          </a:p>
          <a:p>
            <a:pPr marL="457200" lvl="1" indent="-228600">
              <a:buFont typeface="Arial" panose="020B0604020202020204" pitchFamily="34" charset="0"/>
              <a:buChar char="•"/>
            </a:pPr>
            <a:r>
              <a:rPr lang="en-GB" sz="1800" dirty="0">
                <a:latin typeface="Montserrat"/>
              </a:rPr>
              <a:t>Use 4 spaces per indentation level.</a:t>
            </a:r>
          </a:p>
          <a:p>
            <a:pPr marL="457200" indent="-228600">
              <a:buFont typeface="Arial"/>
              <a:buChar char="•"/>
            </a:pPr>
            <a:r>
              <a:rPr lang="en-GB" sz="1800" dirty="0">
                <a:latin typeface="Montserrat"/>
              </a:rPr>
              <a:t>Python does not allow mixing tabs and spaces.</a:t>
            </a:r>
          </a:p>
        </p:txBody>
      </p:sp>
      <p:sp>
        <p:nvSpPr>
          <p:cNvPr id="8" name="Rounded Rectangle 7"/>
          <p:cNvSpPr/>
          <p:nvPr/>
        </p:nvSpPr>
        <p:spPr bwMode="auto">
          <a:xfrm>
            <a:off x="1142792" y="2934296"/>
            <a:ext cx="9912626" cy="1634490"/>
          </a:xfrm>
          <a:prstGeom prst="roundRect">
            <a:avLst/>
          </a:prstGeom>
          <a:solidFill>
            <a:schemeClr val="tx2">
              <a:lumMod val="20000"/>
              <a:lumOff val="80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spAutoFit/>
          </a:bodyPr>
          <a:lstStyle/>
          <a:p>
            <a:pPr>
              <a:spcBef>
                <a:spcPct val="0"/>
              </a:spcBef>
            </a:pPr>
            <a:r>
              <a:rPr lang="en-GB" dirty="0"/>
              <a:t>The Future</a:t>
            </a:r>
          </a:p>
          <a:p>
            <a:pPr>
              <a:spcBef>
                <a:spcPct val="0"/>
              </a:spcBef>
            </a:pPr>
            <a:r>
              <a:rPr lang="en-GB" dirty="0"/>
              <a:t>We will perhaps eventually be writing only small modules which are identified by name as they are used to build larger ones, so that devices like</a:t>
            </a:r>
            <a:r>
              <a:rPr lang="en-GB" b="1" dirty="0"/>
              <a:t> </a:t>
            </a:r>
            <a:r>
              <a:rPr lang="en-GB" i="1" dirty="0"/>
              <a:t>indentation</a:t>
            </a:r>
            <a:r>
              <a:rPr lang="en-GB" dirty="0"/>
              <a:t>, rather than delimiters, might become feasible for expressing local structure in the source language. </a:t>
            </a:r>
          </a:p>
        </p:txBody>
      </p:sp>
      <p:sp>
        <p:nvSpPr>
          <p:cNvPr id="7" name="Rounded Rectangle 6"/>
          <p:cNvSpPr/>
          <p:nvPr/>
        </p:nvSpPr>
        <p:spPr bwMode="auto">
          <a:xfrm>
            <a:off x="1142790" y="1364176"/>
            <a:ext cx="9912625" cy="715089"/>
          </a:xfrm>
          <a:prstGeom prst="roundRect">
            <a:avLst/>
          </a:prstGeom>
          <a:solidFill>
            <a:schemeClr val="bg2">
              <a:lumMod val="20000"/>
              <a:lumOff val="80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spAutoFit/>
          </a:bodyPr>
          <a:lstStyle/>
          <a:p>
            <a:pPr>
              <a:spcBef>
                <a:spcPct val="0"/>
              </a:spcBef>
            </a:pPr>
            <a:r>
              <a:rPr lang="en-GB" dirty="0"/>
              <a:t>Python? That is for children. A Klingon Warrior uses only machine code, keyed in on the front panel switches in raw binary. </a:t>
            </a:r>
          </a:p>
        </p:txBody>
      </p:sp>
      <p:sp>
        <p:nvSpPr>
          <p:cNvPr id="6149" name="Text Box 7"/>
          <p:cNvSpPr txBox="1">
            <a:spLocks noChangeArrowheads="1"/>
          </p:cNvSpPr>
          <p:nvPr/>
        </p:nvSpPr>
        <p:spPr bwMode="auto">
          <a:xfrm>
            <a:off x="8232300" y="4682779"/>
            <a:ext cx="2771775"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b="1" dirty="0">
                <a:latin typeface="+mn-lt"/>
              </a:rPr>
              <a:t>Donald Knuth 1974</a:t>
            </a:r>
          </a:p>
        </p:txBody>
      </p:sp>
      <p:sp>
        <p:nvSpPr>
          <p:cNvPr id="6151" name="Text Box 11"/>
          <p:cNvSpPr txBox="1">
            <a:spLocks noChangeArrowheads="1"/>
          </p:cNvSpPr>
          <p:nvPr/>
        </p:nvSpPr>
        <p:spPr bwMode="auto">
          <a:xfrm>
            <a:off x="8232300" y="2168226"/>
            <a:ext cx="2460930"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b="1" dirty="0">
                <a:latin typeface="+mn-lt"/>
              </a:rPr>
              <a:t>Klingon Programmer</a:t>
            </a:r>
          </a:p>
        </p:txBody>
      </p:sp>
      <p:sp>
        <p:nvSpPr>
          <p:cNvPr id="6152" name="Text Box 12"/>
          <p:cNvSpPr txBox="1">
            <a:spLocks noChangeArrowheads="1"/>
          </p:cNvSpPr>
          <p:nvPr/>
        </p:nvSpPr>
        <p:spPr bwMode="auto">
          <a:xfrm>
            <a:off x="2117725" y="3089276"/>
            <a:ext cx="184150"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endParaRPr lang="en-US" sz="1800" dirty="0">
              <a:latin typeface="Courier New" panose="02070309020205020404" pitchFamily="49" charset="0"/>
            </a:endParaRPr>
          </a:p>
        </p:txBody>
      </p:sp>
      <p:pic>
        <p:nvPicPr>
          <p:cNvPr id="10" name="Picture 9" descr="A hand holding a card&#10;&#10;Description automatically generated">
            <a:extLst>
              <a:ext uri="{FF2B5EF4-FFF2-40B4-BE49-F238E27FC236}">
                <a16:creationId xmlns:a16="http://schemas.microsoft.com/office/drawing/2014/main" id="{572BA44C-B3E2-0CB7-6A55-4750C2E734F9}"/>
              </a:ext>
            </a:extLst>
          </p:cNvPr>
          <p:cNvPicPr>
            <a:picLocks noChangeAspect="1"/>
          </p:cNvPicPr>
          <p:nvPr/>
        </p:nvPicPr>
        <p:blipFill>
          <a:blip r:embed="rId3"/>
          <a:stretch>
            <a:fillRect/>
          </a:stretch>
        </p:blipFill>
        <p:spPr>
          <a:xfrm>
            <a:off x="10345677" y="4031863"/>
            <a:ext cx="1316796" cy="2828671"/>
          </a:xfrm>
          <a:prstGeom prst="rect">
            <a:avLst/>
          </a:prstGeom>
        </p:spPr>
      </p:pic>
      <p:sp>
        <p:nvSpPr>
          <p:cNvPr id="2" name="Slide Number Placeholder 1">
            <a:extLst>
              <a:ext uri="{FF2B5EF4-FFF2-40B4-BE49-F238E27FC236}">
                <a16:creationId xmlns:a16="http://schemas.microsoft.com/office/drawing/2014/main" id="{37E3C90E-2949-2C2C-E6C7-0693097E34E7}"/>
              </a:ext>
            </a:extLst>
          </p:cNvPr>
          <p:cNvSpPr>
            <a:spLocks noGrp="1"/>
          </p:cNvSpPr>
          <p:nvPr>
            <p:ph type="sldNum" sz="quarter" idx="4"/>
          </p:nvPr>
        </p:nvSpPr>
        <p:spPr/>
        <p:txBody>
          <a:bodyPr/>
          <a:lstStyle/>
          <a:p>
            <a:fld id="{EF892D59-8F09-EF4B-AD6D-DA609442F868}" type="slidenum">
              <a:rPr lang="en-GB" smtClean="0"/>
              <a:pPr/>
              <a:t>6</a:t>
            </a:fld>
            <a:endParaRPr lang="en-GB" dirty="0"/>
          </a:p>
        </p:txBody>
      </p:sp>
    </p:spTree>
    <p:extLst>
      <p:ext uri="{BB962C8B-B14F-4D97-AF65-F5344CB8AC3E}">
        <p14:creationId xmlns:p14="http://schemas.microsoft.com/office/powerpoint/2010/main" val="635467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sz="quarter" idx="4294967295"/>
          </p:nvPr>
        </p:nvSpPr>
        <p:spPr>
          <a:xfrm>
            <a:off x="339971" y="1367059"/>
            <a:ext cx="11715750" cy="5214937"/>
          </a:xfrm>
        </p:spPr>
        <p:txBody>
          <a:bodyPr/>
          <a:lstStyle/>
          <a:p>
            <a:r>
              <a:rPr lang="en-GB" b="1" dirty="0"/>
              <a:t>Built-in function  </a:t>
            </a:r>
            <a:r>
              <a:rPr lang="en-GB" b="1" dirty="0">
                <a:latin typeface="Courier New" panose="02070309020205020404" pitchFamily="49" charset="0"/>
              </a:rPr>
              <a:t>bool()</a:t>
            </a:r>
            <a:r>
              <a:rPr lang="en-GB" b="1" dirty="0"/>
              <a:t> tests an object as a Boolean</a:t>
            </a:r>
          </a:p>
          <a:p>
            <a:pPr marL="457200" lvl="1" indent="-228600">
              <a:buFont typeface="Arial"/>
              <a:buChar char="•"/>
            </a:pPr>
            <a:r>
              <a:rPr lang="en-GB" sz="1800" dirty="0"/>
              <a:t>False : 0, </a:t>
            </a:r>
            <a:r>
              <a:rPr lang="en-GB" sz="1800" dirty="0">
                <a:latin typeface="Courier New" panose="02070309020205020404" pitchFamily="49" charset="0"/>
              </a:rPr>
              <a:t>None</a:t>
            </a:r>
            <a:r>
              <a:rPr lang="en-GB" sz="1800" dirty="0"/>
              <a:t>, empty string, tuple, list, dictionary, set</a:t>
            </a:r>
          </a:p>
          <a:p>
            <a:pPr marL="457200" lvl="1" indent="-228600">
              <a:buFont typeface="Arial"/>
              <a:buChar char="•"/>
            </a:pPr>
            <a:r>
              <a:rPr lang="en-GB" sz="1800" dirty="0"/>
              <a:t>True : everything else		</a:t>
            </a:r>
          </a:p>
          <a:p>
            <a:pPr marL="457200" lvl="1" indent="-228600">
              <a:buFont typeface="Arial"/>
              <a:buChar char="•"/>
            </a:pPr>
            <a:r>
              <a:rPr lang="en-GB" sz="1800" dirty="0"/>
              <a:t>Constants True and False are defined</a:t>
            </a:r>
          </a:p>
          <a:p>
            <a:pPr lvl="3"/>
            <a:endParaRPr lang="en-GB" dirty="0"/>
          </a:p>
          <a:p>
            <a:r>
              <a:rPr lang="en-GB" b="1" dirty="0"/>
              <a:t>Use double equal signs ( == ) to compare values</a:t>
            </a:r>
          </a:p>
          <a:p>
            <a:pPr marL="457200" lvl="1" indent="-228600">
              <a:buFont typeface="Arial" panose="020B0604020202020204" pitchFamily="34" charset="0"/>
              <a:buChar char="•"/>
            </a:pPr>
            <a:r>
              <a:rPr lang="en-GB" sz="1800" dirty="0"/>
              <a:t>Overloaded for built-in types</a:t>
            </a:r>
          </a:p>
          <a:p>
            <a:pPr marL="457200" lvl="1" indent="-228600">
              <a:buFont typeface="Arial" panose="020B0604020202020204" pitchFamily="34" charset="0"/>
              <a:buChar char="•"/>
            </a:pPr>
            <a:r>
              <a:rPr lang="en-GB" sz="1800" dirty="0"/>
              <a:t>Use </a:t>
            </a:r>
            <a:r>
              <a:rPr lang="en-GB" sz="1800" b="0" dirty="0">
                <a:solidFill>
                  <a:srgbClr val="0000C8"/>
                </a:solidFill>
                <a:latin typeface="Courier New" panose="02070309020205020404" pitchFamily="49" charset="0"/>
              </a:rPr>
              <a:t>is</a:t>
            </a:r>
            <a:r>
              <a:rPr lang="en-GB" sz="1800" dirty="0"/>
              <a:t> to compare identities of two objects</a:t>
            </a:r>
          </a:p>
          <a:p>
            <a:r>
              <a:rPr lang="en-GB" b="1" dirty="0"/>
              <a:t>Sequence types and dictionaries also support </a:t>
            </a:r>
            <a:r>
              <a:rPr lang="en-GB" b="1" dirty="0">
                <a:solidFill>
                  <a:srgbClr val="0000C8"/>
                </a:solidFill>
                <a:latin typeface="Courier New" panose="02070309020205020404" pitchFamily="49" charset="0"/>
              </a:rPr>
              <a:t>in</a:t>
            </a:r>
          </a:p>
          <a:p>
            <a:pPr marL="457200" lvl="1" indent="-228600">
              <a:buFont typeface="Arial" panose="020B0604020202020204" pitchFamily="34" charset="0"/>
              <a:buChar char="•"/>
            </a:pPr>
            <a:r>
              <a:rPr lang="en-GB" sz="1800" dirty="0"/>
              <a:t>Tests membership of the container</a:t>
            </a:r>
          </a:p>
        </p:txBody>
      </p:sp>
      <p:sp>
        <p:nvSpPr>
          <p:cNvPr id="7170" name="Rectangle 2"/>
          <p:cNvSpPr>
            <a:spLocks noGrp="1" noChangeArrowheads="1"/>
          </p:cNvSpPr>
          <p:nvPr>
            <p:ph type="title"/>
          </p:nvPr>
        </p:nvSpPr>
        <p:spPr>
          <a:xfrm>
            <a:off x="960456" y="348205"/>
            <a:ext cx="11517818" cy="805001"/>
          </a:xfrm>
        </p:spPr>
        <p:txBody>
          <a:bodyPr/>
          <a:lstStyle/>
          <a:p>
            <a:pPr eaLnBrk="1" hangingPunct="1"/>
            <a:r>
              <a:rPr lang="en-GB" dirty="0"/>
              <a:t>What is truth?</a:t>
            </a:r>
          </a:p>
        </p:txBody>
      </p:sp>
      <p:sp>
        <p:nvSpPr>
          <p:cNvPr id="7172" name="Text Box 4"/>
          <p:cNvSpPr txBox="1">
            <a:spLocks noChangeArrowheads="1"/>
          </p:cNvSpPr>
          <p:nvPr/>
        </p:nvSpPr>
        <p:spPr bwMode="auto">
          <a:xfrm>
            <a:off x="7128380" y="4235728"/>
            <a:ext cx="18473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nchor="ct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lgn="ctr">
              <a:spcBef>
                <a:spcPct val="0"/>
              </a:spcBef>
            </a:pPr>
            <a:endParaRPr lang="en-US" sz="1800" b="1"/>
          </a:p>
        </p:txBody>
      </p:sp>
      <p:sp>
        <p:nvSpPr>
          <p:cNvPr id="7173" name="Text Box 5"/>
          <p:cNvSpPr txBox="1">
            <a:spLocks noChangeArrowheads="1"/>
          </p:cNvSpPr>
          <p:nvPr/>
        </p:nvSpPr>
        <p:spPr bwMode="auto">
          <a:xfrm>
            <a:off x="807166" y="5229550"/>
            <a:ext cx="5718175" cy="92551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rPr>
              <a:t>lang</a:t>
            </a:r>
            <a:r>
              <a:rPr lang="en-US" sz="1800" dirty="0">
                <a:latin typeface="Courier New" panose="02070309020205020404" pitchFamily="49" charset="0"/>
              </a:rPr>
              <a:t> = ['Perl', 'Python', 'PHP', 'Ruby']</a:t>
            </a:r>
          </a:p>
          <a:p>
            <a:pPr>
              <a:spcBef>
                <a:spcPct val="0"/>
              </a:spcBef>
            </a:pPr>
            <a:r>
              <a:rPr lang="en-US" sz="1800" dirty="0">
                <a:latin typeface="Courier New" panose="02070309020205020404" pitchFamily="49" charset="0"/>
              </a:rPr>
              <a:t>if 'Python' </a:t>
            </a:r>
            <a:r>
              <a:rPr lang="en-US" sz="1800" b="1" dirty="0">
                <a:latin typeface="Courier New" panose="02070309020205020404" pitchFamily="49" charset="0"/>
              </a:rPr>
              <a:t>in</a:t>
            </a:r>
            <a:r>
              <a:rPr lang="en-US" sz="1800" dirty="0">
                <a:latin typeface="Courier New" panose="02070309020205020404" pitchFamily="49" charset="0"/>
              </a:rPr>
              <a:t> </a:t>
            </a:r>
            <a:r>
              <a:rPr lang="en-US" sz="1800" dirty="0" err="1">
                <a:latin typeface="Courier New" panose="02070309020205020404" pitchFamily="49" charset="0"/>
              </a:rPr>
              <a:t>lang</a:t>
            </a:r>
            <a:r>
              <a:rPr lang="en-US" sz="1800" dirty="0">
                <a:latin typeface="Courier New" panose="02070309020205020404" pitchFamily="49" charset="0"/>
              </a:rPr>
              <a:t>:</a:t>
            </a:r>
          </a:p>
          <a:p>
            <a:r>
              <a:rPr lang="en-US" sz="1800" dirty="0">
                <a:latin typeface="Courier New" panose="02070309020205020404" pitchFamily="49" charset="0"/>
              </a:rPr>
              <a:t>    print('Python is there')</a:t>
            </a:r>
            <a:endParaRPr lang="en-GB" sz="1800" dirty="0">
              <a:latin typeface="Courier New" panose="02070309020205020404" pitchFamily="49" charset="0"/>
            </a:endParaRPr>
          </a:p>
        </p:txBody>
      </p:sp>
      <p:sp>
        <p:nvSpPr>
          <p:cNvPr id="2" name="Slide Number Placeholder 1">
            <a:extLst>
              <a:ext uri="{FF2B5EF4-FFF2-40B4-BE49-F238E27FC236}">
                <a16:creationId xmlns:a16="http://schemas.microsoft.com/office/drawing/2014/main" id="{A0A20E86-0206-A46E-7E44-EC1DE977E813}"/>
              </a:ext>
            </a:extLst>
          </p:cNvPr>
          <p:cNvSpPr>
            <a:spLocks noGrp="1"/>
          </p:cNvSpPr>
          <p:nvPr>
            <p:ph type="sldNum" sz="quarter" idx="4"/>
          </p:nvPr>
        </p:nvSpPr>
        <p:spPr/>
        <p:txBody>
          <a:bodyPr/>
          <a:lstStyle/>
          <a:p>
            <a:fld id="{EF892D59-8F09-EF4B-AD6D-DA609442F868}" type="slidenum">
              <a:rPr lang="en-GB" smtClean="0"/>
              <a:pPr/>
              <a:t>7</a:t>
            </a:fld>
            <a:endParaRPr lang="en-GB" dirty="0"/>
          </a:p>
        </p:txBody>
      </p:sp>
    </p:spTree>
    <p:extLst>
      <p:ext uri="{BB962C8B-B14F-4D97-AF65-F5344CB8AC3E}">
        <p14:creationId xmlns:p14="http://schemas.microsoft.com/office/powerpoint/2010/main" val="3193535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49571" y="334341"/>
            <a:ext cx="11517818" cy="805001"/>
          </a:xfrm>
        </p:spPr>
        <p:txBody>
          <a:bodyPr/>
          <a:lstStyle/>
          <a:p>
            <a:r>
              <a:rPr lang="en-GB" dirty="0"/>
              <a:t>Comparison and Boolean operators</a:t>
            </a:r>
          </a:p>
        </p:txBody>
      </p:sp>
      <p:graphicFrame>
        <p:nvGraphicFramePr>
          <p:cNvPr id="8199" name="Object 7"/>
          <p:cNvGraphicFramePr>
            <a:graphicFrameLocks noGrp="1" noChangeAspect="1"/>
          </p:cNvGraphicFramePr>
          <p:nvPr>
            <p:ph idx="1"/>
          </p:nvPr>
        </p:nvGraphicFramePr>
        <p:xfrm>
          <a:off x="5199063" y="2944813"/>
          <a:ext cx="1800225" cy="1800225"/>
        </p:xfrm>
        <a:graphic>
          <a:graphicData uri="http://schemas.openxmlformats.org/presentationml/2006/ole">
            <mc:AlternateContent xmlns:mc="http://schemas.openxmlformats.org/markup-compatibility/2006">
              <mc:Choice xmlns:v="urn:schemas-microsoft-com:vml" Requires="v">
                <p:oleObj name="Bitmap Image" r:id="rId3" imgW="1800360" imgH="1800360" progId="Paint.Picture">
                  <p:embed/>
                </p:oleObj>
              </mc:Choice>
              <mc:Fallback>
                <p:oleObj name="Bitmap Image" r:id="rId3" imgW="1800360" imgH="1800360" progId="Paint.Picture">
                  <p:embed/>
                  <p:pic>
                    <p:nvPicPr>
                      <p:cNvPr id="8199" name="Object 7"/>
                      <p:cNvPicPr>
                        <a:picLocks noGrp="1" noChangeAspect="1" noChangeArrowheads="1"/>
                      </p:cNvPicPr>
                      <p:nvPr/>
                    </p:nvPicPr>
                    <p:blipFill>
                      <a:blip r:embed="rId4"/>
                      <a:srcRect/>
                      <a:stretch>
                        <a:fillRect/>
                      </a:stretch>
                    </p:blipFill>
                    <p:spPr bwMode="auto">
                      <a:xfrm>
                        <a:off x="5199063" y="2944813"/>
                        <a:ext cx="1800225" cy="18002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5" name="AutoShape 3"/>
          <p:cNvSpPr>
            <a:spLocks noChangeArrowheads="1"/>
          </p:cNvSpPr>
          <p:nvPr/>
        </p:nvSpPr>
        <p:spPr bwMode="auto">
          <a:xfrm>
            <a:off x="1334431" y="1230775"/>
            <a:ext cx="9550509" cy="3194633"/>
          </a:xfrm>
          <a:prstGeom prst="roundRect">
            <a:avLst>
              <a:gd name="adj" fmla="val 16667"/>
            </a:avLst>
          </a:prstGeom>
          <a:solidFill>
            <a:schemeClr val="bg2">
              <a:lumMod val="20000"/>
              <a:lumOff val="80000"/>
            </a:schemeClr>
          </a:solidFill>
          <a:ln w="12700">
            <a:solidFill>
              <a:schemeClr val="tx1"/>
            </a:solidFill>
            <a:round/>
            <a:headEnd/>
            <a:tailEnd/>
          </a:ln>
          <a:effectLst>
            <a:outerShdw blurRad="50800" dist="38100" dir="2700000" algn="tl" rotWithShape="0">
              <a:prstClr val="black">
                <a:alpha val="40000"/>
              </a:prstClr>
            </a:outerShdw>
          </a:effectLst>
        </p:spPr>
        <p:txBody>
          <a:bodyPr wrap="square" lIns="90488" tIns="44450" rIns="90488" bIns="44450" anchor="t">
            <a:spAutoFit/>
          </a:bodyPr>
          <a:lstStyle/>
          <a:p>
            <a:pPr defTabSz="1465263">
              <a:tabLst>
                <a:tab pos="1081088" algn="l"/>
                <a:tab pos="4665663" algn="l"/>
              </a:tabLst>
            </a:pPr>
            <a:r>
              <a:rPr lang="en-GB" b="1" dirty="0"/>
              <a:t>Comparison operators</a:t>
            </a:r>
            <a:r>
              <a:rPr lang="en-GB" b="1" dirty="0">
                <a:latin typeface="Courier New"/>
                <a:cs typeface="Courier New"/>
              </a:rPr>
              <a:t>		</a:t>
            </a:r>
          </a:p>
          <a:p>
            <a:pPr defTabSz="1465263">
              <a:spcBef>
                <a:spcPct val="30000"/>
              </a:spcBef>
              <a:tabLst>
                <a:tab pos="1081088" algn="l"/>
                <a:tab pos="4665663" algn="l"/>
              </a:tabLst>
            </a:pPr>
            <a:r>
              <a:rPr lang="en-GB" b="1" dirty="0">
                <a:solidFill>
                  <a:srgbClr val="0000FF"/>
                </a:solidFill>
                <a:latin typeface="Courier New" panose="02070309020205020404" pitchFamily="49" charset="0"/>
              </a:rPr>
              <a:t>&lt;</a:t>
            </a:r>
            <a:r>
              <a:rPr lang="en-GB" b="1" dirty="0">
                <a:latin typeface="Courier New" panose="02070309020205020404" pitchFamily="49" charset="0"/>
              </a:rPr>
              <a:t>	</a:t>
            </a:r>
            <a:r>
              <a:rPr lang="en-GB" b="1" dirty="0"/>
              <a:t>value</a:t>
            </a:r>
            <a:r>
              <a:rPr lang="en-GB" dirty="0"/>
              <a:t> </a:t>
            </a:r>
            <a:r>
              <a:rPr lang="en-GB" b="1" dirty="0"/>
              <a:t>less than	</a:t>
            </a:r>
            <a:r>
              <a:rPr lang="en-GB" i="1" dirty="0"/>
              <a:t>expression</a:t>
            </a:r>
            <a:r>
              <a:rPr lang="en-GB" b="1" dirty="0">
                <a:latin typeface="Courier New" panose="02070309020205020404" pitchFamily="49" charset="0"/>
              </a:rPr>
              <a:t> &lt; </a:t>
            </a:r>
            <a:r>
              <a:rPr lang="en-GB" i="1" dirty="0"/>
              <a:t>expression</a:t>
            </a:r>
          </a:p>
          <a:p>
            <a:pPr defTabSz="1465263">
              <a:spcBef>
                <a:spcPct val="30000"/>
              </a:spcBef>
              <a:tabLst>
                <a:tab pos="1081088" algn="l"/>
                <a:tab pos="4665663" algn="l"/>
              </a:tabLst>
            </a:pPr>
            <a:r>
              <a:rPr lang="en-GB" b="1" dirty="0">
                <a:solidFill>
                  <a:srgbClr val="0000FF"/>
                </a:solidFill>
                <a:latin typeface="Courier New" panose="02070309020205020404" pitchFamily="49" charset="0"/>
              </a:rPr>
              <a:t>&lt;=</a:t>
            </a:r>
            <a:r>
              <a:rPr lang="en-GB" b="1" dirty="0">
                <a:latin typeface="Courier New" panose="02070309020205020404" pitchFamily="49" charset="0"/>
              </a:rPr>
              <a:t>	</a:t>
            </a:r>
            <a:r>
              <a:rPr lang="en-GB" b="1" dirty="0"/>
              <a:t>value</a:t>
            </a:r>
            <a:r>
              <a:rPr lang="en-GB" dirty="0"/>
              <a:t> </a:t>
            </a:r>
            <a:r>
              <a:rPr lang="en-GB" b="1" dirty="0"/>
              <a:t>less than or equal	</a:t>
            </a:r>
            <a:r>
              <a:rPr lang="en-GB" i="1" dirty="0"/>
              <a:t>expression</a:t>
            </a:r>
            <a:r>
              <a:rPr lang="en-GB" b="1" dirty="0">
                <a:latin typeface="Courier New" panose="02070309020205020404" pitchFamily="49" charset="0"/>
              </a:rPr>
              <a:t> &lt;= </a:t>
            </a:r>
            <a:r>
              <a:rPr lang="en-GB" i="1" dirty="0"/>
              <a:t>expression</a:t>
            </a:r>
            <a:endParaRPr lang="en-GB" dirty="0"/>
          </a:p>
          <a:p>
            <a:pPr defTabSz="1465263">
              <a:spcBef>
                <a:spcPct val="30000"/>
              </a:spcBef>
              <a:tabLst>
                <a:tab pos="1081088" algn="l"/>
                <a:tab pos="4665663" algn="l"/>
              </a:tabLst>
            </a:pPr>
            <a:r>
              <a:rPr lang="en-GB" b="1" dirty="0">
                <a:solidFill>
                  <a:srgbClr val="0000FF"/>
                </a:solidFill>
                <a:latin typeface="Courier New" panose="02070309020205020404" pitchFamily="49" charset="0"/>
              </a:rPr>
              <a:t>&gt;	</a:t>
            </a:r>
            <a:r>
              <a:rPr lang="en-GB" b="1" dirty="0"/>
              <a:t>value</a:t>
            </a:r>
            <a:r>
              <a:rPr lang="en-GB" dirty="0"/>
              <a:t> </a:t>
            </a:r>
            <a:r>
              <a:rPr lang="en-GB" b="1" dirty="0"/>
              <a:t>greater than	</a:t>
            </a:r>
            <a:r>
              <a:rPr lang="en-GB" i="1" dirty="0"/>
              <a:t>expression</a:t>
            </a:r>
            <a:r>
              <a:rPr lang="en-GB" dirty="0">
                <a:latin typeface="Courier New" panose="02070309020205020404" pitchFamily="49" charset="0"/>
              </a:rPr>
              <a:t> </a:t>
            </a:r>
            <a:r>
              <a:rPr lang="en-GB" b="1" dirty="0">
                <a:latin typeface="Courier New" panose="02070309020205020404" pitchFamily="49" charset="0"/>
              </a:rPr>
              <a:t>&gt; </a:t>
            </a:r>
            <a:r>
              <a:rPr lang="en-GB" i="1" dirty="0"/>
              <a:t>expression</a:t>
            </a:r>
          </a:p>
          <a:p>
            <a:pPr defTabSz="1465263">
              <a:spcBef>
                <a:spcPct val="30000"/>
              </a:spcBef>
              <a:tabLst>
                <a:tab pos="1081088" algn="l"/>
                <a:tab pos="4665663" algn="l"/>
              </a:tabLst>
            </a:pPr>
            <a:r>
              <a:rPr lang="en-GB" b="1" dirty="0">
                <a:solidFill>
                  <a:srgbClr val="0000FF"/>
                </a:solidFill>
                <a:latin typeface="Courier New" panose="02070309020205020404" pitchFamily="49" charset="0"/>
              </a:rPr>
              <a:t>&gt;=</a:t>
            </a:r>
            <a:r>
              <a:rPr lang="en-GB" b="1" dirty="0">
                <a:latin typeface="Courier New" panose="02070309020205020404" pitchFamily="49" charset="0"/>
              </a:rPr>
              <a:t> 	</a:t>
            </a:r>
            <a:r>
              <a:rPr lang="en-GB" b="1" dirty="0"/>
              <a:t>value</a:t>
            </a:r>
            <a:r>
              <a:rPr lang="en-GB" dirty="0"/>
              <a:t> </a:t>
            </a:r>
            <a:r>
              <a:rPr lang="en-GB" b="1" dirty="0"/>
              <a:t>greater than or equal	</a:t>
            </a:r>
            <a:r>
              <a:rPr lang="en-GB" i="1" dirty="0"/>
              <a:t>expression</a:t>
            </a:r>
            <a:r>
              <a:rPr lang="en-GB" b="1" dirty="0">
                <a:latin typeface="Courier New" panose="02070309020205020404" pitchFamily="49" charset="0"/>
              </a:rPr>
              <a:t> &gt;= </a:t>
            </a:r>
            <a:r>
              <a:rPr lang="en-GB" i="1" dirty="0"/>
              <a:t>expression</a:t>
            </a:r>
            <a:endParaRPr lang="en-GB" dirty="0"/>
          </a:p>
          <a:p>
            <a:pPr defTabSz="1465263">
              <a:spcBef>
                <a:spcPct val="30000"/>
              </a:spcBef>
              <a:tabLst>
                <a:tab pos="1081088" algn="l"/>
                <a:tab pos="4665663" algn="l"/>
              </a:tabLst>
            </a:pPr>
            <a:r>
              <a:rPr lang="en-GB" b="1" dirty="0">
                <a:solidFill>
                  <a:srgbClr val="0000FF"/>
                </a:solidFill>
                <a:latin typeface="Courier New" panose="02070309020205020404" pitchFamily="49" charset="0"/>
              </a:rPr>
              <a:t>==	</a:t>
            </a:r>
            <a:r>
              <a:rPr lang="en-GB" b="1" dirty="0"/>
              <a:t>value equality	</a:t>
            </a:r>
            <a:r>
              <a:rPr lang="en-GB" i="1" dirty="0"/>
              <a:t>expression</a:t>
            </a:r>
            <a:r>
              <a:rPr lang="en-GB" dirty="0">
                <a:latin typeface="Courier New" panose="02070309020205020404" pitchFamily="49" charset="0"/>
              </a:rPr>
              <a:t> </a:t>
            </a:r>
            <a:r>
              <a:rPr lang="en-GB" b="1" dirty="0">
                <a:latin typeface="Courier New" panose="02070309020205020404" pitchFamily="49" charset="0"/>
              </a:rPr>
              <a:t>== </a:t>
            </a:r>
            <a:r>
              <a:rPr lang="en-GB" i="1" dirty="0"/>
              <a:t>expression</a:t>
            </a:r>
            <a:endParaRPr lang="en-GB" dirty="0"/>
          </a:p>
          <a:p>
            <a:pPr defTabSz="1465263">
              <a:spcBef>
                <a:spcPct val="30000"/>
              </a:spcBef>
              <a:tabLst>
                <a:tab pos="1081088" algn="l"/>
                <a:tab pos="4665663" algn="l"/>
              </a:tabLst>
            </a:pPr>
            <a:r>
              <a:rPr lang="en-GB" b="1" dirty="0">
                <a:solidFill>
                  <a:srgbClr val="0000FF"/>
                </a:solidFill>
                <a:latin typeface="Courier New" panose="02070309020205020404" pitchFamily="49" charset="0"/>
              </a:rPr>
              <a:t>!=</a:t>
            </a:r>
            <a:r>
              <a:rPr lang="en-GB" b="1" dirty="0">
                <a:latin typeface="Courier New" panose="02070309020205020404" pitchFamily="49" charset="0"/>
              </a:rPr>
              <a:t>	</a:t>
            </a:r>
            <a:r>
              <a:rPr lang="en-GB" b="1" dirty="0"/>
              <a:t>value inequality	</a:t>
            </a:r>
            <a:r>
              <a:rPr lang="en-GB" i="1" dirty="0"/>
              <a:t>expression</a:t>
            </a:r>
            <a:r>
              <a:rPr lang="en-GB" b="1" dirty="0">
                <a:latin typeface="Courier New" panose="02070309020205020404" pitchFamily="49" charset="0"/>
              </a:rPr>
              <a:t> != </a:t>
            </a:r>
            <a:r>
              <a:rPr lang="en-GB" i="1" dirty="0"/>
              <a:t>expression</a:t>
            </a:r>
          </a:p>
          <a:p>
            <a:pPr defTabSz="1465263">
              <a:spcBef>
                <a:spcPct val="30000"/>
              </a:spcBef>
              <a:tabLst>
                <a:tab pos="1081088" algn="l"/>
                <a:tab pos="4665663" algn="l"/>
              </a:tabLst>
            </a:pPr>
            <a:r>
              <a:rPr lang="en-GB" b="1" dirty="0">
                <a:solidFill>
                  <a:srgbClr val="0000C8"/>
                </a:solidFill>
                <a:latin typeface="Courier New"/>
                <a:cs typeface="Courier New"/>
              </a:rPr>
              <a:t>is	</a:t>
            </a:r>
            <a:r>
              <a:rPr lang="en-GB" b="1" dirty="0"/>
              <a:t>object identity is the same</a:t>
            </a:r>
            <a:r>
              <a:rPr lang="en-GB" dirty="0"/>
              <a:t>	</a:t>
            </a:r>
            <a:r>
              <a:rPr lang="en-GB" i="1" dirty="0"/>
              <a:t>object</a:t>
            </a:r>
            <a:r>
              <a:rPr lang="en-GB" dirty="0">
                <a:latin typeface="Courier New"/>
                <a:cs typeface="Courier New"/>
              </a:rPr>
              <a:t> </a:t>
            </a:r>
            <a:r>
              <a:rPr lang="en-GB" b="1" dirty="0">
                <a:latin typeface="Courier New"/>
                <a:cs typeface="Courier New"/>
              </a:rPr>
              <a:t>is </a:t>
            </a:r>
            <a:r>
              <a:rPr lang="en-GB" i="1" dirty="0"/>
              <a:t>object</a:t>
            </a:r>
          </a:p>
        </p:txBody>
      </p:sp>
      <p:sp>
        <p:nvSpPr>
          <p:cNvPr id="8197" name="AutoShape 5"/>
          <p:cNvSpPr>
            <a:spLocks noChangeArrowheads="1"/>
          </p:cNvSpPr>
          <p:nvPr/>
        </p:nvSpPr>
        <p:spPr bwMode="auto">
          <a:xfrm>
            <a:off x="1340959" y="4919341"/>
            <a:ext cx="9529870" cy="1601006"/>
          </a:xfrm>
          <a:prstGeom prst="roundRect">
            <a:avLst>
              <a:gd name="adj" fmla="val 16667"/>
            </a:avLst>
          </a:prstGeom>
          <a:solidFill>
            <a:schemeClr val="bg2">
              <a:lumMod val="20000"/>
              <a:lumOff val="80000"/>
            </a:schemeClr>
          </a:solidFill>
          <a:ln w="12700">
            <a:solidFill>
              <a:schemeClr val="tx1"/>
            </a:solidFill>
            <a:round/>
            <a:headEnd/>
            <a:tailEnd/>
          </a:ln>
          <a:effectLst>
            <a:outerShdw blurRad="50800" dist="38100" dir="2700000" algn="tl" rotWithShape="0">
              <a:prstClr val="black">
                <a:alpha val="40000"/>
              </a:prstClr>
            </a:outerShdw>
          </a:effectLst>
        </p:spPr>
        <p:txBody>
          <a:bodyPr wrap="square" lIns="90488" tIns="44450" rIns="90488" bIns="44450" anchor="t">
            <a:spAutoFit/>
          </a:bodyPr>
          <a:lstStyle/>
          <a:p>
            <a:pPr defTabSz="1465263">
              <a:tabLst>
                <a:tab pos="1081088" algn="l"/>
                <a:tab pos="4665663" algn="l"/>
              </a:tabLst>
            </a:pPr>
            <a:r>
              <a:rPr lang="en-GB" b="1" dirty="0"/>
              <a:t>Boolean operators </a:t>
            </a:r>
            <a:endParaRPr lang="en-GB" b="1" dirty="0">
              <a:latin typeface="Courier New" pitchFamily="49" charset="0"/>
            </a:endParaRPr>
          </a:p>
          <a:p>
            <a:pPr defTabSz="1465263">
              <a:spcBef>
                <a:spcPct val="30000"/>
              </a:spcBef>
              <a:tabLst>
                <a:tab pos="1081088" algn="l"/>
                <a:tab pos="4665663" algn="l"/>
              </a:tabLst>
            </a:pPr>
            <a:r>
              <a:rPr lang="en-GB" b="1" dirty="0">
                <a:solidFill>
                  <a:srgbClr val="0000C8"/>
                </a:solidFill>
                <a:latin typeface="Courier New" panose="02070309020205020404" pitchFamily="49" charset="0"/>
              </a:rPr>
              <a:t>not</a:t>
            </a:r>
            <a:r>
              <a:rPr lang="en-GB" b="1" dirty="0">
                <a:latin typeface="Courier New" panose="02070309020205020404" pitchFamily="49" charset="0"/>
              </a:rPr>
              <a:t>	 </a:t>
            </a:r>
            <a:r>
              <a:rPr lang="en-GB" b="1" dirty="0"/>
              <a:t>logical NOT	</a:t>
            </a:r>
            <a:r>
              <a:rPr lang="en-GB" b="1" dirty="0">
                <a:latin typeface="Courier New" panose="02070309020205020404" pitchFamily="49" charset="0"/>
              </a:rPr>
              <a:t>not </a:t>
            </a:r>
            <a:r>
              <a:rPr lang="en-GB" i="1" dirty="0"/>
              <a:t>expression</a:t>
            </a:r>
            <a:endParaRPr lang="en-GB" dirty="0"/>
          </a:p>
          <a:p>
            <a:pPr defTabSz="1465263">
              <a:spcBef>
                <a:spcPct val="30000"/>
              </a:spcBef>
              <a:tabLst>
                <a:tab pos="1081088" algn="l"/>
                <a:tab pos="4665663" algn="l"/>
              </a:tabLst>
            </a:pPr>
            <a:r>
              <a:rPr lang="en-GB" b="1" dirty="0">
                <a:solidFill>
                  <a:srgbClr val="0000C8"/>
                </a:solidFill>
                <a:latin typeface="Courier New" panose="02070309020205020404" pitchFamily="49" charset="0"/>
              </a:rPr>
              <a:t>and</a:t>
            </a:r>
            <a:r>
              <a:rPr lang="en-GB" b="1" dirty="0">
                <a:latin typeface="Courier New" panose="02070309020205020404" pitchFamily="49" charset="0"/>
              </a:rPr>
              <a:t>	 </a:t>
            </a:r>
            <a:r>
              <a:rPr lang="en-GB" b="1" dirty="0"/>
              <a:t>logical AND	</a:t>
            </a:r>
            <a:r>
              <a:rPr lang="en-GB" i="1" dirty="0"/>
              <a:t>expression</a:t>
            </a:r>
            <a:r>
              <a:rPr lang="en-GB" b="1" dirty="0">
                <a:latin typeface="Courier New" panose="02070309020205020404" pitchFamily="49" charset="0"/>
              </a:rPr>
              <a:t> and </a:t>
            </a:r>
            <a:r>
              <a:rPr lang="en-GB" i="1" dirty="0"/>
              <a:t>expression</a:t>
            </a:r>
            <a:endParaRPr lang="en-GB" dirty="0"/>
          </a:p>
          <a:p>
            <a:pPr defTabSz="1465263">
              <a:spcBef>
                <a:spcPct val="30000"/>
              </a:spcBef>
              <a:tabLst>
                <a:tab pos="1081088" algn="l"/>
                <a:tab pos="4665663" algn="l"/>
              </a:tabLst>
            </a:pPr>
            <a:r>
              <a:rPr lang="en-GB" b="1" dirty="0">
                <a:solidFill>
                  <a:srgbClr val="0000C8"/>
                </a:solidFill>
                <a:latin typeface="Courier New" panose="02070309020205020404" pitchFamily="49" charset="0"/>
              </a:rPr>
              <a:t>or</a:t>
            </a:r>
            <a:r>
              <a:rPr lang="en-GB" b="1" dirty="0">
                <a:latin typeface="Courier New" panose="02070309020205020404" pitchFamily="49" charset="0"/>
              </a:rPr>
              <a:t>	 </a:t>
            </a:r>
            <a:r>
              <a:rPr lang="en-GB" b="1" dirty="0"/>
              <a:t>logical OR	</a:t>
            </a:r>
            <a:r>
              <a:rPr lang="en-GB" i="1" dirty="0"/>
              <a:t>expression</a:t>
            </a:r>
            <a:r>
              <a:rPr lang="en-GB" b="1" dirty="0">
                <a:latin typeface="Courier New" panose="02070309020205020404" pitchFamily="49" charset="0"/>
              </a:rPr>
              <a:t> or </a:t>
            </a:r>
            <a:r>
              <a:rPr lang="en-GB" i="1" dirty="0"/>
              <a:t>expression</a:t>
            </a:r>
            <a:endParaRPr lang="en-GB" dirty="0"/>
          </a:p>
        </p:txBody>
      </p:sp>
      <p:sp>
        <p:nvSpPr>
          <p:cNvPr id="2" name="Slide Number Placeholder 1">
            <a:extLst>
              <a:ext uri="{FF2B5EF4-FFF2-40B4-BE49-F238E27FC236}">
                <a16:creationId xmlns:a16="http://schemas.microsoft.com/office/drawing/2014/main" id="{204324C1-7380-C3D4-9FEB-EC8568A6AD8B}"/>
              </a:ext>
            </a:extLst>
          </p:cNvPr>
          <p:cNvSpPr>
            <a:spLocks noGrp="1"/>
          </p:cNvSpPr>
          <p:nvPr>
            <p:ph type="sldNum" sz="quarter" idx="4"/>
          </p:nvPr>
        </p:nvSpPr>
        <p:spPr/>
        <p:txBody>
          <a:bodyPr/>
          <a:lstStyle/>
          <a:p>
            <a:fld id="{EF892D59-8F09-EF4B-AD6D-DA609442F868}" type="slidenum">
              <a:rPr lang="en-GB" smtClean="0"/>
              <a:pPr/>
              <a:t>8</a:t>
            </a:fld>
            <a:endParaRPr lang="en-GB" dirty="0"/>
          </a:p>
        </p:txBody>
      </p:sp>
    </p:spTree>
    <p:extLst>
      <p:ext uri="{BB962C8B-B14F-4D97-AF65-F5344CB8AC3E}">
        <p14:creationId xmlns:p14="http://schemas.microsoft.com/office/powerpoint/2010/main" val="188198983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82229" y="332857"/>
            <a:ext cx="11517818" cy="805001"/>
          </a:xfrm>
        </p:spPr>
        <p:txBody>
          <a:bodyPr/>
          <a:lstStyle/>
          <a:p>
            <a:pPr eaLnBrk="1" hangingPunct="1"/>
            <a:r>
              <a:rPr lang="en-GB" dirty="0"/>
              <a:t>Chained comparisons</a:t>
            </a:r>
          </a:p>
        </p:txBody>
      </p:sp>
      <p:sp>
        <p:nvSpPr>
          <p:cNvPr id="9219" name="Rectangle 3"/>
          <p:cNvSpPr>
            <a:spLocks noGrp="1" noChangeArrowheads="1"/>
          </p:cNvSpPr>
          <p:nvPr>
            <p:ph idx="1"/>
          </p:nvPr>
        </p:nvSpPr>
        <p:spPr>
          <a:xfrm>
            <a:off x="392072" y="1098915"/>
            <a:ext cx="11529607" cy="5343038"/>
          </a:xfrm>
        </p:spPr>
        <p:txBody>
          <a:bodyPr/>
          <a:lstStyle/>
          <a:p>
            <a:r>
              <a:rPr lang="en-GB" sz="1800" b="1" dirty="0">
                <a:latin typeface="Montserrat"/>
              </a:rPr>
              <a:t>Consider a test with multiple related expressions:</a:t>
            </a:r>
            <a:endParaRPr lang="en-US" sz="1800" b="1" dirty="0"/>
          </a:p>
          <a:p>
            <a:pPr marL="450850" lvl="4" indent="-184150">
              <a:buFont typeface="Arial" panose="020B0604020202020204" pitchFamily="34" charset="0"/>
              <a:buChar char="•"/>
            </a:pPr>
            <a:r>
              <a:rPr lang="en-GB" sz="1800" dirty="0">
                <a:latin typeface="Montserrat"/>
              </a:rPr>
              <a:t>Number must be between 0 and 41 and distance must be above 42:</a:t>
            </a:r>
            <a:endParaRPr lang="en-GB" sz="1800" dirty="0"/>
          </a:p>
          <a:p>
            <a:pPr marL="450850" indent="-184150">
              <a:buFont typeface="Arial" panose="020B0604020202020204" pitchFamily="34" charset="0"/>
              <a:buChar char="•"/>
            </a:pPr>
            <a:endParaRPr lang="en-GB" dirty="0">
              <a:latin typeface="Montserrat"/>
            </a:endParaRPr>
          </a:p>
          <a:p>
            <a:pPr marL="450850" indent="-184150">
              <a:buSzPct val="114999"/>
              <a:buFont typeface="Arial" panose="020B0604020202020204" pitchFamily="34" charset="0"/>
              <a:buChar char="•"/>
            </a:pPr>
            <a:endParaRPr lang="en-GB" dirty="0">
              <a:latin typeface="Montserrat"/>
            </a:endParaRPr>
          </a:p>
          <a:p>
            <a:pPr marL="450850" indent="-184150">
              <a:buSzPct val="114999"/>
              <a:buFont typeface="Arial" panose="020B0604020202020204" pitchFamily="34" charset="0"/>
              <a:buChar char="•"/>
            </a:pPr>
            <a:endParaRPr lang="en-GB" dirty="0">
              <a:latin typeface="Montserrat"/>
            </a:endParaRPr>
          </a:p>
          <a:p>
            <a:pPr marL="450850" indent="-184150">
              <a:buSzPct val="114999"/>
              <a:buFont typeface="Arial" panose="020B0604020202020204" pitchFamily="34" charset="0"/>
              <a:buChar char="•"/>
            </a:pPr>
            <a:endParaRPr lang="en-GB" dirty="0">
              <a:latin typeface="Montserrat"/>
            </a:endParaRPr>
          </a:p>
          <a:p>
            <a:pPr marL="450850" indent="-184150">
              <a:buSzPct val="114999"/>
              <a:buFont typeface="Arial" panose="020B0604020202020204" pitchFamily="34" charset="0"/>
              <a:buChar char="•"/>
            </a:pPr>
            <a:r>
              <a:rPr lang="en-GB" sz="1800" dirty="0">
                <a:latin typeface="Montserrat"/>
              </a:rPr>
              <a:t>Could be rewritten as a chained comparison:</a:t>
            </a:r>
            <a:endParaRPr lang="en-GB" sz="1800" dirty="0"/>
          </a:p>
          <a:p>
            <a:pPr marL="450850" indent="-184150">
              <a:buFont typeface="Arial" panose="020B0604020202020204" pitchFamily="34" charset="0"/>
              <a:buChar char="•"/>
            </a:pPr>
            <a:endParaRPr lang="en-GB" dirty="0"/>
          </a:p>
          <a:p>
            <a:pPr marL="450850" indent="-184150">
              <a:buFont typeface="Arial" panose="020B0604020202020204" pitchFamily="34" charset="0"/>
              <a:buChar char="•"/>
            </a:pPr>
            <a:endParaRPr lang="en-GB" dirty="0"/>
          </a:p>
          <a:p>
            <a:pPr marL="450850" indent="-184150">
              <a:buFont typeface="Arial" panose="020B0604020202020204" pitchFamily="34" charset="0"/>
              <a:buChar char="•"/>
            </a:pPr>
            <a:endParaRPr lang="en-GB" dirty="0"/>
          </a:p>
          <a:p>
            <a:pPr marL="450850" indent="-184150">
              <a:buSzPct val="114999"/>
              <a:buFont typeface="Arial" panose="020B0604020202020204" pitchFamily="34" charset="0"/>
              <a:buChar char="•"/>
            </a:pPr>
            <a:endParaRPr lang="en-GB" dirty="0">
              <a:latin typeface="Montserrat"/>
            </a:endParaRPr>
          </a:p>
          <a:p>
            <a:pPr marL="450850" indent="-184150">
              <a:buFont typeface="Arial" panose="020B0604020202020204" pitchFamily="34" charset="0"/>
              <a:buChar char="•"/>
            </a:pPr>
            <a:r>
              <a:rPr lang="en-GB" sz="1800" dirty="0">
                <a:latin typeface="Montserrat"/>
              </a:rPr>
              <a:t>And can be combined with other tests:</a:t>
            </a:r>
            <a:endParaRPr lang="en-GB" sz="1800" dirty="0"/>
          </a:p>
        </p:txBody>
      </p:sp>
      <p:sp>
        <p:nvSpPr>
          <p:cNvPr id="9220" name="Text Box 4"/>
          <p:cNvSpPr txBox="1">
            <a:spLocks noChangeArrowheads="1"/>
          </p:cNvSpPr>
          <p:nvPr/>
        </p:nvSpPr>
        <p:spPr bwMode="auto">
          <a:xfrm>
            <a:off x="855343" y="3781434"/>
            <a:ext cx="7204075" cy="120015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if 0 &lt; number &lt; 42 &lt; distance:</a:t>
            </a:r>
          </a:p>
          <a:p>
            <a:pPr>
              <a:spcBef>
                <a:spcPct val="0"/>
              </a:spcBef>
            </a:pPr>
            <a:r>
              <a:rPr lang="en-GB" sz="1800" dirty="0">
                <a:latin typeface="Courier New" panose="02070309020205020404" pitchFamily="49" charset="0"/>
              </a:rPr>
              <a:t>    print("number and distance are within range")</a:t>
            </a:r>
          </a:p>
          <a:p>
            <a:pPr>
              <a:spcBef>
                <a:spcPct val="0"/>
              </a:spcBef>
            </a:pPr>
            <a:r>
              <a:rPr lang="en-GB" sz="1800" dirty="0">
                <a:latin typeface="Courier New" panose="02070309020205020404" pitchFamily="49" charset="0"/>
              </a:rPr>
              <a:t>else:</a:t>
            </a:r>
          </a:p>
          <a:p>
            <a:pPr>
              <a:spcBef>
                <a:spcPct val="0"/>
              </a:spcBef>
            </a:pPr>
            <a:r>
              <a:rPr lang="en-GB" sz="1800" dirty="0">
                <a:latin typeface="Courier New" panose="02070309020205020404" pitchFamily="49" charset="0"/>
              </a:rPr>
              <a:t>    print("number and distance are out of range")</a:t>
            </a:r>
          </a:p>
        </p:txBody>
      </p:sp>
      <p:sp>
        <p:nvSpPr>
          <p:cNvPr id="9221" name="Text Box 5"/>
          <p:cNvSpPr txBox="1">
            <a:spLocks noChangeArrowheads="1"/>
          </p:cNvSpPr>
          <p:nvPr/>
        </p:nvSpPr>
        <p:spPr bwMode="auto">
          <a:xfrm>
            <a:off x="885506" y="1861706"/>
            <a:ext cx="7173912" cy="120015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if 0 &lt; number and number &lt; 42 and 42 &lt; distance:</a:t>
            </a:r>
          </a:p>
          <a:p>
            <a:pPr>
              <a:spcBef>
                <a:spcPct val="0"/>
              </a:spcBef>
            </a:pPr>
            <a:r>
              <a:rPr lang="en-GB" sz="1800" dirty="0">
                <a:latin typeface="Courier New" panose="02070309020205020404" pitchFamily="49" charset="0"/>
              </a:rPr>
              <a:t>    print("number and distance are within range")</a:t>
            </a:r>
          </a:p>
          <a:p>
            <a:pPr>
              <a:spcBef>
                <a:spcPct val="0"/>
              </a:spcBef>
            </a:pPr>
            <a:r>
              <a:rPr lang="en-GB" sz="1800" dirty="0">
                <a:latin typeface="Courier New" panose="02070309020205020404" pitchFamily="49" charset="0"/>
              </a:rPr>
              <a:t>else:</a:t>
            </a:r>
          </a:p>
          <a:p>
            <a:pPr>
              <a:spcBef>
                <a:spcPct val="0"/>
              </a:spcBef>
            </a:pPr>
            <a:r>
              <a:rPr lang="en-GB" sz="1800" dirty="0">
                <a:latin typeface="Courier New" panose="02070309020205020404" pitchFamily="49" charset="0"/>
              </a:rPr>
              <a:t>    print("number and distance are out of range")</a:t>
            </a:r>
          </a:p>
        </p:txBody>
      </p:sp>
      <p:sp>
        <p:nvSpPr>
          <p:cNvPr id="9222" name="Text Box 6"/>
          <p:cNvSpPr txBox="1">
            <a:spLocks noChangeArrowheads="1"/>
          </p:cNvSpPr>
          <p:nvPr/>
        </p:nvSpPr>
        <p:spPr bwMode="auto">
          <a:xfrm>
            <a:off x="855343" y="5699129"/>
            <a:ext cx="7153275"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if 0 &lt; number &lt; 42 and distance != 20:</a:t>
            </a:r>
          </a:p>
          <a:p>
            <a:pPr>
              <a:spcBef>
                <a:spcPct val="0"/>
              </a:spcBef>
            </a:pPr>
            <a:r>
              <a:rPr lang="en-GB" sz="1800" dirty="0">
                <a:latin typeface="Courier New" panose="02070309020205020404" pitchFamily="49" charset="0"/>
              </a:rPr>
              <a:t>    ...</a:t>
            </a:r>
          </a:p>
        </p:txBody>
      </p:sp>
      <p:sp>
        <p:nvSpPr>
          <p:cNvPr id="2" name="Slide Number Placeholder 1">
            <a:extLst>
              <a:ext uri="{FF2B5EF4-FFF2-40B4-BE49-F238E27FC236}">
                <a16:creationId xmlns:a16="http://schemas.microsoft.com/office/drawing/2014/main" id="{6E20C72B-324A-0510-995A-BF35BF3AC54C}"/>
              </a:ext>
            </a:extLst>
          </p:cNvPr>
          <p:cNvSpPr>
            <a:spLocks noGrp="1"/>
          </p:cNvSpPr>
          <p:nvPr>
            <p:ph type="sldNum" sz="quarter" idx="4"/>
          </p:nvPr>
        </p:nvSpPr>
        <p:spPr/>
        <p:txBody>
          <a:bodyPr/>
          <a:lstStyle/>
          <a:p>
            <a:fld id="{EF892D59-8F09-EF4B-AD6D-DA609442F868}" type="slidenum">
              <a:rPr lang="en-GB" smtClean="0"/>
              <a:pPr/>
              <a:t>9</a:t>
            </a:fld>
            <a:endParaRPr lang="en-GB" dirty="0"/>
          </a:p>
        </p:txBody>
      </p:sp>
    </p:spTree>
    <p:extLst>
      <p:ext uri="{BB962C8B-B14F-4D97-AF65-F5344CB8AC3E}">
        <p14:creationId xmlns:p14="http://schemas.microsoft.com/office/powerpoint/2010/main" val="594996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014886" y="306723"/>
            <a:ext cx="11517818" cy="805001"/>
          </a:xfrm>
        </p:spPr>
        <p:txBody>
          <a:bodyPr/>
          <a:lstStyle/>
          <a:p>
            <a:pPr eaLnBrk="1" hangingPunct="1"/>
            <a:r>
              <a:rPr lang="en-GB" dirty="0"/>
              <a:t>Sequence and collection tests</a:t>
            </a:r>
          </a:p>
        </p:txBody>
      </p:sp>
      <p:sp>
        <p:nvSpPr>
          <p:cNvPr id="10243" name="Rectangle 3"/>
          <p:cNvSpPr>
            <a:spLocks noGrp="1" noChangeArrowheads="1"/>
          </p:cNvSpPr>
          <p:nvPr>
            <p:ph idx="1"/>
          </p:nvPr>
        </p:nvSpPr>
        <p:spPr>
          <a:xfrm>
            <a:off x="341272" y="1111724"/>
            <a:ext cx="11516239" cy="4955354"/>
          </a:xfrm>
        </p:spPr>
        <p:txBody>
          <a:bodyPr/>
          <a:lstStyle/>
          <a:p>
            <a:r>
              <a:rPr lang="en-GB" b="1" dirty="0"/>
              <a:t>An empty string, tuple, list, dictionary, set returns False:</a:t>
            </a:r>
          </a:p>
          <a:p>
            <a:endParaRPr lang="en-US" dirty="0"/>
          </a:p>
          <a:p>
            <a:endParaRPr lang="en-GB" dirty="0"/>
          </a:p>
          <a:p>
            <a:pPr lvl="2"/>
            <a:endParaRPr lang="en-GB" dirty="0"/>
          </a:p>
          <a:p>
            <a:pPr marL="88900" lvl="2" indent="0">
              <a:buNone/>
            </a:pPr>
            <a:endParaRPr lang="en-GB" dirty="0"/>
          </a:p>
          <a:p>
            <a:r>
              <a:rPr lang="en-GB" b="1" dirty="0">
                <a:latin typeface="Montserrat"/>
              </a:rPr>
              <a:t>Sequences also support built-in </a:t>
            </a:r>
            <a:r>
              <a:rPr lang="en-GB" b="1" dirty="0">
                <a:latin typeface="Montserrat"/>
                <a:cs typeface="Courier New"/>
              </a:rPr>
              <a:t>functions </a:t>
            </a:r>
            <a:r>
              <a:rPr lang="en-GB" b="1" dirty="0">
                <a:latin typeface="Courier New"/>
                <a:cs typeface="Courier New"/>
              </a:rPr>
              <a:t>all()</a:t>
            </a:r>
            <a:r>
              <a:rPr lang="en-GB" b="1" dirty="0">
                <a:latin typeface="Montserrat"/>
              </a:rPr>
              <a:t> and </a:t>
            </a:r>
            <a:r>
              <a:rPr lang="en-GB" b="1" dirty="0">
                <a:latin typeface="Courier New"/>
                <a:cs typeface="Courier New"/>
              </a:rPr>
              <a:t>any():</a:t>
            </a:r>
          </a:p>
          <a:p>
            <a:pPr marL="457200" lvl="1" indent="-228600">
              <a:buSzPct val="114999"/>
              <a:buFont typeface="Arial"/>
              <a:buChar char="•"/>
            </a:pPr>
            <a:r>
              <a:rPr lang="en-GB" sz="1800" b="1" dirty="0">
                <a:latin typeface="Courier New"/>
                <a:cs typeface="Courier New"/>
              </a:rPr>
              <a:t>all()</a:t>
            </a:r>
            <a:r>
              <a:rPr lang="en-GB" sz="1800" dirty="0">
                <a:latin typeface="Montserrat"/>
              </a:rPr>
              <a:t>returns True if all items in the sequence are true.</a:t>
            </a:r>
            <a:endParaRPr lang="en-GB" dirty="0"/>
          </a:p>
          <a:p>
            <a:pPr marL="457200" lvl="1" indent="-228600">
              <a:buSzPct val="114999"/>
              <a:buFont typeface="Arial"/>
              <a:buChar char="•"/>
            </a:pPr>
            <a:r>
              <a:rPr lang="en-GB" sz="1800" b="1" dirty="0">
                <a:latin typeface="Courier New"/>
                <a:cs typeface="Courier New"/>
              </a:rPr>
              <a:t>any()</a:t>
            </a:r>
            <a:r>
              <a:rPr lang="en-GB" sz="1800" dirty="0">
                <a:latin typeface="Montserrat"/>
              </a:rPr>
              <a:t>returns True if </a:t>
            </a:r>
            <a:r>
              <a:rPr lang="en-GB" sz="1800" i="1" dirty="0">
                <a:latin typeface="Montserrat"/>
              </a:rPr>
              <a:t>any</a:t>
            </a:r>
            <a:r>
              <a:rPr lang="en-GB" sz="1800" dirty="0">
                <a:latin typeface="Montserrat"/>
              </a:rPr>
              <a:t> of the items in the sequence are true.</a:t>
            </a:r>
            <a:endParaRPr lang="en-GB" dirty="0"/>
          </a:p>
        </p:txBody>
      </p:sp>
      <p:sp>
        <p:nvSpPr>
          <p:cNvPr id="10244" name="Text Box 4"/>
          <p:cNvSpPr txBox="1">
            <a:spLocks noChangeArrowheads="1"/>
          </p:cNvSpPr>
          <p:nvPr/>
        </p:nvSpPr>
        <p:spPr bwMode="auto">
          <a:xfrm>
            <a:off x="757591" y="1493806"/>
            <a:ext cx="6546850" cy="92551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rPr>
              <a:t>mylist</a:t>
            </a:r>
            <a:r>
              <a:rPr lang="en-US" sz="1800" dirty="0">
                <a:latin typeface="Courier New" panose="02070309020205020404" pitchFamily="49" charset="0"/>
              </a:rPr>
              <a:t> = [0, 1, 2, 3]</a:t>
            </a:r>
          </a:p>
          <a:p>
            <a:pPr>
              <a:spcBef>
                <a:spcPct val="0"/>
              </a:spcBef>
            </a:pPr>
            <a:r>
              <a:rPr lang="en-US" sz="1800" dirty="0">
                <a:latin typeface="Courier New" panose="02070309020205020404" pitchFamily="49" charset="0"/>
              </a:rPr>
              <a:t>if </a:t>
            </a:r>
            <a:r>
              <a:rPr lang="en-US" sz="1800" dirty="0" err="1">
                <a:latin typeface="Courier New" panose="02070309020205020404" pitchFamily="49" charset="0"/>
              </a:rPr>
              <a:t>mylist</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print("</a:t>
            </a:r>
            <a:r>
              <a:rPr lang="en-US" sz="1800" dirty="0" err="1">
                <a:latin typeface="Courier New" panose="02070309020205020404" pitchFamily="49" charset="0"/>
              </a:rPr>
              <a:t>mylist</a:t>
            </a:r>
            <a:r>
              <a:rPr lang="en-US" sz="1800" dirty="0">
                <a:latin typeface="Courier New" panose="02070309020205020404" pitchFamily="49" charset="0"/>
              </a:rPr>
              <a:t> is True")</a:t>
            </a:r>
          </a:p>
        </p:txBody>
      </p:sp>
      <p:sp>
        <p:nvSpPr>
          <p:cNvPr id="10245" name="Text Box 5"/>
          <p:cNvSpPr txBox="1">
            <a:spLocks noChangeArrowheads="1"/>
          </p:cNvSpPr>
          <p:nvPr/>
        </p:nvSpPr>
        <p:spPr bwMode="auto">
          <a:xfrm>
            <a:off x="6035146" y="2093186"/>
            <a:ext cx="3522662"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rPr>
              <a:t>mylist</a:t>
            </a:r>
            <a:r>
              <a:rPr lang="en-US" sz="1800" dirty="0">
                <a:latin typeface="Courier New" panose="02070309020205020404" pitchFamily="49" charset="0"/>
              </a:rPr>
              <a:t> is True</a:t>
            </a:r>
            <a:endParaRPr lang="en-GB" sz="1800" dirty="0">
              <a:latin typeface="Courier New" panose="02070309020205020404" pitchFamily="49" charset="0"/>
            </a:endParaRPr>
          </a:p>
        </p:txBody>
      </p:sp>
      <p:sp>
        <p:nvSpPr>
          <p:cNvPr id="10247" name="Text Box 7"/>
          <p:cNvSpPr txBox="1">
            <a:spLocks noChangeArrowheads="1"/>
          </p:cNvSpPr>
          <p:nvPr/>
        </p:nvSpPr>
        <p:spPr bwMode="auto">
          <a:xfrm>
            <a:off x="757591" y="4161878"/>
            <a:ext cx="6546850" cy="177958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rPr>
              <a:t>mylist</a:t>
            </a:r>
            <a:r>
              <a:rPr lang="en-US" sz="1800" dirty="0">
                <a:latin typeface="Courier New" panose="02070309020205020404" pitchFamily="49" charset="0"/>
              </a:rPr>
              <a:t> = [</a:t>
            </a:r>
            <a:r>
              <a:rPr lang="en-US" sz="1800" b="1" dirty="0">
                <a:latin typeface="Courier New" panose="02070309020205020404" pitchFamily="49" charset="0"/>
              </a:rPr>
              <a:t>0</a:t>
            </a:r>
            <a:r>
              <a:rPr lang="en-US" sz="1800" dirty="0">
                <a:latin typeface="Courier New" panose="02070309020205020404" pitchFamily="49" charset="0"/>
              </a:rPr>
              <a:t>, 1, 2, 3]</a:t>
            </a:r>
          </a:p>
          <a:p>
            <a:pPr>
              <a:spcBef>
                <a:spcPct val="0"/>
              </a:spcBef>
            </a:pPr>
            <a:endParaRPr lang="en-US" dirty="0">
              <a:latin typeface="Courier New" panose="02070309020205020404" pitchFamily="49" charset="0"/>
            </a:endParaRPr>
          </a:p>
          <a:p>
            <a:pPr>
              <a:spcBef>
                <a:spcPct val="0"/>
              </a:spcBef>
            </a:pPr>
            <a:r>
              <a:rPr lang="en-US" sz="1800" dirty="0">
                <a:latin typeface="Courier New" panose="02070309020205020404" pitchFamily="49" charset="0"/>
              </a:rPr>
              <a:t>if not </a:t>
            </a:r>
            <a:r>
              <a:rPr lang="en-US" sz="1800" b="1" dirty="0">
                <a:latin typeface="Courier New" panose="02070309020205020404" pitchFamily="49" charset="0"/>
              </a:rPr>
              <a:t>all</a:t>
            </a:r>
            <a:r>
              <a:rPr lang="en-US" sz="1800" dirty="0">
                <a:latin typeface="Courier New" panose="02070309020205020404" pitchFamily="49" charset="0"/>
              </a:rPr>
              <a:t>(</a:t>
            </a:r>
            <a:r>
              <a:rPr lang="en-US" sz="1800" dirty="0" err="1">
                <a:latin typeface="Courier New" panose="02070309020205020404" pitchFamily="49" charset="0"/>
              </a:rPr>
              <a:t>mylist</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print("</a:t>
            </a:r>
            <a:r>
              <a:rPr lang="en-US" sz="1800" dirty="0" err="1">
                <a:latin typeface="Courier New" panose="02070309020205020404" pitchFamily="49" charset="0"/>
              </a:rPr>
              <a:t>mylist</a:t>
            </a:r>
            <a:r>
              <a:rPr lang="en-US" sz="1800" dirty="0">
                <a:latin typeface="Courier New" panose="02070309020205020404" pitchFamily="49" charset="0"/>
              </a:rPr>
              <a:t>: not all are True")</a:t>
            </a:r>
          </a:p>
          <a:p>
            <a:pPr>
              <a:spcBef>
                <a:spcPct val="0"/>
              </a:spcBef>
            </a:pPr>
            <a:endParaRPr lang="en-US" dirty="0">
              <a:latin typeface="Courier New" panose="02070309020205020404" pitchFamily="49" charset="0"/>
            </a:endParaRPr>
          </a:p>
          <a:p>
            <a:pPr>
              <a:spcBef>
                <a:spcPct val="0"/>
              </a:spcBef>
            </a:pPr>
            <a:r>
              <a:rPr lang="en-US" sz="1800" dirty="0">
                <a:latin typeface="Courier New" panose="02070309020205020404" pitchFamily="49" charset="0"/>
              </a:rPr>
              <a:t>if </a:t>
            </a:r>
            <a:r>
              <a:rPr lang="en-US" sz="1800" b="1" dirty="0">
                <a:latin typeface="Courier New" panose="02070309020205020404" pitchFamily="49" charset="0"/>
              </a:rPr>
              <a:t>any</a:t>
            </a:r>
            <a:r>
              <a:rPr lang="en-US" sz="1800" dirty="0">
                <a:latin typeface="Courier New" panose="02070309020205020404" pitchFamily="49" charset="0"/>
              </a:rPr>
              <a:t>(</a:t>
            </a:r>
            <a:r>
              <a:rPr lang="en-US" sz="1800" dirty="0" err="1">
                <a:latin typeface="Courier New" panose="02070309020205020404" pitchFamily="49" charset="0"/>
              </a:rPr>
              <a:t>mylist</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print("</a:t>
            </a:r>
            <a:r>
              <a:rPr lang="en-US" sz="1800" dirty="0" err="1">
                <a:latin typeface="Courier New" panose="02070309020205020404" pitchFamily="49" charset="0"/>
              </a:rPr>
              <a:t>mylist</a:t>
            </a:r>
            <a:r>
              <a:rPr lang="en-US" sz="1800" dirty="0">
                <a:latin typeface="Courier New" panose="02070309020205020404" pitchFamily="49" charset="0"/>
              </a:rPr>
              <a:t>: at least one item is True")</a:t>
            </a:r>
            <a:endParaRPr lang="en-GB" sz="1800" dirty="0">
              <a:latin typeface="Courier New" panose="02070309020205020404" pitchFamily="49" charset="0"/>
            </a:endParaRPr>
          </a:p>
        </p:txBody>
      </p:sp>
      <p:sp>
        <p:nvSpPr>
          <p:cNvPr id="10246" name="Text Box 6"/>
          <p:cNvSpPr txBox="1">
            <a:spLocks noChangeArrowheads="1"/>
          </p:cNvSpPr>
          <p:nvPr/>
        </p:nvSpPr>
        <p:spPr bwMode="auto">
          <a:xfrm>
            <a:off x="6035147" y="5870909"/>
            <a:ext cx="4908550" cy="6508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rPr>
              <a:t>mylist</a:t>
            </a:r>
            <a:r>
              <a:rPr lang="en-US" sz="1800" dirty="0">
                <a:latin typeface="Courier New" panose="02070309020205020404" pitchFamily="49" charset="0"/>
              </a:rPr>
              <a:t>: not all are True</a:t>
            </a:r>
          </a:p>
          <a:p>
            <a:pPr>
              <a:spcBef>
                <a:spcPct val="0"/>
              </a:spcBef>
            </a:pPr>
            <a:r>
              <a:rPr lang="en-US" sz="1800" dirty="0" err="1">
                <a:latin typeface="Courier New" panose="02070309020205020404" pitchFamily="49" charset="0"/>
              </a:rPr>
              <a:t>mylist</a:t>
            </a:r>
            <a:r>
              <a:rPr lang="en-US" sz="1800" dirty="0">
                <a:latin typeface="Courier New" panose="02070309020205020404" pitchFamily="49" charset="0"/>
              </a:rPr>
              <a:t>: at least one item is True</a:t>
            </a:r>
            <a:endParaRPr lang="en-GB" sz="1800" dirty="0">
              <a:latin typeface="Courier New" panose="02070309020205020404" pitchFamily="49" charset="0"/>
            </a:endParaRPr>
          </a:p>
        </p:txBody>
      </p:sp>
      <p:sp>
        <p:nvSpPr>
          <p:cNvPr id="2" name="Slide Number Placeholder 1">
            <a:extLst>
              <a:ext uri="{FF2B5EF4-FFF2-40B4-BE49-F238E27FC236}">
                <a16:creationId xmlns:a16="http://schemas.microsoft.com/office/drawing/2014/main" id="{D59E5806-3E1C-9A1F-5E95-72B1B2684F93}"/>
              </a:ext>
            </a:extLst>
          </p:cNvPr>
          <p:cNvSpPr>
            <a:spLocks noGrp="1"/>
          </p:cNvSpPr>
          <p:nvPr>
            <p:ph type="sldNum" sz="quarter" idx="4"/>
          </p:nvPr>
        </p:nvSpPr>
        <p:spPr/>
        <p:txBody>
          <a:bodyPr/>
          <a:lstStyle/>
          <a:p>
            <a:fld id="{EF892D59-8F09-EF4B-AD6D-DA609442F868}" type="slidenum">
              <a:rPr lang="en-GB" smtClean="0"/>
              <a:pPr/>
              <a:t>10</a:t>
            </a:fld>
            <a:endParaRPr lang="en-GB" dirty="0"/>
          </a:p>
        </p:txBody>
      </p:sp>
    </p:spTree>
    <p:extLst>
      <p:ext uri="{BB962C8B-B14F-4D97-AF65-F5344CB8AC3E}">
        <p14:creationId xmlns:p14="http://schemas.microsoft.com/office/powerpoint/2010/main" val="1273892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69314" y="333036"/>
            <a:ext cx="11517818" cy="805001"/>
          </a:xfrm>
        </p:spPr>
        <p:txBody>
          <a:bodyPr/>
          <a:lstStyle/>
          <a:p>
            <a:pPr eaLnBrk="1" hangingPunct="1"/>
            <a:r>
              <a:rPr lang="en-GB" dirty="0"/>
              <a:t>Object types</a:t>
            </a:r>
          </a:p>
        </p:txBody>
      </p:sp>
      <p:sp>
        <p:nvSpPr>
          <p:cNvPr id="11267" name="Rectangle 3"/>
          <p:cNvSpPr>
            <a:spLocks noGrp="1" noChangeArrowheads="1"/>
          </p:cNvSpPr>
          <p:nvPr>
            <p:ph type="body" sz="quarter" idx="4294967295"/>
          </p:nvPr>
        </p:nvSpPr>
        <p:spPr>
          <a:xfrm>
            <a:off x="419101" y="1335882"/>
            <a:ext cx="7678524" cy="5214937"/>
          </a:xfrm>
        </p:spPr>
        <p:txBody>
          <a:bodyPr/>
          <a:lstStyle/>
          <a:p>
            <a:r>
              <a:rPr lang="en-GB" b="1" dirty="0"/>
              <a:t>Beware of comparing objects of different types.</a:t>
            </a:r>
          </a:p>
          <a:p>
            <a:pPr marL="457200" lvl="1" indent="-228600">
              <a:buFont typeface="Arial" panose="020B0604020202020204" pitchFamily="34" charset="0"/>
              <a:buChar char="•"/>
            </a:pPr>
            <a:r>
              <a:rPr lang="en-GB" sz="1800" dirty="0"/>
              <a:t>Comparison operators may be overloaded.</a:t>
            </a:r>
          </a:p>
          <a:p>
            <a:pPr marL="457200" lvl="1" indent="-228600">
              <a:buFont typeface="Arial" panose="020B0604020202020204" pitchFamily="34" charset="0"/>
              <a:buChar char="•"/>
            </a:pPr>
            <a:r>
              <a:rPr lang="en-GB" sz="1800" dirty="0"/>
              <a:t>Do not expect automatic conversion.</a:t>
            </a:r>
          </a:p>
        </p:txBody>
      </p:sp>
      <p:grpSp>
        <p:nvGrpSpPr>
          <p:cNvPr id="11268" name="Group 16"/>
          <p:cNvGrpSpPr>
            <a:grpSpLocks/>
          </p:cNvGrpSpPr>
          <p:nvPr/>
        </p:nvGrpSpPr>
        <p:grpSpPr bwMode="auto">
          <a:xfrm>
            <a:off x="886355" y="2497668"/>
            <a:ext cx="7404100" cy="3694113"/>
            <a:chOff x="665" y="1511"/>
            <a:chExt cx="4664" cy="2327"/>
          </a:xfrm>
          <a:effectLst/>
        </p:grpSpPr>
        <p:sp>
          <p:nvSpPr>
            <p:cNvPr id="11271" name="Text Box 5"/>
            <p:cNvSpPr txBox="1">
              <a:spLocks noChangeArrowheads="1"/>
            </p:cNvSpPr>
            <p:nvPr/>
          </p:nvSpPr>
          <p:spPr bwMode="auto">
            <a:xfrm>
              <a:off x="665" y="1511"/>
              <a:ext cx="2190" cy="232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rPr>
                <a:t>num</a:t>
              </a:r>
              <a:r>
                <a:rPr lang="en-US" sz="1800" dirty="0">
                  <a:latin typeface="Courier New" panose="02070309020205020404" pitchFamily="49" charset="0"/>
                </a:rPr>
                <a:t> = 42</a:t>
              </a:r>
            </a:p>
            <a:p>
              <a:r>
                <a:rPr lang="en-US" sz="1800" dirty="0">
                  <a:latin typeface="Courier New" panose="02070309020205020404" pitchFamily="49" charset="0"/>
                </a:rPr>
                <a:t>txt = '3’</a:t>
              </a:r>
            </a:p>
            <a:p>
              <a:endParaRPr lang="en-US" sz="1800" dirty="0">
                <a:latin typeface="Courier New" panose="02070309020205020404" pitchFamily="49" charset="0"/>
              </a:endParaRPr>
            </a:p>
            <a:p>
              <a:pPr>
                <a:spcBef>
                  <a:spcPct val="0"/>
                </a:spcBef>
              </a:pPr>
              <a:r>
                <a:rPr lang="en-US" sz="1800" dirty="0">
                  <a:latin typeface="Courier New" panose="02070309020205020404" pitchFamily="49" charset="0"/>
                </a:rPr>
                <a:t>if txt &lt; </a:t>
              </a:r>
              <a:r>
                <a:rPr lang="en-US" sz="1800" dirty="0" err="1">
                  <a:latin typeface="Courier New" panose="02070309020205020404" pitchFamily="49" charset="0"/>
                </a:rPr>
                <a:t>num</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print('Wow!')</a:t>
              </a:r>
            </a:p>
            <a:p>
              <a:pPr>
                <a:spcBef>
                  <a:spcPct val="0"/>
                </a:spcBef>
              </a:pPr>
              <a:r>
                <a:rPr lang="en-US" sz="1800" dirty="0">
                  <a:latin typeface="Courier New" panose="02070309020205020404" pitchFamily="49" charset="0"/>
                </a:rPr>
                <a:t>else:</a:t>
              </a:r>
            </a:p>
            <a:p>
              <a:pPr>
                <a:spcBef>
                  <a:spcPct val="0"/>
                </a:spcBef>
              </a:pPr>
              <a:r>
                <a:rPr lang="en-US" sz="1800" dirty="0">
                  <a:latin typeface="Courier New" panose="02070309020205020404" pitchFamily="49" charset="0"/>
                </a:rPr>
                <a:t>    print('</a:t>
              </a:r>
              <a:r>
                <a:rPr lang="en-US" sz="1800" dirty="0" err="1">
                  <a:latin typeface="Courier New" panose="02070309020205020404" pitchFamily="49" charset="0"/>
                </a:rPr>
                <a:t>Doh</a:t>
              </a:r>
              <a:r>
                <a:rPr lang="en-US" sz="1800" dirty="0">
                  <a:latin typeface="Courier New" panose="02070309020205020404" pitchFamily="49" charset="0"/>
                </a:rPr>
                <a:t>!')</a:t>
              </a:r>
            </a:p>
            <a:p>
              <a:pPr>
                <a:spcBef>
                  <a:spcPct val="0"/>
                </a:spcBef>
              </a:pPr>
              <a:endParaRPr lang="en-US" sz="1800" dirty="0">
                <a:latin typeface="Courier New" panose="02070309020205020404" pitchFamily="49" charset="0"/>
              </a:endParaRPr>
            </a:p>
            <a:p>
              <a:pPr>
                <a:spcBef>
                  <a:spcPct val="0"/>
                </a:spcBef>
              </a:pPr>
              <a:r>
                <a:rPr lang="en-US" sz="1800" dirty="0">
                  <a:latin typeface="Courier New" panose="02070309020205020404" pitchFamily="49" charset="0"/>
                </a:rPr>
                <a:t>if </a:t>
              </a:r>
              <a:r>
                <a:rPr lang="en-US" sz="1800" b="1" dirty="0" err="1">
                  <a:latin typeface="Courier New" panose="02070309020205020404" pitchFamily="49" charset="0"/>
                </a:rPr>
                <a:t>int</a:t>
              </a:r>
              <a:r>
                <a:rPr lang="en-US" sz="1800" b="1" dirty="0">
                  <a:latin typeface="Courier New" panose="02070309020205020404" pitchFamily="49" charset="0"/>
                </a:rPr>
                <a:t>(</a:t>
              </a:r>
              <a:r>
                <a:rPr lang="en-US" sz="1800" dirty="0">
                  <a:latin typeface="Courier New" panose="02070309020205020404" pitchFamily="49" charset="0"/>
                </a:rPr>
                <a:t>txt</a:t>
              </a:r>
              <a:r>
                <a:rPr lang="en-US" sz="1800" b="1" dirty="0">
                  <a:latin typeface="Courier New" panose="02070309020205020404" pitchFamily="49" charset="0"/>
                </a:rPr>
                <a:t>)</a:t>
              </a:r>
              <a:r>
                <a:rPr lang="en-US" sz="1800" dirty="0">
                  <a:latin typeface="Courier New" panose="02070309020205020404" pitchFamily="49" charset="0"/>
                </a:rPr>
                <a:t> &lt; </a:t>
              </a:r>
              <a:r>
                <a:rPr lang="en-US" sz="1800" dirty="0" err="1">
                  <a:latin typeface="Courier New" panose="02070309020205020404" pitchFamily="49" charset="0"/>
                </a:rPr>
                <a:t>num</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print('Wow!')</a:t>
              </a:r>
            </a:p>
            <a:p>
              <a:pPr>
                <a:spcBef>
                  <a:spcPct val="0"/>
                </a:spcBef>
              </a:pPr>
              <a:r>
                <a:rPr lang="en-US" sz="1800" dirty="0">
                  <a:latin typeface="Courier New" panose="02070309020205020404" pitchFamily="49" charset="0"/>
                </a:rPr>
                <a:t>else:</a:t>
              </a:r>
            </a:p>
            <a:p>
              <a:pPr>
                <a:spcBef>
                  <a:spcPct val="0"/>
                </a:spcBef>
              </a:pPr>
              <a:r>
                <a:rPr lang="en-US" sz="1800" dirty="0">
                  <a:latin typeface="Courier New" panose="02070309020205020404" pitchFamily="49" charset="0"/>
                </a:rPr>
                <a:t>    print('</a:t>
              </a:r>
              <a:r>
                <a:rPr lang="en-US" sz="1800" dirty="0" err="1">
                  <a:latin typeface="Courier New" panose="02070309020205020404" pitchFamily="49" charset="0"/>
                </a:rPr>
                <a:t>Doh</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a:t>
              </a:r>
              <a:endParaRPr lang="en-GB" sz="1800" dirty="0">
                <a:latin typeface="Courier New" panose="02070309020205020404" pitchFamily="49" charset="0"/>
              </a:endParaRPr>
            </a:p>
          </p:txBody>
        </p:sp>
        <p:sp>
          <p:nvSpPr>
            <p:cNvPr id="11272" name="Text Box 10"/>
            <p:cNvSpPr txBox="1">
              <a:spLocks noChangeArrowheads="1"/>
            </p:cNvSpPr>
            <p:nvPr/>
          </p:nvSpPr>
          <p:spPr bwMode="auto">
            <a:xfrm>
              <a:off x="2994" y="1985"/>
              <a:ext cx="2335" cy="41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err="1">
                  <a:latin typeface="Courier New" panose="02070309020205020404" pitchFamily="49" charset="0"/>
                </a:rPr>
                <a:t>TypeError</a:t>
              </a:r>
              <a:r>
                <a:rPr lang="en-GB" sz="1800" dirty="0">
                  <a:latin typeface="Courier New" panose="02070309020205020404" pitchFamily="49" charset="0"/>
                </a:rPr>
                <a:t>: </a:t>
              </a:r>
              <a:r>
                <a:rPr lang="en-GB" sz="1800" dirty="0" err="1">
                  <a:latin typeface="Courier New" panose="02070309020205020404" pitchFamily="49" charset="0"/>
                </a:rPr>
                <a:t>unorderable</a:t>
              </a:r>
              <a:r>
                <a:rPr lang="en-GB" sz="1800" dirty="0">
                  <a:latin typeface="Courier New" panose="02070309020205020404" pitchFamily="49" charset="0"/>
                </a:rPr>
                <a:t> types: </a:t>
              </a:r>
              <a:r>
                <a:rPr lang="en-GB" sz="1800" dirty="0" err="1">
                  <a:latin typeface="Courier New" panose="02070309020205020404" pitchFamily="49" charset="0"/>
                </a:rPr>
                <a:t>str</a:t>
              </a:r>
              <a:r>
                <a:rPr lang="en-GB" sz="1800" dirty="0">
                  <a:latin typeface="Courier New" panose="02070309020205020404" pitchFamily="49" charset="0"/>
                </a:rPr>
                <a:t>() &lt; </a:t>
              </a:r>
              <a:r>
                <a:rPr lang="en-GB" sz="1800" dirty="0" err="1">
                  <a:latin typeface="Courier New" panose="02070309020205020404" pitchFamily="49" charset="0"/>
                </a:rPr>
                <a:t>int</a:t>
              </a:r>
              <a:r>
                <a:rPr lang="en-GB" sz="1800" dirty="0">
                  <a:latin typeface="Courier New" panose="02070309020205020404" pitchFamily="49" charset="0"/>
                </a:rPr>
                <a:t>()</a:t>
              </a:r>
            </a:p>
          </p:txBody>
        </p:sp>
        <p:sp>
          <p:nvSpPr>
            <p:cNvPr id="11273" name="Line 11"/>
            <p:cNvSpPr>
              <a:spLocks noChangeShapeType="1"/>
            </p:cNvSpPr>
            <p:nvPr/>
          </p:nvSpPr>
          <p:spPr bwMode="auto">
            <a:xfrm flipV="1">
              <a:off x="1939" y="2153"/>
              <a:ext cx="1030"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1274" name="Text Box 12"/>
            <p:cNvSpPr txBox="1">
              <a:spLocks noChangeArrowheads="1"/>
            </p:cNvSpPr>
            <p:nvPr/>
          </p:nvSpPr>
          <p:spPr bwMode="auto">
            <a:xfrm>
              <a:off x="2994" y="3084"/>
              <a:ext cx="470" cy="23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Wow!</a:t>
              </a:r>
            </a:p>
          </p:txBody>
        </p:sp>
        <p:sp>
          <p:nvSpPr>
            <p:cNvPr id="11275" name="Line 13"/>
            <p:cNvSpPr>
              <a:spLocks noChangeShapeType="1"/>
            </p:cNvSpPr>
            <p:nvPr/>
          </p:nvSpPr>
          <p:spPr bwMode="auto">
            <a:xfrm>
              <a:off x="2304" y="3189"/>
              <a:ext cx="665"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grpSp>
      <p:sp>
        <p:nvSpPr>
          <p:cNvPr id="11270" name="Text Box 17"/>
          <p:cNvSpPr txBox="1">
            <a:spLocks noChangeArrowheads="1"/>
          </p:cNvSpPr>
          <p:nvPr/>
        </p:nvSpPr>
        <p:spPr bwMode="auto">
          <a:xfrm>
            <a:off x="8297686" y="3120496"/>
            <a:ext cx="2733500" cy="12003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lgn="ctr"/>
            <a:r>
              <a:rPr lang="en-GB" sz="1800" dirty="0">
                <a:latin typeface="+mn-lt"/>
              </a:rPr>
              <a:t>Before Python 3 this was not an error, we just got the wrong answer!</a:t>
            </a:r>
          </a:p>
        </p:txBody>
      </p:sp>
      <p:sp>
        <p:nvSpPr>
          <p:cNvPr id="2" name="Slide Number Placeholder 1">
            <a:extLst>
              <a:ext uri="{FF2B5EF4-FFF2-40B4-BE49-F238E27FC236}">
                <a16:creationId xmlns:a16="http://schemas.microsoft.com/office/drawing/2014/main" id="{8EFE4251-9B46-B63E-D8E9-55C4AF8B7AFC}"/>
              </a:ext>
            </a:extLst>
          </p:cNvPr>
          <p:cNvSpPr>
            <a:spLocks noGrp="1"/>
          </p:cNvSpPr>
          <p:nvPr>
            <p:ph type="sldNum" sz="quarter" idx="4"/>
          </p:nvPr>
        </p:nvSpPr>
        <p:spPr/>
        <p:txBody>
          <a:bodyPr/>
          <a:lstStyle/>
          <a:p>
            <a:fld id="{EF892D59-8F09-EF4B-AD6D-DA609442F868}" type="slidenum">
              <a:rPr lang="en-GB" smtClean="0"/>
              <a:pPr/>
              <a:t>11</a:t>
            </a:fld>
            <a:endParaRPr lang="en-GB" dirty="0"/>
          </a:p>
        </p:txBody>
      </p:sp>
    </p:spTree>
    <p:extLst>
      <p:ext uri="{BB962C8B-B14F-4D97-AF65-F5344CB8AC3E}">
        <p14:creationId xmlns:p14="http://schemas.microsoft.com/office/powerpoint/2010/main" val="147959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sz="quarter" idx="11"/>
          </p:nvPr>
        </p:nvSpPr>
        <p:spPr>
          <a:xfrm>
            <a:off x="373063" y="1271747"/>
            <a:ext cx="6143484" cy="4997211"/>
          </a:xfrm>
        </p:spPr>
        <p:txBody>
          <a:bodyPr anchor="t">
            <a:normAutofit lnSpcReduction="10000"/>
          </a:bodyPr>
          <a:lstStyle/>
          <a:p>
            <a:r>
              <a:rPr lang="en-GB" sz="1800" b="1" dirty="0">
                <a:latin typeface="+mn-lt"/>
              </a:rPr>
              <a:t>An exception is Python's way of telling you something</a:t>
            </a:r>
            <a:endParaRPr lang="en-US" sz="1800" dirty="0">
              <a:latin typeface="+mn-lt"/>
            </a:endParaRPr>
          </a:p>
          <a:p>
            <a:pPr marL="457200" lvl="1" indent="-228600">
              <a:buSzPct val="114999"/>
              <a:buFont typeface="Arial"/>
              <a:buChar char="•"/>
            </a:pPr>
            <a:r>
              <a:rPr lang="en-GB" sz="1800" dirty="0">
                <a:latin typeface="+mn-lt"/>
              </a:rPr>
              <a:t>Unless handled, it will halt the program.</a:t>
            </a:r>
          </a:p>
          <a:p>
            <a:pPr lvl="1">
              <a:buFontTx/>
              <a:buChar char="•"/>
            </a:pPr>
            <a:endParaRPr lang="en-GB" sz="1800" dirty="0">
              <a:latin typeface="+mn-lt"/>
            </a:endParaRPr>
          </a:p>
          <a:p>
            <a:r>
              <a:rPr lang="en-GB" sz="1800" b="1" dirty="0">
                <a:latin typeface="+mn-lt"/>
              </a:rPr>
              <a:t>Many Python built-in functions can raise an exception </a:t>
            </a:r>
            <a:endParaRPr lang="en-GB" sz="1800" dirty="0">
              <a:latin typeface="+mn-lt"/>
            </a:endParaRPr>
          </a:p>
          <a:p>
            <a:pPr marL="457200" lvl="1" indent="-228600">
              <a:buSzPct val="114999"/>
              <a:buFont typeface="Arial"/>
              <a:buChar char="•"/>
            </a:pPr>
            <a:r>
              <a:rPr lang="en-GB" sz="1800" dirty="0">
                <a:latin typeface="+mn-lt"/>
              </a:rPr>
              <a:t>When they wish to indicate some condition.</a:t>
            </a:r>
          </a:p>
          <a:p>
            <a:pPr lvl="1">
              <a:buFontTx/>
              <a:buChar char="•"/>
            </a:pPr>
            <a:endParaRPr lang="en-GB" sz="1800" dirty="0">
              <a:latin typeface="+mn-lt"/>
            </a:endParaRPr>
          </a:p>
          <a:p>
            <a:r>
              <a:rPr lang="en-GB" sz="1800" b="1" dirty="0">
                <a:latin typeface="+mn-lt"/>
              </a:rPr>
              <a:t>Exceptions do not necessarily indicate failure</a:t>
            </a:r>
            <a:endParaRPr lang="en-GB" sz="1800" dirty="0">
              <a:latin typeface="+mn-lt"/>
            </a:endParaRPr>
          </a:p>
          <a:p>
            <a:pPr marL="457200" lvl="1" indent="-228600">
              <a:buSzPct val="114999"/>
              <a:buFont typeface="Arial"/>
              <a:buChar char="•"/>
            </a:pPr>
            <a:r>
              <a:rPr lang="en-GB" sz="1800" dirty="0">
                <a:latin typeface="+mn-lt"/>
              </a:rPr>
              <a:t>For example: </a:t>
            </a:r>
          </a:p>
          <a:p>
            <a:pPr marL="685800" lvl="5" indent="-171450"/>
            <a:r>
              <a:rPr lang="en-GB" dirty="0"/>
              <a:t>Search for something which does not exist .</a:t>
            </a:r>
          </a:p>
          <a:p>
            <a:pPr marL="685800" lvl="5" indent="-171450"/>
            <a:r>
              <a:rPr lang="en-GB" dirty="0"/>
              <a:t>Unable to open a file.</a:t>
            </a:r>
          </a:p>
          <a:p>
            <a:pPr lvl="2"/>
            <a:endParaRPr lang="en-GB" dirty="0">
              <a:latin typeface="+mn-lt"/>
            </a:endParaRPr>
          </a:p>
          <a:p>
            <a:r>
              <a:rPr lang="en-GB" sz="1800" b="1" dirty="0">
                <a:latin typeface="+mn-lt"/>
              </a:rPr>
              <a:t>At this point in the course, we will just live with them.</a:t>
            </a:r>
          </a:p>
          <a:p>
            <a:r>
              <a:rPr lang="en-GB" sz="1800" b="1" dirty="0">
                <a:latin typeface="+mn-lt"/>
              </a:rPr>
              <a:t>Later, we will discuss how to handle exceptions</a:t>
            </a:r>
          </a:p>
        </p:txBody>
      </p:sp>
      <p:sp>
        <p:nvSpPr>
          <p:cNvPr id="12290" name="Rectangle 2"/>
          <p:cNvSpPr>
            <a:spLocks noGrp="1" noChangeArrowheads="1"/>
          </p:cNvSpPr>
          <p:nvPr>
            <p:ph type="body" sz="quarter" idx="12"/>
          </p:nvPr>
        </p:nvSpPr>
        <p:spPr>
          <a:xfrm>
            <a:off x="1019314" y="380057"/>
            <a:ext cx="6143484" cy="633253"/>
          </a:xfrm>
        </p:spPr>
        <p:txBody>
          <a:bodyPr anchor="t">
            <a:normAutofit/>
          </a:bodyPr>
          <a:lstStyle/>
          <a:p>
            <a:pPr eaLnBrk="1" hangingPunct="1">
              <a:spcAft>
                <a:spcPts val="600"/>
              </a:spcAft>
            </a:pPr>
            <a:r>
              <a:rPr lang="en-GB" sz="2800" dirty="0"/>
              <a:t>A note on exception handling…</a:t>
            </a:r>
          </a:p>
        </p:txBody>
      </p:sp>
      <p:sp>
        <p:nvSpPr>
          <p:cNvPr id="12296" name="Slide Number Placeholder 4">
            <a:extLst>
              <a:ext uri="{FF2B5EF4-FFF2-40B4-BE49-F238E27FC236}">
                <a16:creationId xmlns:a16="http://schemas.microsoft.com/office/drawing/2014/main" id="{8D00E002-0D4A-C9BD-213E-38CE6E621DD3}"/>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12</a:t>
            </a:fld>
            <a:endParaRPr lang="en-GB"/>
          </a:p>
        </p:txBody>
      </p:sp>
      <p:pic>
        <p:nvPicPr>
          <p:cNvPr id="5" name="Picture 4">
            <a:extLst>
              <a:ext uri="{FF2B5EF4-FFF2-40B4-BE49-F238E27FC236}">
                <a16:creationId xmlns:a16="http://schemas.microsoft.com/office/drawing/2014/main" id="{CF955CDD-D99A-3156-91B2-C3C89958C2B1}"/>
              </a:ext>
            </a:extLst>
          </p:cNvPr>
          <p:cNvPicPr>
            <a:picLocks noChangeAspect="1"/>
          </p:cNvPicPr>
          <p:nvPr/>
        </p:nvPicPr>
        <p:blipFill>
          <a:blip r:embed="rId3"/>
          <a:stretch>
            <a:fillRect/>
          </a:stretch>
        </p:blipFill>
        <p:spPr>
          <a:xfrm>
            <a:off x="7583425" y="0"/>
            <a:ext cx="4608575" cy="6858000"/>
          </a:xfrm>
          <a:prstGeom prst="rect">
            <a:avLst/>
          </a:prstGeom>
        </p:spPr>
      </p:pic>
    </p:spTree>
    <p:extLst>
      <p:ext uri="{BB962C8B-B14F-4D97-AF65-F5344CB8AC3E}">
        <p14:creationId xmlns:p14="http://schemas.microsoft.com/office/powerpoint/2010/main" val="2012510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93114" y="330554"/>
            <a:ext cx="11517818" cy="805001"/>
          </a:xfrm>
        </p:spPr>
        <p:txBody>
          <a:bodyPr/>
          <a:lstStyle/>
          <a:p>
            <a:pPr eaLnBrk="1" hangingPunct="1"/>
            <a:r>
              <a:rPr lang="en-GB" dirty="0"/>
              <a:t>While loops</a:t>
            </a:r>
          </a:p>
        </p:txBody>
      </p:sp>
      <p:sp>
        <p:nvSpPr>
          <p:cNvPr id="13315" name="Rectangle 3"/>
          <p:cNvSpPr>
            <a:spLocks noGrp="1" noChangeArrowheads="1"/>
          </p:cNvSpPr>
          <p:nvPr>
            <p:ph idx="1"/>
          </p:nvPr>
        </p:nvSpPr>
        <p:spPr/>
        <p:txBody>
          <a:bodyPr/>
          <a:lstStyle/>
          <a:p>
            <a:r>
              <a:rPr lang="en-GB" b="1" dirty="0"/>
              <a:t>Loop while a condition is true</a:t>
            </a:r>
          </a:p>
          <a:p>
            <a:pPr marL="457200" lvl="1" indent="-228600">
              <a:buFont typeface="Arial" panose="020B0604020202020204" pitchFamily="34" charset="0"/>
              <a:buChar char="•"/>
            </a:pPr>
            <a:r>
              <a:rPr lang="en-GB" sz="1800" dirty="0"/>
              <a:t>Python only supports entry condition loops.</a:t>
            </a:r>
          </a:p>
          <a:p>
            <a:pPr marL="457200" lvl="1" indent="-228600">
              <a:buFont typeface="Arial" panose="020B0604020202020204" pitchFamily="34" charset="0"/>
              <a:buChar char="•"/>
            </a:pPr>
            <a:r>
              <a:rPr lang="en-GB" sz="1800" dirty="0">
                <a:latin typeface="Montserrat"/>
              </a:rPr>
              <a:t>There is no </a:t>
            </a:r>
            <a:r>
              <a:rPr lang="en-GB" sz="1800" b="0" i="1" dirty="0">
                <a:latin typeface="Montserrat"/>
              </a:rPr>
              <a:t>do...while</a:t>
            </a:r>
            <a:r>
              <a:rPr lang="en-GB" sz="1800" dirty="0">
                <a:latin typeface="Montserrat"/>
              </a:rPr>
              <a:t> loop.</a:t>
            </a:r>
            <a:endParaRPr lang="en-GB" sz="1800" b="1" dirty="0">
              <a:latin typeface="Montserrat"/>
            </a:endParaRPr>
          </a:p>
          <a:p>
            <a:pPr marL="457200" lvl="1" indent="-228600">
              <a:buFont typeface="Arial" panose="020B0604020202020204" pitchFamily="34" charset="0"/>
              <a:buChar char="•"/>
            </a:pPr>
            <a:r>
              <a:rPr lang="en-GB" sz="1800" dirty="0">
                <a:latin typeface="Montserrat"/>
              </a:rPr>
              <a:t>Membership is by indentation.</a:t>
            </a:r>
          </a:p>
        </p:txBody>
      </p:sp>
      <p:sp>
        <p:nvSpPr>
          <p:cNvPr id="13316" name="Text Box 4"/>
          <p:cNvSpPr txBox="1">
            <a:spLocks noChangeArrowheads="1"/>
          </p:cNvSpPr>
          <p:nvPr/>
        </p:nvSpPr>
        <p:spPr bwMode="auto">
          <a:xfrm>
            <a:off x="718595" y="2928689"/>
            <a:ext cx="3311275"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2000" b="1" dirty="0">
                <a:latin typeface="Courier New" panose="02070309020205020404" pitchFamily="49" charset="0"/>
              </a:rPr>
              <a:t>while </a:t>
            </a:r>
            <a:r>
              <a:rPr lang="en-GB" sz="2000" i="1" dirty="0"/>
              <a:t>condition</a:t>
            </a:r>
            <a:r>
              <a:rPr lang="en-GB" sz="2000" dirty="0">
                <a:latin typeface="Courier New" panose="02070309020205020404" pitchFamily="49" charset="0"/>
              </a:rPr>
              <a:t>:</a:t>
            </a:r>
          </a:p>
          <a:p>
            <a:pPr>
              <a:spcBef>
                <a:spcPct val="0"/>
              </a:spcBef>
            </a:pPr>
            <a:r>
              <a:rPr lang="en-GB" sz="2000" dirty="0">
                <a:latin typeface="Courier New" panose="02070309020205020404" pitchFamily="49" charset="0"/>
              </a:rPr>
              <a:t>    </a:t>
            </a:r>
            <a:r>
              <a:rPr lang="en-GB" sz="2000" i="1" dirty="0"/>
              <a:t>loop body</a:t>
            </a:r>
          </a:p>
        </p:txBody>
      </p:sp>
      <p:sp>
        <p:nvSpPr>
          <p:cNvPr id="13317" name="Text Box 5"/>
          <p:cNvSpPr txBox="1">
            <a:spLocks noChangeArrowheads="1"/>
          </p:cNvSpPr>
          <p:nvPr/>
        </p:nvSpPr>
        <p:spPr bwMode="auto">
          <a:xfrm>
            <a:off x="821264" y="3686403"/>
            <a:ext cx="6600825" cy="1323439"/>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line = None</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while line != 'done':</a:t>
            </a:r>
          </a:p>
          <a:p>
            <a:pPr>
              <a:spcBef>
                <a:spcPct val="0"/>
              </a:spcBef>
            </a:pPr>
            <a:r>
              <a:rPr lang="en-GB" sz="1800" dirty="0">
                <a:latin typeface="Courier New" panose="02070309020205020404" pitchFamily="49" charset="0"/>
              </a:rPr>
              <a:t>    line = input('Type "done" to complete: ')</a:t>
            </a:r>
          </a:p>
          <a:p>
            <a:pPr>
              <a:spcBef>
                <a:spcPct val="0"/>
              </a:spcBef>
            </a:pPr>
            <a:r>
              <a:rPr lang="en-GB" sz="1800" dirty="0">
                <a:latin typeface="Courier New" panose="02070309020205020404" pitchFamily="49" charset="0"/>
              </a:rPr>
              <a:t>    print('&lt;', line, '&gt;')</a:t>
            </a:r>
          </a:p>
        </p:txBody>
      </p:sp>
      <p:sp>
        <p:nvSpPr>
          <p:cNvPr id="6" name="Text Box 5"/>
          <p:cNvSpPr txBox="1">
            <a:spLocks noChangeArrowheads="1"/>
          </p:cNvSpPr>
          <p:nvPr/>
        </p:nvSpPr>
        <p:spPr bwMode="auto">
          <a:xfrm>
            <a:off x="821265" y="5249502"/>
            <a:ext cx="6600825" cy="104644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myl</a:t>
            </a:r>
            <a:r>
              <a:rPr lang="en-GB" sz="1800" dirty="0">
                <a:latin typeface="Courier New" panose="02070309020205020404" pitchFamily="49" charset="0"/>
              </a:rPr>
              <a:t> = [23, 67, 32, 9, 77]</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while </a:t>
            </a:r>
            <a:r>
              <a:rPr lang="en-GB" sz="1800" dirty="0" err="1">
                <a:latin typeface="Courier New" panose="02070309020205020404" pitchFamily="49" charset="0"/>
              </a:rPr>
              <a:t>myl</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myl.pop</a:t>
            </a:r>
            <a:r>
              <a:rPr lang="en-GB" sz="1800" dirty="0">
                <a:latin typeface="Courier New" panose="02070309020205020404" pitchFamily="49" charset="0"/>
              </a:rPr>
              <a:t>() * 2)</a:t>
            </a:r>
          </a:p>
        </p:txBody>
      </p:sp>
      <p:sp>
        <p:nvSpPr>
          <p:cNvPr id="2" name="TextBox 1"/>
          <p:cNvSpPr txBox="1"/>
          <p:nvPr/>
        </p:nvSpPr>
        <p:spPr>
          <a:xfrm>
            <a:off x="7563226" y="5450228"/>
            <a:ext cx="1902155" cy="1077218"/>
          </a:xfrm>
          <a:prstGeom prst="rect">
            <a:avLst/>
          </a:prstGeom>
          <a:solidFill>
            <a:schemeClr val="bg1"/>
          </a:solidFill>
        </p:spPr>
        <p:txBody>
          <a:bodyPr wrap="square" lIns="91440" tIns="45720" rIns="91440" bIns="45720" rtlCol="0" anchor="t">
            <a:spAutoFit/>
          </a:bodyPr>
          <a:lstStyle/>
          <a:p>
            <a:r>
              <a:rPr lang="en-GB" sz="1600" dirty="0">
                <a:latin typeface="Courier New"/>
                <a:cs typeface="Courier New"/>
              </a:rPr>
              <a:t>pop()</a:t>
            </a:r>
            <a:r>
              <a:rPr lang="en-GB" sz="1600" dirty="0">
                <a:cs typeface="Courier New"/>
              </a:rPr>
              <a:t> on a list </a:t>
            </a:r>
            <a:endParaRPr lang="en-US" dirty="0">
              <a:cs typeface="Courier New"/>
            </a:endParaRPr>
          </a:p>
          <a:p>
            <a:r>
              <a:rPr lang="en-GB" sz="1600" dirty="0">
                <a:cs typeface="Courier New"/>
              </a:rPr>
              <a:t>removes and </a:t>
            </a:r>
            <a:endParaRPr lang="en-GB" dirty="0">
              <a:cs typeface="Courier New"/>
            </a:endParaRPr>
          </a:p>
          <a:p>
            <a:r>
              <a:rPr lang="en-GB" sz="1600" dirty="0">
                <a:cs typeface="Courier New"/>
              </a:rPr>
              <a:t>returns the last</a:t>
            </a:r>
            <a:endParaRPr lang="en-GB" dirty="0">
              <a:cs typeface="Courier New"/>
            </a:endParaRPr>
          </a:p>
          <a:p>
            <a:r>
              <a:rPr lang="en-GB" sz="1600" dirty="0">
                <a:cs typeface="Courier New"/>
              </a:rPr>
              <a:t>item</a:t>
            </a:r>
            <a:endParaRPr lang="en-GB" dirty="0">
              <a:cs typeface="Courier New"/>
            </a:endParaRPr>
          </a:p>
        </p:txBody>
      </p:sp>
      <p:sp>
        <p:nvSpPr>
          <p:cNvPr id="3" name="TextBox 2"/>
          <p:cNvSpPr txBox="1"/>
          <p:nvPr/>
        </p:nvSpPr>
        <p:spPr>
          <a:xfrm>
            <a:off x="6999131" y="5452256"/>
            <a:ext cx="554960" cy="1323439"/>
          </a:xfrm>
          <a:prstGeom prst="rect">
            <a:avLst/>
          </a:prstGeom>
          <a:solidFill>
            <a:schemeClr val="accent2"/>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GB" sz="1600" dirty="0">
                <a:latin typeface="Courier New" panose="02070309020205020404" pitchFamily="49" charset="0"/>
                <a:cs typeface="Courier New" panose="02070309020205020404" pitchFamily="49" charset="0"/>
              </a:rPr>
              <a:t>154</a:t>
            </a:r>
          </a:p>
          <a:p>
            <a:r>
              <a:rPr lang="en-GB" sz="1600" dirty="0">
                <a:latin typeface="Courier New" panose="02070309020205020404" pitchFamily="49" charset="0"/>
                <a:cs typeface="Courier New" panose="02070309020205020404" pitchFamily="49" charset="0"/>
              </a:rPr>
              <a:t>18</a:t>
            </a:r>
          </a:p>
          <a:p>
            <a:r>
              <a:rPr lang="en-GB" sz="1600" dirty="0">
                <a:latin typeface="Courier New" panose="02070309020205020404" pitchFamily="49" charset="0"/>
                <a:cs typeface="Courier New" panose="02070309020205020404" pitchFamily="49" charset="0"/>
              </a:rPr>
              <a:t>64</a:t>
            </a:r>
          </a:p>
          <a:p>
            <a:r>
              <a:rPr lang="en-GB" sz="1600" dirty="0">
                <a:latin typeface="Courier New" panose="02070309020205020404" pitchFamily="49" charset="0"/>
                <a:cs typeface="Courier New" panose="02070309020205020404" pitchFamily="49" charset="0"/>
              </a:rPr>
              <a:t>134</a:t>
            </a:r>
          </a:p>
          <a:p>
            <a:r>
              <a:rPr lang="en-GB" sz="1600" dirty="0">
                <a:latin typeface="Courier New" panose="02070309020205020404" pitchFamily="49" charset="0"/>
                <a:cs typeface="Courier New" panose="02070309020205020404" pitchFamily="49" charset="0"/>
              </a:rPr>
              <a:t>46</a:t>
            </a:r>
          </a:p>
        </p:txBody>
      </p:sp>
      <p:sp>
        <p:nvSpPr>
          <p:cNvPr id="4" name="Text Box 5">
            <a:extLst>
              <a:ext uri="{FF2B5EF4-FFF2-40B4-BE49-F238E27FC236}">
                <a16:creationId xmlns:a16="http://schemas.microsoft.com/office/drawing/2014/main" id="{1B93E03F-B0C9-1992-A51F-259300C8EED9}"/>
              </a:ext>
            </a:extLst>
          </p:cNvPr>
          <p:cNvSpPr txBox="1">
            <a:spLocks noChangeArrowheads="1"/>
          </p:cNvSpPr>
          <p:nvPr/>
        </p:nvSpPr>
        <p:spPr bwMode="auto">
          <a:xfrm>
            <a:off x="6491738" y="1569813"/>
            <a:ext cx="2142977" cy="1477328"/>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i</a:t>
            </a:r>
            <a:r>
              <a:rPr lang="en-GB" sz="1800" dirty="0">
                <a:latin typeface="Courier New" panose="02070309020205020404" pitchFamily="49" charset="0"/>
              </a:rPr>
              <a:t> = 0</a:t>
            </a: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while </a:t>
            </a:r>
            <a:r>
              <a:rPr lang="en-GB" sz="1800" dirty="0" err="1">
                <a:latin typeface="Courier New" panose="02070309020205020404" pitchFamily="49" charset="0"/>
              </a:rPr>
              <a:t>i</a:t>
            </a:r>
            <a:r>
              <a:rPr lang="en-GB" sz="1800" dirty="0">
                <a:latin typeface="Courier New" panose="02070309020205020404" pitchFamily="49" charset="0"/>
              </a:rPr>
              <a:t> &lt; 10:</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i</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i</a:t>
            </a:r>
            <a:r>
              <a:rPr lang="en-GB" sz="1800" dirty="0">
                <a:latin typeface="Courier New" panose="02070309020205020404" pitchFamily="49" charset="0"/>
              </a:rPr>
              <a:t> += 1</a:t>
            </a:r>
          </a:p>
        </p:txBody>
      </p:sp>
      <p:sp>
        <p:nvSpPr>
          <p:cNvPr id="5" name="Slide Number Placeholder 4">
            <a:extLst>
              <a:ext uri="{FF2B5EF4-FFF2-40B4-BE49-F238E27FC236}">
                <a16:creationId xmlns:a16="http://schemas.microsoft.com/office/drawing/2014/main" id="{5E036861-C05D-5645-69DC-BBD0E333248C}"/>
              </a:ext>
            </a:extLst>
          </p:cNvPr>
          <p:cNvSpPr>
            <a:spLocks noGrp="1"/>
          </p:cNvSpPr>
          <p:nvPr>
            <p:ph type="sldNum" sz="quarter" idx="4"/>
          </p:nvPr>
        </p:nvSpPr>
        <p:spPr/>
        <p:txBody>
          <a:bodyPr/>
          <a:lstStyle/>
          <a:p>
            <a:fld id="{EF892D59-8F09-EF4B-AD6D-DA609442F868}" type="slidenum">
              <a:rPr lang="en-GB" smtClean="0"/>
              <a:pPr/>
              <a:t>13</a:t>
            </a:fld>
            <a:endParaRPr lang="en-GB" dirty="0"/>
          </a:p>
        </p:txBody>
      </p:sp>
    </p:spTree>
    <p:extLst>
      <p:ext uri="{BB962C8B-B14F-4D97-AF65-F5344CB8AC3E}">
        <p14:creationId xmlns:p14="http://schemas.microsoft.com/office/powerpoint/2010/main" val="2907485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93114" y="355845"/>
            <a:ext cx="11517818" cy="805001"/>
          </a:xfrm>
        </p:spPr>
        <p:txBody>
          <a:bodyPr/>
          <a:lstStyle/>
          <a:p>
            <a:pPr eaLnBrk="1" hangingPunct="1"/>
            <a:r>
              <a:rPr lang="en-GB" dirty="0"/>
              <a:t>Loop control statements</a:t>
            </a:r>
          </a:p>
        </p:txBody>
      </p:sp>
      <p:sp>
        <p:nvSpPr>
          <p:cNvPr id="14339" name="Rectangle 3"/>
          <p:cNvSpPr>
            <a:spLocks noGrp="1" noChangeArrowheads="1"/>
          </p:cNvSpPr>
          <p:nvPr>
            <p:ph idx="1"/>
          </p:nvPr>
        </p:nvSpPr>
        <p:spPr>
          <a:xfrm>
            <a:off x="341272" y="1235238"/>
            <a:ext cx="11516239" cy="4955354"/>
          </a:xfrm>
        </p:spPr>
        <p:txBody>
          <a:bodyPr/>
          <a:lstStyle/>
          <a:p>
            <a:r>
              <a:rPr lang="en-GB" b="1" dirty="0">
                <a:latin typeface="Montserrat"/>
              </a:rPr>
              <a:t>Loop control statements</a:t>
            </a:r>
            <a:endParaRPr lang="en-GB" sz="1800" dirty="0"/>
          </a:p>
          <a:p>
            <a:pPr marL="457200" lvl="1" indent="-228600">
              <a:buSzPct val="114999"/>
              <a:buFont typeface="Arial"/>
              <a:buChar char="•"/>
            </a:pPr>
            <a:r>
              <a:rPr lang="en-GB" sz="1800" dirty="0">
                <a:latin typeface="Courier New"/>
                <a:cs typeface="Courier New"/>
              </a:rPr>
              <a:t>continue</a:t>
            </a:r>
            <a:r>
              <a:rPr lang="en-GB" sz="1800" dirty="0">
                <a:latin typeface="Montserrat"/>
              </a:rPr>
              <a:t>		perform next iteration</a:t>
            </a:r>
            <a:endParaRPr lang="en-GB" sz="1800" dirty="0"/>
          </a:p>
          <a:p>
            <a:pPr marL="457200" lvl="1" indent="-228600">
              <a:buSzPct val="114999"/>
              <a:buFont typeface="Arial"/>
              <a:buChar char="•"/>
            </a:pPr>
            <a:r>
              <a:rPr lang="en-GB" sz="1600" dirty="0">
                <a:latin typeface="Courier New"/>
                <a:cs typeface="Courier New"/>
              </a:rPr>
              <a:t>break</a:t>
            </a:r>
            <a:r>
              <a:rPr lang="en-GB" sz="1600" dirty="0">
                <a:latin typeface="Montserrat"/>
              </a:rPr>
              <a:t>	  </a:t>
            </a:r>
            <a:r>
              <a:rPr lang="en-GB" sz="1800" dirty="0">
                <a:latin typeface="Montserrat"/>
              </a:rPr>
              <a:t>	exit the loop at once</a:t>
            </a:r>
            <a:endParaRPr lang="en-GB" sz="1800" dirty="0"/>
          </a:p>
          <a:p>
            <a:pPr marL="457200" lvl="1" indent="-228600">
              <a:buFont typeface="Arial"/>
              <a:buChar char="•"/>
            </a:pPr>
            <a:r>
              <a:rPr lang="en-GB" sz="1800" dirty="0">
                <a:latin typeface="Courier New"/>
                <a:cs typeface="Courier New"/>
              </a:rPr>
              <a:t>pass 		</a:t>
            </a:r>
            <a:r>
              <a:rPr lang="en-GB" sz="1800" dirty="0">
                <a:latin typeface="Montserrat"/>
                <a:cs typeface="Courier New"/>
              </a:rPr>
              <a:t>empty placeholder (do nothing)</a:t>
            </a:r>
            <a:endParaRPr lang="en-GB" sz="1800" dirty="0">
              <a:latin typeface="Montserrat"/>
            </a:endParaRPr>
          </a:p>
          <a:p>
            <a:pPr>
              <a:buSzPct val="114999"/>
            </a:pPr>
            <a:r>
              <a:rPr lang="en-GB" b="1" dirty="0">
                <a:latin typeface="Montserrat"/>
              </a:rPr>
              <a:t>The else: clause</a:t>
            </a:r>
            <a:endParaRPr lang="en-GB" b="1" dirty="0"/>
          </a:p>
          <a:p>
            <a:pPr marL="457200" lvl="1" indent="-228600">
              <a:buSzPct val="114999"/>
              <a:buFont typeface="Arial"/>
              <a:buChar char="•"/>
            </a:pPr>
            <a:r>
              <a:rPr lang="en-GB" sz="1800" dirty="0">
                <a:latin typeface="Montserrat"/>
              </a:rPr>
              <a:t>Indicates code to be executed when the while condition is false, or when the for list expires...</a:t>
            </a:r>
            <a:endParaRPr lang="en-GB" b="1" dirty="0"/>
          </a:p>
          <a:p>
            <a:pPr marL="804863" lvl="1" indent="-228600">
              <a:buSzPct val="114999"/>
              <a:buFont typeface="Arial"/>
              <a:buChar char="•"/>
            </a:pPr>
            <a:r>
              <a:rPr lang="en-GB" sz="1800" dirty="0">
                <a:latin typeface="Montserrat"/>
              </a:rPr>
              <a:t>Including when the loop condition is false on entry.</a:t>
            </a:r>
            <a:endParaRPr lang="en-GB" b="1" dirty="0"/>
          </a:p>
        </p:txBody>
      </p:sp>
      <p:sp>
        <p:nvSpPr>
          <p:cNvPr id="14340" name="Text Box 4"/>
          <p:cNvSpPr txBox="1">
            <a:spLocks noChangeArrowheads="1"/>
          </p:cNvSpPr>
          <p:nvPr/>
        </p:nvSpPr>
        <p:spPr bwMode="auto">
          <a:xfrm>
            <a:off x="784836" y="4023485"/>
            <a:ext cx="4521200" cy="243143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i</a:t>
            </a:r>
            <a:r>
              <a:rPr lang="en-GB" sz="1800" dirty="0">
                <a:latin typeface="Courier New" panose="02070309020205020404" pitchFamily="49" charset="0"/>
              </a:rPr>
              <a:t> = 1 </a:t>
            </a:r>
          </a:p>
          <a:p>
            <a:pPr>
              <a:spcBef>
                <a:spcPct val="0"/>
              </a:spcBef>
            </a:pPr>
            <a:r>
              <a:rPr lang="en-GB" sz="1800" dirty="0">
                <a:latin typeface="Courier New" panose="02070309020205020404" pitchFamily="49" charset="0"/>
              </a:rPr>
              <a:t>j = 120</a:t>
            </a:r>
          </a:p>
          <a:p>
            <a:pPr>
              <a:spcBef>
                <a:spcPct val="0"/>
              </a:spcBef>
            </a:pPr>
            <a:r>
              <a:rPr lang="en-GB" sz="1800" dirty="0">
                <a:latin typeface="Courier New" panose="02070309020205020404" pitchFamily="49" charset="0"/>
              </a:rPr>
              <a:t>while </a:t>
            </a:r>
            <a:r>
              <a:rPr lang="en-GB" sz="1800" dirty="0" err="1">
                <a:latin typeface="Courier New" panose="02070309020205020404" pitchFamily="49" charset="0"/>
              </a:rPr>
              <a:t>i</a:t>
            </a:r>
            <a:r>
              <a:rPr lang="en-GB" sz="1800" dirty="0">
                <a:latin typeface="Courier New" panose="02070309020205020404" pitchFamily="49" charset="0"/>
              </a:rPr>
              <a:t> &lt; 42:</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i</a:t>
            </a:r>
            <a:r>
              <a:rPr lang="en-GB" sz="1800" dirty="0">
                <a:latin typeface="Courier New" panose="02070309020205020404" pitchFamily="49" charset="0"/>
              </a:rPr>
              <a:t> *= 2</a:t>
            </a:r>
          </a:p>
          <a:p>
            <a:pPr>
              <a:spcBef>
                <a:spcPct val="0"/>
              </a:spcBef>
            </a:pPr>
            <a:r>
              <a:rPr lang="en-GB" sz="1800" dirty="0">
                <a:latin typeface="Courier New" panose="02070309020205020404" pitchFamily="49" charset="0"/>
              </a:rPr>
              <a:t>    if </a:t>
            </a:r>
            <a:r>
              <a:rPr lang="en-GB" sz="1800" dirty="0" err="1">
                <a:latin typeface="Courier New" panose="02070309020205020404" pitchFamily="49" charset="0"/>
              </a:rPr>
              <a:t>i</a:t>
            </a:r>
            <a:r>
              <a:rPr lang="en-GB" sz="1800" dirty="0">
                <a:latin typeface="Courier New" panose="02070309020205020404" pitchFamily="49" charset="0"/>
              </a:rPr>
              <a:t> &gt; j: break</a:t>
            </a:r>
          </a:p>
          <a:p>
            <a:pPr>
              <a:spcBef>
                <a:spcPct val="0"/>
              </a:spcBef>
            </a:pPr>
            <a:r>
              <a:rPr lang="en-GB" sz="1800" dirty="0">
                <a:latin typeface="Courier New" panose="02070309020205020404" pitchFamily="49" charset="0"/>
              </a:rPr>
              <a:t>else:</a:t>
            </a:r>
          </a:p>
          <a:p>
            <a:pPr>
              <a:spcBef>
                <a:spcPct val="0"/>
              </a:spcBef>
            </a:pPr>
            <a:r>
              <a:rPr lang="en-GB" sz="1800" dirty="0">
                <a:latin typeface="Courier New" panose="02070309020205020404" pitchFamily="49" charset="0"/>
              </a:rPr>
              <a:t>    print("Loop expired: ", </a:t>
            </a:r>
            <a:r>
              <a:rPr lang="en-GB" sz="1800" dirty="0" err="1">
                <a:latin typeface="Courier New" panose="02070309020205020404" pitchFamily="49" charset="0"/>
              </a:rPr>
              <a:t>i</a:t>
            </a:r>
            <a:r>
              <a:rPr lang="en-GB" sz="1800" dirty="0">
                <a:latin typeface="Courier New" panose="02070309020205020404" pitchFamily="49" charset="0"/>
              </a:rPr>
              <a:t>)</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print("Final value: ", </a:t>
            </a:r>
            <a:r>
              <a:rPr lang="en-GB" sz="1800" dirty="0" err="1">
                <a:latin typeface="Courier New" panose="02070309020205020404" pitchFamily="49" charset="0"/>
              </a:rPr>
              <a:t>i</a:t>
            </a:r>
            <a:r>
              <a:rPr lang="en-GB" sz="1800" dirty="0">
                <a:latin typeface="Courier New" panose="02070309020205020404" pitchFamily="49" charset="0"/>
              </a:rPr>
              <a:t>)</a:t>
            </a:r>
          </a:p>
        </p:txBody>
      </p:sp>
      <p:sp>
        <p:nvSpPr>
          <p:cNvPr id="14341" name="Text Box 5"/>
          <p:cNvSpPr txBox="1">
            <a:spLocks noChangeArrowheads="1"/>
          </p:cNvSpPr>
          <p:nvPr/>
        </p:nvSpPr>
        <p:spPr bwMode="auto">
          <a:xfrm>
            <a:off x="5107422" y="5964029"/>
            <a:ext cx="3117850" cy="64611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Loop expired:  64</a:t>
            </a:r>
          </a:p>
          <a:p>
            <a:pPr>
              <a:spcBef>
                <a:spcPct val="0"/>
              </a:spcBef>
            </a:pPr>
            <a:r>
              <a:rPr lang="en-GB" sz="1800" dirty="0">
                <a:latin typeface="Courier New" panose="02070309020205020404" pitchFamily="49" charset="0"/>
              </a:rPr>
              <a:t>Final value:  64</a:t>
            </a:r>
          </a:p>
        </p:txBody>
      </p:sp>
      <p:sp>
        <p:nvSpPr>
          <p:cNvPr id="14342" name="Text Box 6"/>
          <p:cNvSpPr txBox="1">
            <a:spLocks noChangeArrowheads="1"/>
          </p:cNvSpPr>
          <p:nvPr/>
        </p:nvSpPr>
        <p:spPr bwMode="auto">
          <a:xfrm>
            <a:off x="5296616" y="5243306"/>
            <a:ext cx="3911775"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b="1" dirty="0">
                <a:latin typeface="Arial"/>
                <a:cs typeface="Arial"/>
              </a:rPr>
              <a:t>The </a:t>
            </a:r>
            <a:r>
              <a:rPr lang="en-GB" sz="1800" b="1" dirty="0">
                <a:latin typeface="Courier New"/>
                <a:cs typeface="Courier New"/>
              </a:rPr>
              <a:t>else</a:t>
            </a:r>
            <a:r>
              <a:rPr lang="en-GB" sz="1800" b="1" dirty="0">
                <a:latin typeface="Arial"/>
                <a:cs typeface="Arial"/>
              </a:rPr>
              <a:t> clause is not executed if the loop exits using a </a:t>
            </a:r>
            <a:r>
              <a:rPr lang="en-GB" sz="1800" b="1" dirty="0">
                <a:latin typeface="Courier New"/>
                <a:cs typeface="Courier New"/>
              </a:rPr>
              <a:t>break</a:t>
            </a:r>
          </a:p>
        </p:txBody>
      </p:sp>
      <p:sp>
        <p:nvSpPr>
          <p:cNvPr id="2" name="Slide Number Placeholder 1">
            <a:extLst>
              <a:ext uri="{FF2B5EF4-FFF2-40B4-BE49-F238E27FC236}">
                <a16:creationId xmlns:a16="http://schemas.microsoft.com/office/drawing/2014/main" id="{DF140EFF-A402-5440-3D14-41A84A8027FE}"/>
              </a:ext>
            </a:extLst>
          </p:cNvPr>
          <p:cNvSpPr>
            <a:spLocks noGrp="1"/>
          </p:cNvSpPr>
          <p:nvPr>
            <p:ph type="sldNum" sz="quarter" idx="4"/>
          </p:nvPr>
        </p:nvSpPr>
        <p:spPr/>
        <p:txBody>
          <a:bodyPr/>
          <a:lstStyle/>
          <a:p>
            <a:fld id="{EF892D59-8F09-EF4B-AD6D-DA609442F868}" type="slidenum">
              <a:rPr lang="en-GB" smtClean="0"/>
              <a:pPr/>
              <a:t>14</a:t>
            </a:fld>
            <a:endParaRPr lang="en-GB" dirty="0"/>
          </a:p>
        </p:txBody>
      </p:sp>
    </p:spTree>
    <p:extLst>
      <p:ext uri="{BB962C8B-B14F-4D97-AF65-F5344CB8AC3E}">
        <p14:creationId xmlns:p14="http://schemas.microsoft.com/office/powerpoint/2010/main" val="3886202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036656" y="378511"/>
            <a:ext cx="11517818" cy="805001"/>
          </a:xfrm>
        </p:spPr>
        <p:txBody>
          <a:bodyPr/>
          <a:lstStyle/>
          <a:p>
            <a:pPr eaLnBrk="1" hangingPunct="1"/>
            <a:r>
              <a:rPr lang="en-GB" dirty="0"/>
              <a:t>For loops</a:t>
            </a:r>
          </a:p>
        </p:txBody>
      </p:sp>
      <p:sp>
        <p:nvSpPr>
          <p:cNvPr id="15363" name="Rectangle 3"/>
          <p:cNvSpPr>
            <a:spLocks noGrp="1" noChangeArrowheads="1"/>
          </p:cNvSpPr>
          <p:nvPr>
            <p:ph idx="1"/>
          </p:nvPr>
        </p:nvSpPr>
        <p:spPr>
          <a:xfrm>
            <a:off x="341272" y="1368256"/>
            <a:ext cx="11516239" cy="5441457"/>
          </a:xfrm>
        </p:spPr>
        <p:txBody>
          <a:bodyPr/>
          <a:lstStyle/>
          <a:p>
            <a:r>
              <a:rPr lang="en-GB" b="1" dirty="0">
                <a:latin typeface="Montserrat"/>
              </a:rPr>
              <a:t>To iterate through a sequence</a:t>
            </a:r>
            <a:endParaRPr lang="en-GB" sz="1600" dirty="0">
              <a:latin typeface="Montserrat"/>
            </a:endParaRPr>
          </a:p>
          <a:p>
            <a:pPr marL="457200" lvl="1" indent="-228600">
              <a:buSzPct val="114999"/>
              <a:buFont typeface="Arial"/>
              <a:buChar char="•"/>
            </a:pPr>
            <a:r>
              <a:rPr lang="en-GB" sz="1800" dirty="0">
                <a:latin typeface="Montserrat"/>
              </a:rPr>
              <a:t>Often a list or tuple.</a:t>
            </a:r>
            <a:endParaRPr lang="en-GB" sz="1800" dirty="0"/>
          </a:p>
          <a:p>
            <a:pPr marL="457200" lvl="1" indent="-228600">
              <a:buFont typeface="Arial"/>
              <a:buChar char="•"/>
            </a:pPr>
            <a:r>
              <a:rPr lang="en-GB" sz="1800" dirty="0">
                <a:latin typeface="Montserrat"/>
              </a:rPr>
              <a:t>Loop variable holds a copy of each element in turn.</a:t>
            </a:r>
            <a:endParaRPr lang="en-GB" dirty="0"/>
          </a:p>
          <a:p>
            <a:pPr marL="457200" lvl="1" indent="-228600">
              <a:buFont typeface="Arial"/>
              <a:buChar char="•"/>
            </a:pPr>
            <a:r>
              <a:rPr lang="en-GB" sz="1800" dirty="0">
                <a:latin typeface="Montserrat"/>
              </a:rPr>
              <a:t>Membership is by indentation.</a:t>
            </a:r>
          </a:p>
        </p:txBody>
      </p:sp>
      <p:sp>
        <p:nvSpPr>
          <p:cNvPr id="15364" name="Text Box 4"/>
          <p:cNvSpPr txBox="1">
            <a:spLocks noChangeArrowheads="1"/>
          </p:cNvSpPr>
          <p:nvPr/>
        </p:nvSpPr>
        <p:spPr bwMode="auto">
          <a:xfrm>
            <a:off x="776139" y="2939920"/>
            <a:ext cx="3286246" cy="646331"/>
          </a:xfrm>
          <a:prstGeom prst="rect">
            <a:avLst/>
          </a:prstGeom>
          <a:noFill/>
          <a:ln>
            <a:solidFill>
              <a:srgbClr val="004050"/>
            </a:solid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lIns="91440" tIns="45720" rIns="91440" bIns="45720" anchor="t">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b="1" dirty="0">
                <a:solidFill>
                  <a:srgbClr val="3333CC"/>
                </a:solidFill>
                <a:latin typeface="Courier New"/>
                <a:cs typeface="Courier New"/>
              </a:rPr>
              <a:t>for</a:t>
            </a:r>
            <a:r>
              <a:rPr lang="en-GB" sz="1800" b="1" dirty="0">
                <a:latin typeface="Courier New"/>
                <a:cs typeface="Courier New"/>
              </a:rPr>
              <a:t> </a:t>
            </a:r>
            <a:r>
              <a:rPr lang="en-GB" sz="1800" i="1" dirty="0">
                <a:latin typeface="Arial"/>
                <a:cs typeface="Arial"/>
              </a:rPr>
              <a:t>variable</a:t>
            </a:r>
            <a:r>
              <a:rPr lang="en-GB" sz="1800" i="1" dirty="0">
                <a:latin typeface="Courier New"/>
                <a:cs typeface="Courier New"/>
              </a:rPr>
              <a:t> </a:t>
            </a:r>
            <a:r>
              <a:rPr lang="en-GB" sz="1800" b="1" dirty="0">
                <a:solidFill>
                  <a:srgbClr val="3333CC"/>
                </a:solidFill>
                <a:latin typeface="Courier New"/>
                <a:cs typeface="Courier New"/>
              </a:rPr>
              <a:t>in</a:t>
            </a:r>
            <a:r>
              <a:rPr lang="en-GB" sz="1800" i="1" dirty="0">
                <a:latin typeface="Courier New"/>
                <a:cs typeface="Courier New"/>
              </a:rPr>
              <a:t> </a:t>
            </a:r>
            <a:r>
              <a:rPr lang="en-GB" sz="1800" i="1" dirty="0">
                <a:latin typeface="Arial"/>
                <a:cs typeface="Arial"/>
              </a:rPr>
              <a:t>object</a:t>
            </a:r>
            <a:r>
              <a:rPr lang="en-GB" sz="1800" b="1" dirty="0">
                <a:latin typeface="Courier New"/>
                <a:cs typeface="Courier New"/>
              </a:rPr>
              <a:t>:</a:t>
            </a:r>
          </a:p>
          <a:p>
            <a:pPr>
              <a:spcBef>
                <a:spcPct val="0"/>
              </a:spcBef>
            </a:pPr>
            <a:r>
              <a:rPr lang="en-GB" sz="1800" b="1" dirty="0">
                <a:latin typeface="Courier New"/>
                <a:cs typeface="Courier New"/>
              </a:rPr>
              <a:t>   </a:t>
            </a:r>
            <a:r>
              <a:rPr lang="en-GB" sz="1800" i="1" dirty="0">
                <a:latin typeface="Arial"/>
                <a:cs typeface="Arial"/>
              </a:rPr>
              <a:t>loop body</a:t>
            </a:r>
          </a:p>
        </p:txBody>
      </p:sp>
      <p:sp>
        <p:nvSpPr>
          <p:cNvPr id="15365" name="Text Box 5"/>
          <p:cNvSpPr txBox="1">
            <a:spLocks noChangeArrowheads="1"/>
          </p:cNvSpPr>
          <p:nvPr/>
        </p:nvSpPr>
        <p:spPr bwMode="auto">
          <a:xfrm>
            <a:off x="772247" y="4238102"/>
            <a:ext cx="5009705" cy="92333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sys</a:t>
            </a:r>
          </a:p>
          <a:p>
            <a:pPr>
              <a:spcBef>
                <a:spcPct val="0"/>
              </a:spcBef>
            </a:pPr>
            <a:r>
              <a:rPr lang="en-GB" sz="1800" b="1" dirty="0">
                <a:latin typeface="Courier New" panose="02070309020205020404" pitchFamily="49" charset="0"/>
              </a:rPr>
              <a:t>for</a:t>
            </a:r>
            <a:r>
              <a:rPr lang="en-GB" sz="1800" dirty="0">
                <a:latin typeface="Courier New" panose="02070309020205020404" pitchFamily="49" charset="0"/>
              </a:rPr>
              <a:t> </a:t>
            </a:r>
            <a:r>
              <a:rPr lang="en-GB" sz="1800" dirty="0" err="1">
                <a:latin typeface="Courier New" panose="02070309020205020404" pitchFamily="49" charset="0"/>
              </a:rPr>
              <a:t>arg</a:t>
            </a:r>
            <a:r>
              <a:rPr lang="en-GB" sz="1800" dirty="0">
                <a:latin typeface="Courier New" panose="02070309020205020404" pitchFamily="49" charset="0"/>
              </a:rPr>
              <a:t> </a:t>
            </a:r>
            <a:r>
              <a:rPr lang="en-GB" sz="1800" b="1" dirty="0">
                <a:latin typeface="Courier New" panose="02070309020205020404" pitchFamily="49" charset="0"/>
              </a:rPr>
              <a:t>in</a:t>
            </a:r>
            <a:r>
              <a:rPr lang="en-GB" sz="1800" dirty="0">
                <a:latin typeface="Courier New" panose="02070309020205020404" pitchFamily="49" charset="0"/>
              </a:rPr>
              <a:t> </a:t>
            </a:r>
            <a:r>
              <a:rPr lang="en-GB" sz="1800" dirty="0" err="1">
                <a:latin typeface="Courier New" panose="02070309020205020404" pitchFamily="49" charset="0"/>
              </a:rPr>
              <a:t>sys.argv</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Cmd</a:t>
            </a:r>
            <a:r>
              <a:rPr lang="en-GB" sz="1800" dirty="0">
                <a:latin typeface="Courier New" panose="02070309020205020404" pitchFamily="49" charset="0"/>
              </a:rPr>
              <a:t> line argument:", </a:t>
            </a:r>
            <a:r>
              <a:rPr lang="en-GB" sz="1800" dirty="0" err="1">
                <a:latin typeface="Courier New" panose="02070309020205020404" pitchFamily="49" charset="0"/>
              </a:rPr>
              <a:t>arg</a:t>
            </a:r>
            <a:r>
              <a:rPr lang="en-GB" sz="1800" dirty="0">
                <a:latin typeface="Courier New" panose="02070309020205020404" pitchFamily="49" charset="0"/>
              </a:rPr>
              <a:t>)</a:t>
            </a:r>
          </a:p>
        </p:txBody>
      </p:sp>
      <p:sp>
        <p:nvSpPr>
          <p:cNvPr id="15366" name="Text Box 6"/>
          <p:cNvSpPr txBox="1">
            <a:spLocks noChangeArrowheads="1"/>
          </p:cNvSpPr>
          <p:nvPr/>
        </p:nvSpPr>
        <p:spPr bwMode="auto">
          <a:xfrm>
            <a:off x="4639867" y="5132409"/>
            <a:ext cx="5856287" cy="147478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C:\Python&gt;</a:t>
            </a:r>
            <a:r>
              <a:rPr lang="en-GB" sz="1800" b="1" dirty="0">
                <a:latin typeface="Courier New" panose="02070309020205020404" pitchFamily="49" charset="0"/>
              </a:rPr>
              <a:t>for.py Monday Tuesday Wednesday</a:t>
            </a:r>
          </a:p>
          <a:p>
            <a:pPr>
              <a:spcBef>
                <a:spcPct val="0"/>
              </a:spcBef>
            </a:pPr>
            <a:r>
              <a:rPr lang="en-GB" sz="1800" dirty="0" err="1">
                <a:latin typeface="Courier New" panose="02070309020205020404" pitchFamily="49" charset="0"/>
              </a:rPr>
              <a:t>Cmd</a:t>
            </a:r>
            <a:r>
              <a:rPr lang="en-GB" sz="1800" dirty="0">
                <a:latin typeface="Courier New" panose="02070309020205020404" pitchFamily="49" charset="0"/>
              </a:rPr>
              <a:t> line argument: C:\Python\for.py</a:t>
            </a:r>
          </a:p>
          <a:p>
            <a:pPr>
              <a:spcBef>
                <a:spcPct val="0"/>
              </a:spcBef>
            </a:pPr>
            <a:r>
              <a:rPr lang="en-GB" sz="1800" dirty="0" err="1">
                <a:latin typeface="Courier New" panose="02070309020205020404" pitchFamily="49" charset="0"/>
              </a:rPr>
              <a:t>Cmd</a:t>
            </a:r>
            <a:r>
              <a:rPr lang="en-GB" sz="1800" dirty="0">
                <a:latin typeface="Courier New" panose="02070309020205020404" pitchFamily="49" charset="0"/>
              </a:rPr>
              <a:t> line argument: Monday</a:t>
            </a:r>
          </a:p>
          <a:p>
            <a:pPr>
              <a:spcBef>
                <a:spcPct val="0"/>
              </a:spcBef>
            </a:pPr>
            <a:r>
              <a:rPr lang="en-GB" sz="1800" dirty="0" err="1">
                <a:latin typeface="Courier New" panose="02070309020205020404" pitchFamily="49" charset="0"/>
              </a:rPr>
              <a:t>Cmd</a:t>
            </a:r>
            <a:r>
              <a:rPr lang="en-GB" sz="1800" dirty="0">
                <a:latin typeface="Courier New" panose="02070309020205020404" pitchFamily="49" charset="0"/>
              </a:rPr>
              <a:t> line argument: Tuesday</a:t>
            </a:r>
          </a:p>
          <a:p>
            <a:pPr>
              <a:spcBef>
                <a:spcPct val="0"/>
              </a:spcBef>
            </a:pPr>
            <a:r>
              <a:rPr lang="en-GB" sz="1800" dirty="0" err="1">
                <a:latin typeface="Courier New" panose="02070309020205020404" pitchFamily="49" charset="0"/>
              </a:rPr>
              <a:t>Cmd</a:t>
            </a:r>
            <a:r>
              <a:rPr lang="en-GB" sz="1800" dirty="0">
                <a:latin typeface="Courier New" panose="02070309020205020404" pitchFamily="49" charset="0"/>
              </a:rPr>
              <a:t> line argument: Wednesday</a:t>
            </a:r>
          </a:p>
        </p:txBody>
      </p:sp>
      <p:sp>
        <p:nvSpPr>
          <p:cNvPr id="2" name="TextBox 1"/>
          <p:cNvSpPr txBox="1"/>
          <p:nvPr/>
        </p:nvSpPr>
        <p:spPr>
          <a:xfrm>
            <a:off x="5853705" y="4194262"/>
            <a:ext cx="2386132" cy="830997"/>
          </a:xfrm>
          <a:prstGeom prst="rect">
            <a:avLst/>
          </a:prstGeom>
          <a:solidFill>
            <a:schemeClr val="bg1"/>
          </a:solidFill>
        </p:spPr>
        <p:txBody>
          <a:bodyPr wrap="square" rtlCol="0">
            <a:spAutoFit/>
          </a:bodyPr>
          <a:lstStyle/>
          <a:p>
            <a:r>
              <a:rPr lang="en-GB" sz="1600" dirty="0" err="1">
                <a:latin typeface="Courier New" pitchFamily="49" charset="0"/>
                <a:cs typeface="Courier New" pitchFamily="49" charset="0"/>
              </a:rPr>
              <a:t>sys.argv</a:t>
            </a:r>
            <a:r>
              <a:rPr lang="en-GB" sz="1600" dirty="0">
                <a:cs typeface="Courier New" pitchFamily="49" charset="0"/>
              </a:rPr>
              <a:t> is a list of the command-line arguments</a:t>
            </a:r>
          </a:p>
        </p:txBody>
      </p:sp>
      <p:sp>
        <p:nvSpPr>
          <p:cNvPr id="3" name="Text Box 5">
            <a:extLst>
              <a:ext uri="{FF2B5EF4-FFF2-40B4-BE49-F238E27FC236}">
                <a16:creationId xmlns:a16="http://schemas.microsoft.com/office/drawing/2014/main" id="{08D88DF6-DFED-5A4D-39A5-00BCB4362754}"/>
              </a:ext>
            </a:extLst>
          </p:cNvPr>
          <p:cNvSpPr txBox="1">
            <a:spLocks noChangeArrowheads="1"/>
          </p:cNvSpPr>
          <p:nvPr/>
        </p:nvSpPr>
        <p:spPr bwMode="auto">
          <a:xfrm>
            <a:off x="4360567" y="2939578"/>
            <a:ext cx="3483346" cy="646331"/>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lIns="91440" tIns="45720" rIns="91440" bIns="45720" anchor="t">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for </a:t>
            </a:r>
            <a:r>
              <a:rPr lang="en-GB" sz="1800" dirty="0" err="1">
                <a:latin typeface="Courier New" panose="02070309020205020404" pitchFamily="49" charset="0"/>
              </a:rPr>
              <a:t>i</a:t>
            </a:r>
            <a:r>
              <a:rPr lang="en-GB" sz="1800" dirty="0">
                <a:latin typeface="Courier New" panose="02070309020205020404" pitchFamily="49" charset="0"/>
              </a:rPr>
              <a:t> in range(10):</a:t>
            </a:r>
          </a:p>
          <a:p>
            <a:pPr>
              <a:spcBef>
                <a:spcPct val="0"/>
              </a:spcBef>
            </a:pPr>
            <a:r>
              <a:rPr lang="en-GB" sz="1800" dirty="0">
                <a:latin typeface="Courier New"/>
                <a:cs typeface="Courier New"/>
              </a:rPr>
              <a:t>	print(</a:t>
            </a:r>
            <a:r>
              <a:rPr lang="en-GB" sz="1800" dirty="0" err="1">
                <a:latin typeface="Courier New"/>
                <a:cs typeface="Courier New"/>
              </a:rPr>
              <a:t>i</a:t>
            </a:r>
            <a:r>
              <a:rPr lang="en-GB" sz="1800" dirty="0">
                <a:latin typeface="Courier New"/>
                <a:cs typeface="Courier New"/>
              </a:rPr>
              <a:t>)</a:t>
            </a:r>
          </a:p>
        </p:txBody>
      </p:sp>
      <p:sp>
        <p:nvSpPr>
          <p:cNvPr id="4" name="Slide Number Placeholder 3">
            <a:extLst>
              <a:ext uri="{FF2B5EF4-FFF2-40B4-BE49-F238E27FC236}">
                <a16:creationId xmlns:a16="http://schemas.microsoft.com/office/drawing/2014/main" id="{3B4790E5-24FF-2BB4-7CEF-3FC2E048FD8A}"/>
              </a:ext>
            </a:extLst>
          </p:cNvPr>
          <p:cNvSpPr>
            <a:spLocks noGrp="1"/>
          </p:cNvSpPr>
          <p:nvPr>
            <p:ph type="sldNum" sz="quarter" idx="4"/>
          </p:nvPr>
        </p:nvSpPr>
        <p:spPr/>
        <p:txBody>
          <a:bodyPr/>
          <a:lstStyle/>
          <a:p>
            <a:fld id="{EF892D59-8F09-EF4B-AD6D-DA609442F868}" type="slidenum">
              <a:rPr lang="en-GB" smtClean="0"/>
              <a:pPr/>
              <a:t>15</a:t>
            </a:fld>
            <a:endParaRPr lang="en-GB" dirty="0"/>
          </a:p>
        </p:txBody>
      </p:sp>
    </p:spTree>
    <p:extLst>
      <p:ext uri="{BB962C8B-B14F-4D97-AF65-F5344CB8AC3E}">
        <p14:creationId xmlns:p14="http://schemas.microsoft.com/office/powerpoint/2010/main" val="1761719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026382" y="356629"/>
            <a:ext cx="11517818" cy="805001"/>
          </a:xfrm>
        </p:spPr>
        <p:txBody>
          <a:bodyPr/>
          <a:lstStyle/>
          <a:p>
            <a:pPr eaLnBrk="1" hangingPunct="1"/>
            <a:r>
              <a:rPr lang="en-GB" dirty="0"/>
              <a:t>For loops</a:t>
            </a:r>
          </a:p>
        </p:txBody>
      </p:sp>
      <p:sp>
        <p:nvSpPr>
          <p:cNvPr id="15363" name="Rectangle 3"/>
          <p:cNvSpPr>
            <a:spLocks noGrp="1" noChangeArrowheads="1"/>
          </p:cNvSpPr>
          <p:nvPr>
            <p:ph idx="1"/>
          </p:nvPr>
        </p:nvSpPr>
        <p:spPr>
          <a:xfrm>
            <a:off x="341272" y="1161630"/>
            <a:ext cx="11516239" cy="5441457"/>
          </a:xfrm>
        </p:spPr>
        <p:txBody>
          <a:bodyPr/>
          <a:lstStyle/>
          <a:p>
            <a:r>
              <a:rPr lang="en-GB" b="1" dirty="0">
                <a:latin typeface="Montserrat"/>
              </a:rPr>
              <a:t>To iterate through files</a:t>
            </a:r>
            <a:endParaRPr lang="en-GB" sz="1600" dirty="0">
              <a:latin typeface="Montserrat"/>
            </a:endParaRPr>
          </a:p>
          <a:p>
            <a:pPr marL="457200" lvl="1" indent="-228600">
              <a:buSzPct val="114999"/>
              <a:buFont typeface="Arial"/>
              <a:buChar char="•"/>
            </a:pPr>
            <a:r>
              <a:rPr lang="en-GB" sz="1800" dirty="0">
                <a:latin typeface="Montserrat"/>
              </a:rPr>
              <a:t>In the filesystem using the glob module.</a:t>
            </a:r>
          </a:p>
          <a:p>
            <a:pPr marL="457200" lvl="1" indent="-228600">
              <a:buSzPct val="114999"/>
              <a:buFont typeface="Arial"/>
              <a:buChar char="•"/>
            </a:pPr>
            <a:r>
              <a:rPr lang="en-GB" sz="1800" dirty="0" err="1">
                <a:latin typeface="Montserrat"/>
              </a:rPr>
              <a:t>Globbing</a:t>
            </a:r>
            <a:r>
              <a:rPr lang="en-GB" sz="1800" dirty="0">
                <a:latin typeface="Montserrat"/>
              </a:rPr>
              <a:t> (global matching) derived from Unix shells.</a:t>
            </a:r>
          </a:p>
          <a:p>
            <a:pPr marL="457200" lvl="1" indent="-228600">
              <a:buSzPct val="114999"/>
              <a:buFont typeface="Arial"/>
              <a:buChar char="•"/>
            </a:pPr>
            <a:r>
              <a:rPr lang="en-GB" sz="1800" dirty="0">
                <a:latin typeface="Montserrat"/>
              </a:rPr>
              <a:t>Matches file and directory names using wildcards.</a:t>
            </a:r>
          </a:p>
          <a:p>
            <a:pPr marL="457200" lvl="1" indent="-228600">
              <a:buSzPct val="114999"/>
              <a:buFont typeface="Arial"/>
              <a:buChar char="•"/>
            </a:pPr>
            <a:r>
              <a:rPr lang="en-GB" sz="1800" dirty="0" err="1">
                <a:latin typeface="Montserrat"/>
              </a:rPr>
              <a:t>os.path.getsize</a:t>
            </a:r>
            <a:r>
              <a:rPr lang="en-GB" sz="1800" dirty="0">
                <a:latin typeface="Montserrat"/>
              </a:rPr>
              <a:t>() returns the size of a file.</a:t>
            </a:r>
          </a:p>
          <a:p>
            <a:pPr marL="228600" lvl="1" indent="0">
              <a:buSzPct val="114999"/>
              <a:buNone/>
            </a:pPr>
            <a:endParaRPr lang="en-GB" sz="1800" dirty="0">
              <a:latin typeface="Montserrat"/>
            </a:endParaRPr>
          </a:p>
          <a:p>
            <a:pPr marL="457200" lvl="1" indent="-228600">
              <a:buSzPct val="114999"/>
              <a:buFont typeface="Arial"/>
              <a:buChar char="•"/>
            </a:pPr>
            <a:endParaRPr lang="en-GB" sz="1800" dirty="0"/>
          </a:p>
        </p:txBody>
      </p:sp>
      <p:sp>
        <p:nvSpPr>
          <p:cNvPr id="15365" name="Text Box 5"/>
          <p:cNvSpPr txBox="1">
            <a:spLocks noChangeArrowheads="1"/>
          </p:cNvSpPr>
          <p:nvPr/>
        </p:nvSpPr>
        <p:spPr bwMode="auto">
          <a:xfrm>
            <a:off x="772247" y="3278529"/>
            <a:ext cx="5836854" cy="2308324"/>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import glob</a:t>
            </a:r>
          </a:p>
          <a:p>
            <a:pPr>
              <a:spcBef>
                <a:spcPct val="0"/>
              </a:spcBef>
            </a:pPr>
            <a:r>
              <a:rPr lang="en-GB" sz="1800" dirty="0">
                <a:latin typeface="Courier New" panose="02070309020205020404" pitchFamily="49" charset="0"/>
              </a:rPr>
              <a:t>import os</a:t>
            </a:r>
          </a:p>
          <a:p>
            <a:pPr>
              <a:spcBef>
                <a:spcPct val="0"/>
              </a:spcBef>
            </a:pPr>
            <a:endParaRPr lang="en-GB" sz="1800" dirty="0">
              <a:latin typeface="Courier New" panose="02070309020205020404" pitchFamily="49" charset="0"/>
            </a:endParaRPr>
          </a:p>
          <a:p>
            <a:pPr>
              <a:spcBef>
                <a:spcPct val="0"/>
              </a:spcBef>
            </a:pPr>
            <a:r>
              <a:rPr lang="en-GB" sz="1800" dirty="0" err="1">
                <a:latin typeface="Courier New" panose="02070309020205020404" pitchFamily="49" charset="0"/>
              </a:rPr>
              <a:t>home_dir</a:t>
            </a:r>
            <a:r>
              <a:rPr lang="en-GB" sz="1800" dirty="0">
                <a:latin typeface="Courier New" panose="02070309020205020404" pitchFamily="49" charset="0"/>
              </a:rPr>
              <a:t> = "\user\john\“</a:t>
            </a:r>
          </a:p>
          <a:p>
            <a:pPr>
              <a:spcBef>
                <a:spcPct val="0"/>
              </a:spcBef>
            </a:pPr>
            <a:endParaRPr lang="en-GB" sz="1800" dirty="0">
              <a:latin typeface="Courier New" panose="02070309020205020404" pitchFamily="49" charset="0"/>
            </a:endParaRPr>
          </a:p>
          <a:p>
            <a:pPr>
              <a:spcBef>
                <a:spcPct val="0"/>
              </a:spcBef>
            </a:pPr>
            <a:r>
              <a:rPr lang="en-GB" sz="1800" b="1" dirty="0">
                <a:latin typeface="Courier New" panose="02070309020205020404" pitchFamily="49" charset="0"/>
              </a:rPr>
              <a:t>for</a:t>
            </a:r>
            <a:r>
              <a:rPr lang="en-GB" sz="1800" dirty="0">
                <a:latin typeface="Courier New" panose="02070309020205020404" pitchFamily="49" charset="0"/>
              </a:rPr>
              <a:t> file </a:t>
            </a:r>
            <a:r>
              <a:rPr lang="en-GB" sz="1800" b="1" dirty="0">
                <a:latin typeface="Courier New" panose="02070309020205020404" pitchFamily="49" charset="0"/>
              </a:rPr>
              <a:t>in</a:t>
            </a:r>
            <a:r>
              <a:rPr lang="en-GB" sz="1800" dirty="0">
                <a:latin typeface="Courier New" panose="02070309020205020404" pitchFamily="49" charset="0"/>
              </a:rPr>
              <a:t> </a:t>
            </a:r>
            <a:r>
              <a:rPr lang="en-GB" sz="1800" dirty="0" err="1">
                <a:latin typeface="Courier New" panose="02070309020205020404" pitchFamily="49" charset="0"/>
              </a:rPr>
              <a:t>glob.glob</a:t>
            </a:r>
            <a:r>
              <a:rPr lang="en-GB" sz="1800" dirty="0">
                <a:latin typeface="Courier New" panose="02070309020205020404" pitchFamily="49" charset="0"/>
              </a:rPr>
              <a:t>(</a:t>
            </a:r>
            <a:r>
              <a:rPr lang="en-GB" sz="1800" dirty="0" err="1">
                <a:latin typeface="Courier New" panose="02070309020205020404" pitchFamily="49" charset="0"/>
              </a:rPr>
              <a:t>home_dir</a:t>
            </a:r>
            <a:r>
              <a:rPr lang="en-GB" sz="1800" dirty="0">
                <a:latin typeface="Courier New" panose="02070309020205020404" pitchFamily="49" charset="0"/>
              </a:rPr>
              <a:t>, "*.txt"):</a:t>
            </a:r>
          </a:p>
          <a:p>
            <a:pPr>
              <a:spcBef>
                <a:spcPct val="0"/>
              </a:spcBef>
            </a:pPr>
            <a:r>
              <a:rPr lang="en-GB" sz="1800" dirty="0">
                <a:latin typeface="Courier New" panose="02070309020205020404" pitchFamily="49" charset="0"/>
              </a:rPr>
              <a:t>    size = </a:t>
            </a:r>
            <a:r>
              <a:rPr lang="en-GB" sz="1800" dirty="0" err="1">
                <a:latin typeface="Courier New" panose="02070309020205020404" pitchFamily="49" charset="0"/>
              </a:rPr>
              <a:t>os.path.getsize</a:t>
            </a:r>
            <a:r>
              <a:rPr lang="en-GB" sz="1800" dirty="0">
                <a:latin typeface="Courier New" panose="02070309020205020404" pitchFamily="49" charset="0"/>
              </a:rPr>
              <a:t>(file)</a:t>
            </a:r>
          </a:p>
          <a:p>
            <a:pPr>
              <a:spcBef>
                <a:spcPct val="0"/>
              </a:spcBef>
            </a:pPr>
            <a:r>
              <a:rPr lang="en-GB" sz="1800" dirty="0">
                <a:latin typeface="Courier New" panose="02070309020205020404" pitchFamily="49" charset="0"/>
              </a:rPr>
              <a:t>    print(file, size, "bytes")</a:t>
            </a:r>
          </a:p>
        </p:txBody>
      </p:sp>
      <p:sp>
        <p:nvSpPr>
          <p:cNvPr id="15366" name="Text Box 6"/>
          <p:cNvSpPr txBox="1">
            <a:spLocks noChangeArrowheads="1"/>
          </p:cNvSpPr>
          <p:nvPr/>
        </p:nvSpPr>
        <p:spPr bwMode="auto">
          <a:xfrm>
            <a:off x="5383305" y="5248394"/>
            <a:ext cx="2803973" cy="1200329"/>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spam.txt 0 bytes</a:t>
            </a:r>
          </a:p>
          <a:p>
            <a:pPr>
              <a:spcBef>
                <a:spcPct val="0"/>
              </a:spcBef>
            </a:pPr>
            <a:r>
              <a:rPr lang="en-GB" sz="1800" dirty="0">
                <a:latin typeface="Courier New" panose="02070309020205020404" pitchFamily="49" charset="0"/>
              </a:rPr>
              <a:t>bacon.txt 192 bytes</a:t>
            </a:r>
          </a:p>
          <a:p>
            <a:pPr>
              <a:spcBef>
                <a:spcPct val="0"/>
              </a:spcBef>
            </a:pPr>
            <a:r>
              <a:rPr lang="en-GB" sz="1800" dirty="0">
                <a:latin typeface="Courier New" panose="02070309020205020404" pitchFamily="49" charset="0"/>
              </a:rPr>
              <a:t>eggs.txt 56 bytes</a:t>
            </a:r>
          </a:p>
          <a:p>
            <a:pPr>
              <a:spcBef>
                <a:spcPct val="0"/>
              </a:spcBef>
            </a:pPr>
            <a:r>
              <a:rPr lang="en-GB" sz="1800" dirty="0">
                <a:latin typeface="Courier New" panose="02070309020205020404" pitchFamily="49" charset="0"/>
              </a:rPr>
              <a:t>tea.txt 200 bytes</a:t>
            </a:r>
          </a:p>
        </p:txBody>
      </p:sp>
      <p:sp>
        <p:nvSpPr>
          <p:cNvPr id="2" name="Slide Number Placeholder 1">
            <a:extLst>
              <a:ext uri="{FF2B5EF4-FFF2-40B4-BE49-F238E27FC236}">
                <a16:creationId xmlns:a16="http://schemas.microsoft.com/office/drawing/2014/main" id="{65C070A6-35AB-D98E-BA1D-96187B84403C}"/>
              </a:ext>
            </a:extLst>
          </p:cNvPr>
          <p:cNvSpPr>
            <a:spLocks noGrp="1"/>
          </p:cNvSpPr>
          <p:nvPr>
            <p:ph type="sldNum" sz="quarter" idx="4"/>
          </p:nvPr>
        </p:nvSpPr>
        <p:spPr/>
        <p:txBody>
          <a:bodyPr/>
          <a:lstStyle/>
          <a:p>
            <a:fld id="{EF892D59-8F09-EF4B-AD6D-DA609442F868}" type="slidenum">
              <a:rPr lang="en-GB" smtClean="0"/>
              <a:pPr/>
              <a:t>16</a:t>
            </a:fld>
            <a:endParaRPr lang="en-GB" dirty="0"/>
          </a:p>
        </p:txBody>
      </p:sp>
    </p:spTree>
    <p:extLst>
      <p:ext uri="{BB962C8B-B14F-4D97-AF65-F5344CB8AC3E}">
        <p14:creationId xmlns:p14="http://schemas.microsoft.com/office/powerpoint/2010/main" val="2277669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60457" y="316976"/>
            <a:ext cx="11517818" cy="805001"/>
          </a:xfrm>
        </p:spPr>
        <p:txBody>
          <a:bodyPr/>
          <a:lstStyle/>
          <a:p>
            <a:pPr eaLnBrk="1" hangingPunct="1"/>
            <a:r>
              <a:rPr lang="en-GB" dirty="0"/>
              <a:t>enumerate</a:t>
            </a:r>
          </a:p>
        </p:txBody>
      </p:sp>
      <p:sp>
        <p:nvSpPr>
          <p:cNvPr id="16387" name="Rectangle 3"/>
          <p:cNvSpPr>
            <a:spLocks noGrp="1" noChangeArrowheads="1"/>
          </p:cNvSpPr>
          <p:nvPr>
            <p:ph idx="1"/>
          </p:nvPr>
        </p:nvSpPr>
        <p:spPr>
          <a:xfrm>
            <a:off x="354813" y="1220861"/>
            <a:ext cx="11516239" cy="4955354"/>
          </a:xfrm>
        </p:spPr>
        <p:txBody>
          <a:bodyPr/>
          <a:lstStyle/>
          <a:p>
            <a:r>
              <a:rPr lang="en-GB" b="1" dirty="0">
                <a:latin typeface="Montserrat"/>
              </a:rPr>
              <a:t>Use in loops over any sequence </a:t>
            </a:r>
            <a:endParaRPr lang="en-US" dirty="0"/>
          </a:p>
          <a:p>
            <a:pPr marL="457200" lvl="1" indent="-228600">
              <a:buSzPct val="114999"/>
              <a:buFont typeface="Arial"/>
              <a:buChar char="•"/>
            </a:pPr>
            <a:r>
              <a:rPr lang="en-GB" sz="1800" dirty="0">
                <a:latin typeface="Montserrat"/>
              </a:rPr>
              <a:t>Returns a two-item tuple, which contains a count and the item at that position in the sequence.</a:t>
            </a:r>
            <a:endParaRPr lang="en-US" dirty="0"/>
          </a:p>
          <a:p>
            <a:pPr lvl="1"/>
            <a:endParaRPr lang="en-GB" dirty="0"/>
          </a:p>
          <a:p>
            <a:pPr lvl="1"/>
            <a:endParaRPr lang="en-GB" dirty="0"/>
          </a:p>
          <a:p>
            <a:pPr marL="88900" lvl="2" indent="0">
              <a:buNone/>
            </a:pPr>
            <a:endParaRPr lang="en-GB" dirty="0"/>
          </a:p>
          <a:p>
            <a:r>
              <a:rPr lang="en-GB" b="1" dirty="0">
                <a:latin typeface="Montserrat"/>
              </a:rPr>
              <a:t>Or other object type which supports iteration</a:t>
            </a:r>
          </a:p>
          <a:p>
            <a:pPr marL="457200" lvl="1" indent="-228600">
              <a:buSzPct val="114999"/>
              <a:buFont typeface="Arial"/>
              <a:buChar char="•"/>
            </a:pPr>
            <a:r>
              <a:rPr lang="en-GB" sz="1800" dirty="0">
                <a:latin typeface="Montserrat"/>
              </a:rPr>
              <a:t>For example, </a:t>
            </a:r>
            <a:r>
              <a:rPr lang="en-GB" sz="1800" dirty="0">
                <a:latin typeface="Courier New"/>
                <a:cs typeface="Courier New"/>
              </a:rPr>
              <a:t>open</a:t>
            </a:r>
            <a:r>
              <a:rPr lang="en-GB" sz="1800" dirty="0">
                <a:latin typeface="Montserrat"/>
              </a:rPr>
              <a:t> will open a file and return an iterator.</a:t>
            </a:r>
            <a:endParaRPr lang="en-GB" dirty="0"/>
          </a:p>
          <a:p>
            <a:pPr marL="457200" lvl="1" indent="-228600">
              <a:buSzPct val="114999"/>
              <a:buFont typeface="Arial"/>
              <a:buChar char="•"/>
            </a:pPr>
            <a:r>
              <a:rPr lang="en-GB" sz="1800" dirty="0">
                <a:latin typeface="Montserrat"/>
              </a:rPr>
              <a:t>Enumerate() also takes an optional </a:t>
            </a:r>
            <a:r>
              <a:rPr lang="en-GB" sz="1800" i="1" dirty="0">
                <a:latin typeface="Montserrat"/>
              </a:rPr>
              <a:t>start</a:t>
            </a:r>
            <a:r>
              <a:rPr lang="en-GB" sz="1800" dirty="0">
                <a:latin typeface="Montserrat"/>
              </a:rPr>
              <a:t> parameter.</a:t>
            </a:r>
            <a:endParaRPr lang="en-GB" dirty="0"/>
          </a:p>
          <a:p>
            <a:endParaRPr lang="en-GB" dirty="0"/>
          </a:p>
        </p:txBody>
      </p:sp>
      <p:sp>
        <p:nvSpPr>
          <p:cNvPr id="16388" name="Text Box 4"/>
          <p:cNvSpPr txBox="1">
            <a:spLocks noChangeArrowheads="1"/>
          </p:cNvSpPr>
          <p:nvPr/>
        </p:nvSpPr>
        <p:spPr bwMode="auto">
          <a:xfrm>
            <a:off x="797229" y="2185498"/>
            <a:ext cx="7736794" cy="64633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marL="342900" indent="-342900">
              <a:defRPr sz="1000">
                <a:solidFill>
                  <a:schemeClr val="tx1"/>
                </a:solidFill>
                <a:latin typeface="Arial" charset="0"/>
              </a:defRPr>
            </a:lvl1pPr>
            <a:lvl2pPr>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for </a:t>
            </a:r>
            <a:r>
              <a:rPr lang="en-GB" sz="1800" dirty="0" err="1">
                <a:latin typeface="Courier New" panose="02070309020205020404" pitchFamily="49" charset="0"/>
              </a:rPr>
              <a:t>idx</a:t>
            </a:r>
            <a:r>
              <a:rPr lang="en-GB" sz="1800" dirty="0">
                <a:latin typeface="Courier New" panose="02070309020205020404" pitchFamily="49" charset="0"/>
              </a:rPr>
              <a:t>, </a:t>
            </a:r>
            <a:r>
              <a:rPr lang="en-GB" sz="1800" dirty="0" err="1">
                <a:latin typeface="Courier New" panose="02070309020205020404" pitchFamily="49" charset="0"/>
              </a:rPr>
              <a:t>arg</a:t>
            </a:r>
            <a:r>
              <a:rPr lang="en-GB" sz="1800" dirty="0">
                <a:latin typeface="Courier New" panose="02070309020205020404" pitchFamily="49" charset="0"/>
              </a:rPr>
              <a:t> in </a:t>
            </a:r>
            <a:r>
              <a:rPr lang="en-GB" sz="1800" b="1" dirty="0">
                <a:latin typeface="Courier New" panose="02070309020205020404" pitchFamily="49" charset="0"/>
              </a:rPr>
              <a:t>enumerate</a:t>
            </a:r>
            <a:r>
              <a:rPr lang="en-GB" sz="1800" dirty="0">
                <a:latin typeface="Courier New" panose="02070309020205020404" pitchFamily="49" charset="0"/>
              </a:rPr>
              <a:t>(</a:t>
            </a:r>
            <a:r>
              <a:rPr lang="en-GB" sz="1800" dirty="0" err="1">
                <a:latin typeface="Courier New" panose="02070309020205020404" pitchFamily="49" charset="0"/>
              </a:rPr>
              <a:t>sys.argv</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print('index:’, </a:t>
            </a:r>
            <a:r>
              <a:rPr lang="en-GB" sz="1800" dirty="0" err="1">
                <a:latin typeface="Courier New" panose="02070309020205020404" pitchFamily="49" charset="0"/>
              </a:rPr>
              <a:t>idx</a:t>
            </a:r>
            <a:r>
              <a:rPr lang="en-GB" sz="1800" dirty="0">
                <a:latin typeface="Courier New" panose="02070309020205020404" pitchFamily="49" charset="0"/>
              </a:rPr>
              <a:t>, 'argument:', </a:t>
            </a:r>
            <a:r>
              <a:rPr lang="en-GB" sz="1800" dirty="0" err="1">
                <a:latin typeface="Courier New" panose="02070309020205020404" pitchFamily="49" charset="0"/>
              </a:rPr>
              <a:t>arg</a:t>
            </a:r>
            <a:r>
              <a:rPr lang="en-GB" sz="1800" dirty="0">
                <a:latin typeface="Courier New" panose="02070309020205020404" pitchFamily="49" charset="0"/>
              </a:rPr>
              <a:t>)</a:t>
            </a:r>
          </a:p>
        </p:txBody>
      </p:sp>
      <p:sp>
        <p:nvSpPr>
          <p:cNvPr id="16389" name="Text Box 5"/>
          <p:cNvSpPr txBox="1">
            <a:spLocks noChangeArrowheads="1"/>
          </p:cNvSpPr>
          <p:nvPr/>
        </p:nvSpPr>
        <p:spPr bwMode="auto">
          <a:xfrm>
            <a:off x="797228" y="4509091"/>
            <a:ext cx="7736794" cy="64633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for nr, line in enumerate(open('brian.txt'), </a:t>
            </a:r>
            <a:r>
              <a:rPr lang="en-GB" sz="1800" b="1" dirty="0">
                <a:latin typeface="Courier New" panose="02070309020205020404" pitchFamily="49" charset="0"/>
              </a:rPr>
              <a:t>start</a:t>
            </a:r>
            <a:r>
              <a:rPr lang="en-GB" sz="1800" dirty="0">
                <a:latin typeface="Courier New" panose="02070309020205020404" pitchFamily="49" charset="0"/>
              </a:rPr>
              <a:t>=1):</a:t>
            </a:r>
          </a:p>
          <a:p>
            <a:pPr>
              <a:spcBef>
                <a:spcPct val="0"/>
              </a:spcBef>
            </a:pPr>
            <a:r>
              <a:rPr lang="en-GB" sz="1800" dirty="0">
                <a:latin typeface="Courier New" panose="02070309020205020404" pitchFamily="49" charset="0"/>
              </a:rPr>
              <a:t>    print(nr, line, end="")</a:t>
            </a:r>
          </a:p>
        </p:txBody>
      </p:sp>
      <p:sp>
        <p:nvSpPr>
          <p:cNvPr id="16390" name="Text Box 6"/>
          <p:cNvSpPr txBox="1">
            <a:spLocks noChangeArrowheads="1"/>
          </p:cNvSpPr>
          <p:nvPr/>
        </p:nvSpPr>
        <p:spPr bwMode="auto">
          <a:xfrm>
            <a:off x="2125284" y="5649701"/>
            <a:ext cx="6408738" cy="925513"/>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1 Some things in life are bad</a:t>
            </a:r>
          </a:p>
          <a:p>
            <a:pPr>
              <a:spcBef>
                <a:spcPct val="0"/>
              </a:spcBef>
            </a:pPr>
            <a:r>
              <a:rPr lang="en-GB" sz="1800" dirty="0">
                <a:latin typeface="Courier New" panose="02070309020205020404" pitchFamily="49" charset="0"/>
              </a:rPr>
              <a:t>2 They can really make you mad</a:t>
            </a:r>
          </a:p>
          <a:p>
            <a:pPr>
              <a:spcBef>
                <a:spcPct val="0"/>
              </a:spcBef>
            </a:pPr>
            <a:r>
              <a:rPr lang="en-GB" sz="1800" dirty="0">
                <a:latin typeface="Courier New" panose="02070309020205020404" pitchFamily="49" charset="0"/>
              </a:rPr>
              <a:t>3 Other things just make you swear and curse.</a:t>
            </a:r>
          </a:p>
        </p:txBody>
      </p:sp>
      <p:sp>
        <p:nvSpPr>
          <p:cNvPr id="16391" name="Oval 7"/>
          <p:cNvSpPr>
            <a:spLocks noChangeArrowheads="1"/>
          </p:cNvSpPr>
          <p:nvPr/>
        </p:nvSpPr>
        <p:spPr bwMode="auto">
          <a:xfrm>
            <a:off x="2830133" y="4760481"/>
            <a:ext cx="557979" cy="519351"/>
          </a:xfrm>
          <a:prstGeom prst="ellipse">
            <a:avLst/>
          </a:prstGeom>
          <a:noFill/>
          <a:ln w="12700">
            <a:solidFill>
              <a:srgbClr val="C80000"/>
            </a:solidFill>
            <a:round/>
            <a:headEnd/>
            <a:tailEnd/>
          </a:ln>
          <a:extLst>
            <a:ext uri="{909E8E84-426E-40dd-AFC4-6F175D3DCCD1}">
              <a14:hiddenFill xmlns="" xmlns:a14="http://schemas.microsoft.com/office/drawing/2010/main">
                <a:solidFill>
                  <a:srgbClr val="FFFFFF"/>
                </a:solidFill>
              </a14:hiddenFill>
            </a:ext>
          </a:extLst>
        </p:spPr>
        <p:txBody>
          <a:bodyPr wrap="square" anchor="ctr">
            <a:spAutoFit/>
          </a:bodyPr>
          <a:lstStyle/>
          <a:p>
            <a:endParaRPr lang="en-US"/>
          </a:p>
        </p:txBody>
      </p:sp>
      <p:sp>
        <p:nvSpPr>
          <p:cNvPr id="16392" name="Line 9"/>
          <p:cNvSpPr>
            <a:spLocks noChangeShapeType="1"/>
          </p:cNvSpPr>
          <p:nvPr/>
        </p:nvSpPr>
        <p:spPr bwMode="auto">
          <a:xfrm>
            <a:off x="2410690" y="5279360"/>
            <a:ext cx="0" cy="463550"/>
          </a:xfrm>
          <a:prstGeom prst="line">
            <a:avLst/>
          </a:prstGeom>
          <a:noFill/>
          <a:ln w="19050">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6393" name="Text Box 10"/>
          <p:cNvSpPr txBox="1">
            <a:spLocks noChangeArrowheads="1"/>
          </p:cNvSpPr>
          <p:nvPr/>
        </p:nvSpPr>
        <p:spPr bwMode="auto">
          <a:xfrm>
            <a:off x="480575" y="5619179"/>
            <a:ext cx="1610914" cy="1077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lgn="r"/>
            <a:r>
              <a:rPr lang="en-GB" sz="1600" dirty="0"/>
              <a:t>line numbers start from 1, sequences start at 0</a:t>
            </a:r>
            <a:endParaRPr lang="en-US"/>
          </a:p>
        </p:txBody>
      </p:sp>
      <p:sp>
        <p:nvSpPr>
          <p:cNvPr id="16394" name="Oval 11"/>
          <p:cNvSpPr>
            <a:spLocks noChangeArrowheads="1"/>
          </p:cNvSpPr>
          <p:nvPr/>
        </p:nvSpPr>
        <p:spPr bwMode="auto">
          <a:xfrm>
            <a:off x="2200311" y="4754747"/>
            <a:ext cx="439738" cy="519351"/>
          </a:xfrm>
          <a:prstGeom prst="ellipse">
            <a:avLst/>
          </a:prstGeom>
          <a:noFill/>
          <a:ln w="12700">
            <a:solidFill>
              <a:srgbClr val="C80000"/>
            </a:solidFill>
            <a:round/>
            <a:headEnd/>
            <a:tailEnd/>
          </a:ln>
          <a:extLst>
            <a:ext uri="{909E8E84-426E-40dd-AFC4-6F175D3DCCD1}">
              <a14:hiddenFill xmlns="" xmlns:a14="http://schemas.microsoft.com/office/drawing/2010/main">
                <a:solidFill>
                  <a:srgbClr val="FFFFFF"/>
                </a:solidFill>
              </a14:hiddenFill>
            </a:ext>
          </a:extLst>
        </p:spPr>
        <p:txBody>
          <a:bodyPr wrap="square" anchor="ctr">
            <a:spAutoFit/>
          </a:bodyPr>
          <a:lstStyle/>
          <a:p>
            <a:endParaRPr lang="en-US"/>
          </a:p>
        </p:txBody>
      </p:sp>
      <p:sp>
        <p:nvSpPr>
          <p:cNvPr id="2" name="Line 9">
            <a:extLst>
              <a:ext uri="{FF2B5EF4-FFF2-40B4-BE49-F238E27FC236}">
                <a16:creationId xmlns:a16="http://schemas.microsoft.com/office/drawing/2014/main" id="{B2606215-9226-FFF6-F2E0-861C8B21C39E}"/>
              </a:ext>
            </a:extLst>
          </p:cNvPr>
          <p:cNvSpPr>
            <a:spLocks noChangeShapeType="1"/>
          </p:cNvSpPr>
          <p:nvPr/>
        </p:nvSpPr>
        <p:spPr bwMode="auto">
          <a:xfrm>
            <a:off x="3112352" y="5276441"/>
            <a:ext cx="0" cy="463550"/>
          </a:xfrm>
          <a:prstGeom prst="line">
            <a:avLst/>
          </a:prstGeom>
          <a:noFill/>
          <a:ln w="19050">
            <a:solidFill>
              <a:schemeClr val="tx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a:p>
        </p:txBody>
      </p:sp>
      <p:sp>
        <p:nvSpPr>
          <p:cNvPr id="3" name="Slide Number Placeholder 2">
            <a:extLst>
              <a:ext uri="{FF2B5EF4-FFF2-40B4-BE49-F238E27FC236}">
                <a16:creationId xmlns:a16="http://schemas.microsoft.com/office/drawing/2014/main" id="{0AEBF4A8-F4FC-EFA7-B95F-E8FF72D3536C}"/>
              </a:ext>
            </a:extLst>
          </p:cNvPr>
          <p:cNvSpPr>
            <a:spLocks noGrp="1"/>
          </p:cNvSpPr>
          <p:nvPr>
            <p:ph type="sldNum" sz="quarter" idx="4"/>
          </p:nvPr>
        </p:nvSpPr>
        <p:spPr/>
        <p:txBody>
          <a:bodyPr/>
          <a:lstStyle/>
          <a:p>
            <a:fld id="{EF892D59-8F09-EF4B-AD6D-DA609442F868}" type="slidenum">
              <a:rPr lang="en-GB" smtClean="0"/>
              <a:pPr/>
              <a:t>17</a:t>
            </a:fld>
            <a:endParaRPr lang="en-GB" dirty="0"/>
          </a:p>
        </p:txBody>
      </p:sp>
    </p:spTree>
    <p:extLst>
      <p:ext uri="{BB962C8B-B14F-4D97-AF65-F5344CB8AC3E}">
        <p14:creationId xmlns:p14="http://schemas.microsoft.com/office/powerpoint/2010/main" val="639504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004000" y="311614"/>
            <a:ext cx="11517818" cy="805001"/>
          </a:xfrm>
        </p:spPr>
        <p:txBody>
          <a:bodyPr/>
          <a:lstStyle/>
          <a:p>
            <a:pPr eaLnBrk="1" hangingPunct="1"/>
            <a:r>
              <a:rPr lang="en-GB" dirty="0"/>
              <a:t>Counting 'for' loops</a:t>
            </a:r>
          </a:p>
        </p:txBody>
      </p:sp>
      <p:sp>
        <p:nvSpPr>
          <p:cNvPr id="17412" name="Rectangle 3"/>
          <p:cNvSpPr>
            <a:spLocks noGrp="1" noChangeArrowheads="1"/>
          </p:cNvSpPr>
          <p:nvPr>
            <p:ph idx="1"/>
          </p:nvPr>
        </p:nvSpPr>
        <p:spPr/>
        <p:txBody>
          <a:bodyPr/>
          <a:lstStyle/>
          <a:p>
            <a:r>
              <a:rPr lang="en-GB" b="1" dirty="0">
                <a:latin typeface="Montserrat"/>
              </a:rPr>
              <a:t>Using the </a:t>
            </a:r>
            <a:r>
              <a:rPr lang="en-GB" b="1" dirty="0" err="1">
                <a:latin typeface="Montserrat"/>
              </a:rPr>
              <a:t>builtin</a:t>
            </a:r>
            <a:r>
              <a:rPr lang="en-GB" b="1" dirty="0">
                <a:latin typeface="Montserrat"/>
              </a:rPr>
              <a:t> </a:t>
            </a:r>
            <a:r>
              <a:rPr lang="en-GB" b="1" dirty="0">
                <a:latin typeface="Courier New"/>
                <a:cs typeface="Courier New"/>
              </a:rPr>
              <a:t>range()</a:t>
            </a:r>
            <a:r>
              <a:rPr lang="en-GB" b="1" dirty="0">
                <a:latin typeface="Montserrat"/>
              </a:rPr>
              <a:t> function:</a:t>
            </a:r>
            <a:endParaRPr lang="en-US" dirty="0"/>
          </a:p>
          <a:p>
            <a:endParaRPr lang="en-GB" sz="1600" dirty="0"/>
          </a:p>
          <a:p>
            <a:pPr lvl="1"/>
            <a:endParaRPr lang="en-GB" dirty="0"/>
          </a:p>
          <a:p>
            <a:pPr lvl="1"/>
            <a:endParaRPr lang="en-GB" dirty="0"/>
          </a:p>
          <a:p>
            <a:pPr lvl="1"/>
            <a:endParaRPr lang="en-GB" dirty="0"/>
          </a:p>
          <a:p>
            <a:pPr marL="457200" lvl="1" indent="-228600">
              <a:buFont typeface="Arial" panose="020B0604020202020204" pitchFamily="34" charset="0"/>
              <a:buChar char="•"/>
            </a:pPr>
            <a:r>
              <a:rPr lang="en-GB" sz="1800" dirty="0"/>
              <a:t>But this maintains its own iterator:</a:t>
            </a:r>
          </a:p>
          <a:p>
            <a:pPr lvl="1"/>
            <a:endParaRPr lang="en-GB" dirty="0"/>
          </a:p>
          <a:p>
            <a:pPr lvl="2"/>
            <a:endParaRPr lang="en-GB" dirty="0"/>
          </a:p>
          <a:p>
            <a:pPr marL="457200" lvl="1" indent="-228600">
              <a:buFont typeface="Arial" panose="020B0604020202020204" pitchFamily="34" charset="0"/>
              <a:buChar char="•"/>
            </a:pPr>
            <a:r>
              <a:rPr lang="en-GB" sz="1800" dirty="0"/>
              <a:t>Use a system generated one instead:</a:t>
            </a:r>
          </a:p>
          <a:p>
            <a:pPr lvl="2"/>
            <a:endParaRPr lang="en-GB" dirty="0"/>
          </a:p>
          <a:p>
            <a:pPr lvl="2"/>
            <a:endParaRPr lang="en-GB" dirty="0"/>
          </a:p>
          <a:p>
            <a:pPr marL="457200" indent="-228600">
              <a:buFont typeface="Arial" panose="020B0604020202020204" pitchFamily="34" charset="0"/>
              <a:buChar char="•"/>
            </a:pPr>
            <a:r>
              <a:rPr lang="en-GB" sz="1800" dirty="0">
                <a:latin typeface="Montserrat"/>
              </a:rPr>
              <a:t>But an </a:t>
            </a:r>
            <a:r>
              <a:rPr lang="en-GB" sz="1800" b="1" dirty="0">
                <a:latin typeface="Montserrat"/>
              </a:rPr>
              <a:t>index </a:t>
            </a:r>
            <a:r>
              <a:rPr lang="en-GB" sz="1800" dirty="0">
                <a:latin typeface="Montserrat"/>
              </a:rPr>
              <a:t>is needed to alter the sequence:</a:t>
            </a:r>
          </a:p>
        </p:txBody>
      </p:sp>
      <p:sp>
        <p:nvSpPr>
          <p:cNvPr id="17414" name="Text Box 4"/>
          <p:cNvSpPr txBox="1">
            <a:spLocks noChangeArrowheads="1"/>
          </p:cNvSpPr>
          <p:nvPr/>
        </p:nvSpPr>
        <p:spPr bwMode="auto">
          <a:xfrm>
            <a:off x="832077" y="2346771"/>
            <a:ext cx="6157912"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for </a:t>
            </a:r>
            <a:r>
              <a:rPr lang="en-US" sz="1800" dirty="0" err="1">
                <a:latin typeface="Courier New" panose="02070309020205020404" pitchFamily="49" charset="0"/>
              </a:rPr>
              <a:t>i</a:t>
            </a:r>
            <a:r>
              <a:rPr lang="en-US" sz="1800" dirty="0">
                <a:latin typeface="Courier New" panose="02070309020205020404" pitchFamily="49" charset="0"/>
              </a:rPr>
              <a:t> in range(0, </a:t>
            </a:r>
            <a:r>
              <a:rPr lang="en-US" sz="1800" dirty="0" err="1">
                <a:latin typeface="Courier New" panose="02070309020205020404" pitchFamily="49" charset="0"/>
              </a:rPr>
              <a:t>len</a:t>
            </a:r>
            <a:r>
              <a:rPr lang="en-US" sz="1800" dirty="0">
                <a:latin typeface="Courier New" panose="02070309020205020404" pitchFamily="49" charset="0"/>
              </a:rPr>
              <a:t>(</a:t>
            </a:r>
            <a:r>
              <a:rPr lang="en-US" sz="1800" dirty="0" err="1">
                <a:latin typeface="Courier New" panose="02070309020205020404" pitchFamily="49" charset="0"/>
              </a:rPr>
              <a:t>some_list</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if </a:t>
            </a:r>
            <a:r>
              <a:rPr lang="en-US" sz="1800" dirty="0" err="1">
                <a:latin typeface="Courier New" panose="02070309020205020404" pitchFamily="49" charset="0"/>
              </a:rPr>
              <a:t>some_list</a:t>
            </a:r>
            <a:r>
              <a:rPr lang="en-US" sz="1800" dirty="0">
                <a:latin typeface="Courier New" panose="02070309020205020404" pitchFamily="49" charset="0"/>
              </a:rPr>
              <a:t>[</a:t>
            </a:r>
            <a:r>
              <a:rPr lang="en-US" sz="1800" dirty="0" err="1">
                <a:latin typeface="Courier New" panose="02070309020205020404" pitchFamily="49" charset="0"/>
              </a:rPr>
              <a:t>i</a:t>
            </a:r>
            <a:r>
              <a:rPr lang="en-US" sz="1800" dirty="0">
                <a:latin typeface="Courier New" panose="02070309020205020404" pitchFamily="49" charset="0"/>
              </a:rPr>
              <a:t>] &gt; 42: </a:t>
            </a:r>
            <a:r>
              <a:rPr lang="en-US" sz="1800" dirty="0" err="1">
                <a:latin typeface="Courier New" panose="02070309020205020404" pitchFamily="49" charset="0"/>
              </a:rPr>
              <a:t>some_list</a:t>
            </a:r>
            <a:r>
              <a:rPr lang="en-US" sz="1800" dirty="0">
                <a:latin typeface="Courier New" panose="02070309020205020404" pitchFamily="49" charset="0"/>
              </a:rPr>
              <a:t>[</a:t>
            </a:r>
            <a:r>
              <a:rPr lang="en-US" sz="1800" dirty="0" err="1">
                <a:latin typeface="Courier New" panose="02070309020205020404" pitchFamily="49" charset="0"/>
              </a:rPr>
              <a:t>i</a:t>
            </a:r>
            <a:r>
              <a:rPr lang="en-US" sz="1800" dirty="0">
                <a:latin typeface="Courier New" panose="02070309020205020404" pitchFamily="49" charset="0"/>
              </a:rPr>
              <a:t>] += 1</a:t>
            </a:r>
            <a:endParaRPr lang="en-GB" sz="1800" dirty="0">
              <a:latin typeface="Courier New" panose="02070309020205020404" pitchFamily="49" charset="0"/>
            </a:endParaRPr>
          </a:p>
        </p:txBody>
      </p:sp>
      <p:sp>
        <p:nvSpPr>
          <p:cNvPr id="17415" name="Text Box 5"/>
          <p:cNvSpPr txBox="1">
            <a:spLocks noChangeArrowheads="1"/>
          </p:cNvSpPr>
          <p:nvPr/>
        </p:nvSpPr>
        <p:spPr bwMode="auto">
          <a:xfrm>
            <a:off x="804320" y="3609442"/>
            <a:ext cx="6157913"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for </a:t>
            </a:r>
            <a:r>
              <a:rPr lang="en-US" sz="1800" dirty="0" err="1">
                <a:latin typeface="Courier New" panose="02070309020205020404" pitchFamily="49" charset="0"/>
              </a:rPr>
              <a:t>i</a:t>
            </a:r>
            <a:r>
              <a:rPr lang="en-US" sz="1800" dirty="0">
                <a:latin typeface="Courier New" panose="02070309020205020404" pitchFamily="49" charset="0"/>
              </a:rPr>
              <a:t> in range(0, </a:t>
            </a:r>
            <a:r>
              <a:rPr lang="en-US" sz="1800" dirty="0" err="1">
                <a:latin typeface="Courier New" panose="02070309020205020404" pitchFamily="49" charset="0"/>
              </a:rPr>
              <a:t>len</a:t>
            </a:r>
            <a:r>
              <a:rPr lang="en-US" sz="1800" dirty="0">
                <a:latin typeface="Courier New" panose="02070309020205020404" pitchFamily="49" charset="0"/>
              </a:rPr>
              <a:t>(</a:t>
            </a:r>
            <a:r>
              <a:rPr lang="en-US" sz="1800" dirty="0" err="1">
                <a:latin typeface="Courier New" panose="02070309020205020404" pitchFamily="49" charset="0"/>
              </a:rPr>
              <a:t>some_list</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print(</a:t>
            </a:r>
            <a:r>
              <a:rPr lang="en-US" sz="1800" dirty="0" err="1">
                <a:latin typeface="Courier New" panose="02070309020205020404" pitchFamily="49" charset="0"/>
              </a:rPr>
              <a:t>some_list</a:t>
            </a:r>
            <a:r>
              <a:rPr lang="en-US" sz="1800" dirty="0">
                <a:latin typeface="Courier New" panose="02070309020205020404" pitchFamily="49" charset="0"/>
              </a:rPr>
              <a:t>[</a:t>
            </a:r>
            <a:r>
              <a:rPr lang="en-US" sz="1800" dirty="0" err="1">
                <a:latin typeface="Courier New" panose="02070309020205020404" pitchFamily="49" charset="0"/>
              </a:rPr>
              <a:t>i</a:t>
            </a:r>
            <a:r>
              <a:rPr lang="en-US" sz="1800" dirty="0">
                <a:latin typeface="Courier New" panose="02070309020205020404" pitchFamily="49" charset="0"/>
              </a:rPr>
              <a:t>])</a:t>
            </a:r>
          </a:p>
        </p:txBody>
      </p:sp>
      <p:sp>
        <p:nvSpPr>
          <p:cNvPr id="17416" name="Text Box 6"/>
          <p:cNvSpPr txBox="1">
            <a:spLocks noChangeArrowheads="1"/>
          </p:cNvSpPr>
          <p:nvPr/>
        </p:nvSpPr>
        <p:spPr bwMode="auto">
          <a:xfrm>
            <a:off x="827925" y="1799596"/>
            <a:ext cx="3462161" cy="369332"/>
          </a:xfrm>
          <a:prstGeom prst="rect">
            <a:avLst/>
          </a:prstGeom>
          <a:noFill/>
          <a:ln>
            <a:solidFill>
              <a:srgbClr val="004050"/>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20000"/>
              </a:spcBef>
            </a:pPr>
            <a:r>
              <a:rPr lang="en-GB" sz="1800" b="1" dirty="0">
                <a:latin typeface="Courier New"/>
                <a:cs typeface="Courier New"/>
              </a:rPr>
              <a:t>range</a:t>
            </a:r>
            <a:r>
              <a:rPr lang="en-GB" sz="1800" dirty="0">
                <a:latin typeface="Arial"/>
                <a:cs typeface="Arial"/>
              </a:rPr>
              <a:t>([</a:t>
            </a:r>
            <a:r>
              <a:rPr lang="en-GB" sz="1800" i="1" dirty="0">
                <a:latin typeface="Arial"/>
                <a:cs typeface="Arial"/>
              </a:rPr>
              <a:t>start</a:t>
            </a:r>
            <a:r>
              <a:rPr lang="en-GB" sz="1800" dirty="0">
                <a:latin typeface="Arial"/>
                <a:cs typeface="Arial"/>
              </a:rPr>
              <a:t>], </a:t>
            </a:r>
            <a:r>
              <a:rPr lang="en-GB" sz="1800" i="1" dirty="0">
                <a:latin typeface="Arial"/>
                <a:cs typeface="Arial"/>
              </a:rPr>
              <a:t>stop</a:t>
            </a:r>
            <a:r>
              <a:rPr lang="en-GB" sz="1800" dirty="0">
                <a:latin typeface="Arial"/>
                <a:cs typeface="Arial"/>
              </a:rPr>
              <a:t>[, </a:t>
            </a:r>
            <a:r>
              <a:rPr lang="en-GB" sz="1800" i="1" dirty="0">
                <a:latin typeface="Arial"/>
                <a:cs typeface="Arial"/>
              </a:rPr>
              <a:t>step</a:t>
            </a:r>
            <a:r>
              <a:rPr lang="en-GB" sz="1800" dirty="0">
                <a:latin typeface="Arial"/>
                <a:cs typeface="Arial"/>
              </a:rPr>
              <a:t>]) </a:t>
            </a:r>
            <a:endParaRPr lang="en-GB" sz="1800" dirty="0">
              <a:cs typeface="Arial"/>
            </a:endParaRPr>
          </a:p>
        </p:txBody>
      </p:sp>
      <p:sp>
        <p:nvSpPr>
          <p:cNvPr id="17417" name="Text Box 7"/>
          <p:cNvSpPr txBox="1">
            <a:spLocks noChangeArrowheads="1"/>
          </p:cNvSpPr>
          <p:nvPr/>
        </p:nvSpPr>
        <p:spPr bwMode="auto">
          <a:xfrm>
            <a:off x="804322" y="4763598"/>
            <a:ext cx="6180138"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for </a:t>
            </a:r>
            <a:r>
              <a:rPr lang="en-US" sz="1800" dirty="0" err="1">
                <a:latin typeface="Courier New" panose="02070309020205020404" pitchFamily="49" charset="0"/>
              </a:rPr>
              <a:t>num</a:t>
            </a:r>
            <a:r>
              <a:rPr lang="en-US" sz="1800" dirty="0">
                <a:latin typeface="Courier New" panose="02070309020205020404" pitchFamily="49" charset="0"/>
              </a:rPr>
              <a:t> in </a:t>
            </a:r>
            <a:r>
              <a:rPr lang="en-US" sz="1800" dirty="0" err="1">
                <a:latin typeface="Courier New" panose="02070309020205020404" pitchFamily="49" charset="0"/>
              </a:rPr>
              <a:t>some_list</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print(</a:t>
            </a:r>
            <a:r>
              <a:rPr lang="en-US" sz="1800" dirty="0" err="1">
                <a:latin typeface="Courier New" panose="02070309020205020404" pitchFamily="49" charset="0"/>
              </a:rPr>
              <a:t>num</a:t>
            </a:r>
            <a:r>
              <a:rPr lang="en-US" sz="1800" dirty="0">
                <a:latin typeface="Courier New" panose="02070309020205020404" pitchFamily="49" charset="0"/>
              </a:rPr>
              <a:t>)</a:t>
            </a:r>
          </a:p>
        </p:txBody>
      </p:sp>
      <p:sp>
        <p:nvSpPr>
          <p:cNvPr id="17420" name="Text Box 15"/>
          <p:cNvSpPr txBox="1">
            <a:spLocks noChangeArrowheads="1"/>
          </p:cNvSpPr>
          <p:nvPr/>
        </p:nvSpPr>
        <p:spPr bwMode="auto">
          <a:xfrm>
            <a:off x="802373" y="6001879"/>
            <a:ext cx="6157913"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for </a:t>
            </a:r>
            <a:r>
              <a:rPr lang="en-GB" sz="1800" dirty="0" err="1">
                <a:latin typeface="Courier New" panose="02070309020205020404" pitchFamily="49" charset="0"/>
              </a:rPr>
              <a:t>idx</a:t>
            </a:r>
            <a:r>
              <a:rPr lang="en-GB" sz="1800" dirty="0">
                <a:latin typeface="Courier New" panose="02070309020205020404" pitchFamily="49" charset="0"/>
              </a:rPr>
              <a:t>, </a:t>
            </a:r>
            <a:r>
              <a:rPr lang="en-GB" sz="1800" dirty="0" err="1">
                <a:latin typeface="Courier New" panose="02070309020205020404" pitchFamily="49" charset="0"/>
              </a:rPr>
              <a:t>num</a:t>
            </a:r>
            <a:r>
              <a:rPr lang="en-GB" sz="1800" dirty="0">
                <a:latin typeface="Courier New" panose="02070309020205020404" pitchFamily="49" charset="0"/>
              </a:rPr>
              <a:t> in enumerate(</a:t>
            </a:r>
            <a:r>
              <a:rPr lang="en-GB" sz="1800" dirty="0" err="1">
                <a:latin typeface="Courier New" panose="02070309020205020404" pitchFamily="49" charset="0"/>
              </a:rPr>
              <a:t>some_list</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if </a:t>
            </a:r>
            <a:r>
              <a:rPr lang="en-GB" sz="1800" dirty="0" err="1">
                <a:latin typeface="Courier New" panose="02070309020205020404" pitchFamily="49" charset="0"/>
              </a:rPr>
              <a:t>num</a:t>
            </a:r>
            <a:r>
              <a:rPr lang="en-GB" sz="1800" dirty="0">
                <a:latin typeface="Courier New" panose="02070309020205020404" pitchFamily="49" charset="0"/>
              </a:rPr>
              <a:t> &gt; 42: </a:t>
            </a:r>
            <a:r>
              <a:rPr lang="en-GB" sz="1800" dirty="0" err="1">
                <a:latin typeface="Courier New" panose="02070309020205020404" pitchFamily="49" charset="0"/>
              </a:rPr>
              <a:t>some_list</a:t>
            </a:r>
            <a:r>
              <a:rPr lang="en-GB" sz="1800" dirty="0">
                <a:latin typeface="Courier New" panose="02070309020205020404" pitchFamily="49" charset="0"/>
              </a:rPr>
              <a:t>[</a:t>
            </a:r>
            <a:r>
              <a:rPr lang="en-GB" sz="1800" dirty="0" err="1">
                <a:latin typeface="Courier New" panose="02070309020205020404" pitchFamily="49" charset="0"/>
              </a:rPr>
              <a:t>idx</a:t>
            </a:r>
            <a:r>
              <a:rPr lang="en-GB" sz="1800" dirty="0">
                <a:latin typeface="Courier New" panose="02070309020205020404" pitchFamily="49" charset="0"/>
              </a:rPr>
              <a:t>] += 1</a:t>
            </a:r>
          </a:p>
        </p:txBody>
      </p:sp>
      <p:sp>
        <p:nvSpPr>
          <p:cNvPr id="2" name="Slide Number Placeholder 1">
            <a:extLst>
              <a:ext uri="{FF2B5EF4-FFF2-40B4-BE49-F238E27FC236}">
                <a16:creationId xmlns:a16="http://schemas.microsoft.com/office/drawing/2014/main" id="{E390E5C9-8C63-9B36-6ACB-D5F189B4C55A}"/>
              </a:ext>
            </a:extLst>
          </p:cNvPr>
          <p:cNvSpPr>
            <a:spLocks noGrp="1"/>
          </p:cNvSpPr>
          <p:nvPr>
            <p:ph type="sldNum" sz="quarter" idx="4"/>
          </p:nvPr>
        </p:nvSpPr>
        <p:spPr/>
        <p:txBody>
          <a:bodyPr/>
          <a:lstStyle/>
          <a:p>
            <a:fld id="{EF892D59-8F09-EF4B-AD6D-DA609442F868}" type="slidenum">
              <a:rPr lang="en-GB" smtClean="0"/>
              <a:pPr/>
              <a:t>18</a:t>
            </a:fld>
            <a:endParaRPr lang="en-GB" dirty="0"/>
          </a:p>
        </p:txBody>
      </p:sp>
    </p:spTree>
    <p:extLst>
      <p:ext uri="{BB962C8B-B14F-4D97-AF65-F5344CB8AC3E}">
        <p14:creationId xmlns:p14="http://schemas.microsoft.com/office/powerpoint/2010/main" val="192820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93114" y="314952"/>
            <a:ext cx="11517818" cy="805001"/>
          </a:xfrm>
        </p:spPr>
        <p:txBody>
          <a:bodyPr/>
          <a:lstStyle/>
          <a:p>
            <a:r>
              <a:rPr lang="en-GB" dirty="0"/>
              <a:t>Zipping through multiple related lists </a:t>
            </a:r>
          </a:p>
        </p:txBody>
      </p:sp>
      <p:sp>
        <p:nvSpPr>
          <p:cNvPr id="18435" name="Rectangle 3"/>
          <p:cNvSpPr>
            <a:spLocks noGrp="1" noChangeArrowheads="1"/>
          </p:cNvSpPr>
          <p:nvPr>
            <p:ph idx="1"/>
          </p:nvPr>
        </p:nvSpPr>
        <p:spPr/>
        <p:txBody>
          <a:bodyPr/>
          <a:lstStyle/>
          <a:p>
            <a:r>
              <a:rPr lang="en-GB" b="1" dirty="0">
                <a:latin typeface="Montserrat"/>
              </a:rPr>
              <a:t>The zip built-in returns an iterator of tuples:</a:t>
            </a:r>
            <a:endParaRPr lang="en-US" dirty="0">
              <a:latin typeface="Montserrat"/>
            </a:endParaRPr>
          </a:p>
          <a:p>
            <a:pPr marL="514350" lvl="1" indent="-285750">
              <a:buSzPct val="114999"/>
              <a:buFont typeface="Arial"/>
              <a:buChar char="•"/>
            </a:pPr>
            <a:r>
              <a:rPr lang="en-GB" sz="1800" dirty="0">
                <a:latin typeface="Montserrat"/>
              </a:rPr>
              <a:t>Can convert to a list using </a:t>
            </a:r>
            <a:r>
              <a:rPr lang="en-GB" sz="1800" dirty="0">
                <a:latin typeface="Courier New"/>
                <a:cs typeface="Courier New"/>
              </a:rPr>
              <a:t>list().</a:t>
            </a:r>
            <a:endParaRPr lang="en-GB" sz="1800" dirty="0">
              <a:latin typeface="Montserrat"/>
            </a:endParaRPr>
          </a:p>
          <a:p>
            <a:pPr marL="514350" lvl="1" indent="-285750">
              <a:buSzPct val="114999"/>
              <a:buFont typeface="Arial"/>
              <a:buChar char="•"/>
            </a:pPr>
            <a:r>
              <a:rPr lang="en-GB" sz="1800" dirty="0">
                <a:latin typeface="Montserrat"/>
              </a:rPr>
              <a:t>Can consume a lot of memory.</a:t>
            </a:r>
            <a:endParaRPr lang="en-US" dirty="0">
              <a:latin typeface="Montserrat"/>
            </a:endParaRPr>
          </a:p>
          <a:p>
            <a:pPr marL="514350" lvl="1" indent="-285750">
              <a:buSzPct val="114999"/>
              <a:buFont typeface="Arial"/>
              <a:buChar char="•"/>
            </a:pPr>
            <a:r>
              <a:rPr lang="en-GB" sz="1800" dirty="0">
                <a:latin typeface="Montserrat"/>
              </a:rPr>
              <a:t>Useful for stepping through parallel lists.</a:t>
            </a:r>
            <a:endParaRPr lang="en-US" dirty="0">
              <a:latin typeface="Montserrat"/>
            </a:endParaRPr>
          </a:p>
        </p:txBody>
      </p:sp>
      <p:sp>
        <p:nvSpPr>
          <p:cNvPr id="18436" name="Text Box 4"/>
          <p:cNvSpPr txBox="1">
            <a:spLocks noChangeArrowheads="1"/>
          </p:cNvSpPr>
          <p:nvPr/>
        </p:nvSpPr>
        <p:spPr bwMode="auto">
          <a:xfrm>
            <a:off x="845186" y="2935736"/>
            <a:ext cx="7927975" cy="229870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farms   = ['Home Farm', '</a:t>
            </a:r>
            <a:r>
              <a:rPr lang="en-GB" sz="1800" dirty="0" err="1">
                <a:latin typeface="Courier New" panose="02070309020205020404" pitchFamily="49" charset="0"/>
              </a:rPr>
              <a:t>Muckworthy</a:t>
            </a:r>
            <a:r>
              <a:rPr lang="en-GB" sz="1800" dirty="0">
                <a:latin typeface="Courier New" panose="02070309020205020404" pitchFamily="49" charset="0"/>
              </a:rPr>
              <a:t>', </a:t>
            </a:r>
          </a:p>
          <a:p>
            <a:pPr>
              <a:spcBef>
                <a:spcPct val="0"/>
              </a:spcBef>
            </a:pPr>
            <a:r>
              <a:rPr lang="en-GB" sz="1800" dirty="0">
                <a:latin typeface="Courier New" panose="02070309020205020404" pitchFamily="49" charset="0"/>
              </a:rPr>
              <a:t>           'Scales End', 'Brown </a:t>
            </a:r>
            <a:r>
              <a:rPr lang="en-GB" sz="1800" dirty="0" err="1">
                <a:latin typeface="Courier New" panose="02070309020205020404" pitchFamily="49" charset="0"/>
              </a:rPr>
              <a:t>Rigg</a:t>
            </a:r>
            <a:r>
              <a:rPr lang="en-GB" sz="1800" dirty="0">
                <a:latin typeface="Courier New" panose="02070309020205020404" pitchFamily="49" charset="0"/>
              </a:rPr>
              <a:t>']</a:t>
            </a:r>
          </a:p>
          <a:p>
            <a:pPr>
              <a:spcBef>
                <a:spcPct val="0"/>
              </a:spcBef>
            </a:pPr>
            <a:r>
              <a:rPr lang="en-GB" sz="1800" dirty="0" err="1">
                <a:latin typeface="Courier New" panose="02070309020205020404" pitchFamily="49" charset="0"/>
              </a:rPr>
              <a:t>squirls</a:t>
            </a:r>
            <a:r>
              <a:rPr lang="en-GB" sz="1800" dirty="0">
                <a:latin typeface="Courier New" panose="02070309020205020404" pitchFamily="49" charset="0"/>
              </a:rPr>
              <a:t> = [42, 12, 2, 0]</a:t>
            </a:r>
          </a:p>
          <a:p>
            <a:pPr>
              <a:spcBef>
                <a:spcPct val="0"/>
              </a:spcBef>
            </a:pPr>
            <a:r>
              <a:rPr lang="en-GB" sz="1800" dirty="0">
                <a:latin typeface="Courier New" panose="02070309020205020404" pitchFamily="49" charset="0"/>
              </a:rPr>
              <a:t>rabbits = [395, 68, 57, 32]</a:t>
            </a:r>
          </a:p>
          <a:p>
            <a:pPr>
              <a:spcBef>
                <a:spcPct val="0"/>
              </a:spcBef>
            </a:pPr>
            <a:r>
              <a:rPr lang="en-GB" sz="1800" dirty="0">
                <a:latin typeface="Courier New" panose="02070309020205020404" pitchFamily="49" charset="0"/>
              </a:rPr>
              <a:t>moles   = [12, 8, 0, 29]</a:t>
            </a:r>
          </a:p>
          <a:p>
            <a:pPr>
              <a:spcBef>
                <a:spcPct val="0"/>
              </a:spcBef>
            </a:pPr>
            <a:endParaRPr lang="en-GB" sz="1800" dirty="0">
              <a:latin typeface="Courier New" panose="02070309020205020404" pitchFamily="49" charset="0"/>
            </a:endParaRPr>
          </a:p>
          <a:p>
            <a:pPr>
              <a:spcBef>
                <a:spcPct val="0"/>
              </a:spcBef>
            </a:pPr>
            <a:r>
              <a:rPr lang="en-GB" sz="1800">
                <a:latin typeface="Courier New" panose="02070309020205020404" pitchFamily="49" charset="0"/>
              </a:rPr>
              <a:t>for f</a:t>
            </a:r>
            <a:r>
              <a:rPr lang="en-GB" sz="1800" dirty="0">
                <a:latin typeface="Courier New" panose="02070309020205020404" pitchFamily="49" charset="0"/>
              </a:rPr>
              <a:t>, s, r</a:t>
            </a:r>
            <a:r>
              <a:rPr lang="en-GB" sz="1800">
                <a:latin typeface="Courier New" panose="02070309020205020404" pitchFamily="49" charset="0"/>
              </a:rPr>
              <a:t>, m </a:t>
            </a:r>
            <a:r>
              <a:rPr lang="en-GB" sz="1800" dirty="0">
                <a:latin typeface="Courier New" panose="02070309020205020404" pitchFamily="49" charset="0"/>
              </a:rPr>
              <a:t>in zip(farms, </a:t>
            </a:r>
            <a:r>
              <a:rPr lang="en-GB" sz="1800" dirty="0" err="1">
                <a:latin typeface="Courier New" panose="02070309020205020404" pitchFamily="49" charset="0"/>
              </a:rPr>
              <a:t>squirls</a:t>
            </a:r>
            <a:r>
              <a:rPr lang="en-GB" sz="1800" dirty="0">
                <a:latin typeface="Courier New" panose="02070309020205020404" pitchFamily="49" charset="0"/>
              </a:rPr>
              <a:t>, rabbits, moles):</a:t>
            </a:r>
          </a:p>
          <a:p>
            <a:pPr>
              <a:spcBef>
                <a:spcPct val="0"/>
              </a:spcBef>
            </a:pPr>
            <a:r>
              <a:rPr lang="en-GB" sz="1800" dirty="0">
                <a:latin typeface="Courier New" panose="02070309020205020404" pitchFamily="49" charset="0"/>
              </a:rPr>
              <a:t>    print ('Total for', f, ':', s + r + m)</a:t>
            </a:r>
          </a:p>
        </p:txBody>
      </p:sp>
      <p:sp>
        <p:nvSpPr>
          <p:cNvPr id="18437" name="Text Box 5"/>
          <p:cNvSpPr txBox="1">
            <a:spLocks noChangeArrowheads="1"/>
          </p:cNvSpPr>
          <p:nvPr/>
        </p:nvSpPr>
        <p:spPr bwMode="auto">
          <a:xfrm>
            <a:off x="7505144" y="4999822"/>
            <a:ext cx="3646487" cy="120015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Total for Home Farm : 449</a:t>
            </a:r>
          </a:p>
          <a:p>
            <a:pPr>
              <a:spcBef>
                <a:spcPct val="0"/>
              </a:spcBef>
            </a:pPr>
            <a:r>
              <a:rPr lang="en-US" sz="1800" dirty="0">
                <a:latin typeface="Courier New" panose="02070309020205020404" pitchFamily="49" charset="0"/>
              </a:rPr>
              <a:t>Total for </a:t>
            </a:r>
            <a:r>
              <a:rPr lang="en-US" sz="1800" dirty="0" err="1">
                <a:latin typeface="Courier New" panose="02070309020205020404" pitchFamily="49" charset="0"/>
              </a:rPr>
              <a:t>Muckworthy</a:t>
            </a:r>
            <a:r>
              <a:rPr lang="en-US" sz="1800" dirty="0">
                <a:latin typeface="Courier New" panose="02070309020205020404" pitchFamily="49" charset="0"/>
              </a:rPr>
              <a:t> : 88</a:t>
            </a:r>
          </a:p>
          <a:p>
            <a:pPr>
              <a:spcBef>
                <a:spcPct val="0"/>
              </a:spcBef>
            </a:pPr>
            <a:r>
              <a:rPr lang="en-US" sz="1800" dirty="0">
                <a:latin typeface="Courier New" panose="02070309020205020404" pitchFamily="49" charset="0"/>
              </a:rPr>
              <a:t>Total for Scales End : 59</a:t>
            </a:r>
          </a:p>
          <a:p>
            <a:pPr>
              <a:spcBef>
                <a:spcPct val="0"/>
              </a:spcBef>
            </a:pPr>
            <a:r>
              <a:rPr lang="en-US" sz="1800" dirty="0">
                <a:latin typeface="Courier New" panose="02070309020205020404" pitchFamily="49" charset="0"/>
              </a:rPr>
              <a:t>Total for Brown </a:t>
            </a:r>
            <a:r>
              <a:rPr lang="en-US" sz="1800" dirty="0" err="1">
                <a:latin typeface="Courier New" panose="02070309020205020404" pitchFamily="49" charset="0"/>
              </a:rPr>
              <a:t>Rigg</a:t>
            </a:r>
            <a:r>
              <a:rPr lang="en-US" sz="1800" dirty="0">
                <a:latin typeface="Courier New" panose="02070309020205020404" pitchFamily="49" charset="0"/>
              </a:rPr>
              <a:t> : 61</a:t>
            </a:r>
            <a:endParaRPr lang="en-GB" sz="1800" dirty="0">
              <a:latin typeface="Courier New" panose="02070309020205020404" pitchFamily="49" charset="0"/>
            </a:endParaRPr>
          </a:p>
        </p:txBody>
      </p:sp>
      <p:sp>
        <p:nvSpPr>
          <p:cNvPr id="18438" name="Text Box 6"/>
          <p:cNvSpPr txBox="1">
            <a:spLocks noChangeArrowheads="1"/>
          </p:cNvSpPr>
          <p:nvPr/>
        </p:nvSpPr>
        <p:spPr bwMode="auto">
          <a:xfrm>
            <a:off x="743225" y="5241014"/>
            <a:ext cx="3350597"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2000" dirty="0">
                <a:latin typeface="+mn-lt"/>
              </a:rPr>
              <a:t>*</a:t>
            </a:r>
            <a:r>
              <a:rPr lang="en-GB" sz="1600" dirty="0">
                <a:latin typeface="+mn-lt"/>
              </a:rPr>
              <a:t>A </a:t>
            </a:r>
            <a:r>
              <a:rPr lang="en-GB" sz="1600" dirty="0" err="1">
                <a:latin typeface="+mn-lt"/>
              </a:rPr>
              <a:t>squirl</a:t>
            </a:r>
            <a:r>
              <a:rPr lang="en-GB" sz="1600" dirty="0">
                <a:latin typeface="+mn-lt"/>
              </a:rPr>
              <a:t> is a truncated squirrel</a:t>
            </a:r>
          </a:p>
        </p:txBody>
      </p:sp>
      <p:sp>
        <p:nvSpPr>
          <p:cNvPr id="2" name="Slide Number Placeholder 1">
            <a:extLst>
              <a:ext uri="{FF2B5EF4-FFF2-40B4-BE49-F238E27FC236}">
                <a16:creationId xmlns:a16="http://schemas.microsoft.com/office/drawing/2014/main" id="{CB783F15-4A21-132C-1E31-D46BF6EE9333}"/>
              </a:ext>
            </a:extLst>
          </p:cNvPr>
          <p:cNvSpPr>
            <a:spLocks noGrp="1"/>
          </p:cNvSpPr>
          <p:nvPr>
            <p:ph type="sldNum" sz="quarter" idx="4"/>
          </p:nvPr>
        </p:nvSpPr>
        <p:spPr/>
        <p:txBody>
          <a:bodyPr/>
          <a:lstStyle/>
          <a:p>
            <a:fld id="{EF892D59-8F09-EF4B-AD6D-DA609442F868}" type="slidenum">
              <a:rPr lang="en-GB" smtClean="0"/>
              <a:pPr/>
              <a:t>19</a:t>
            </a:fld>
            <a:endParaRPr lang="en-GB" dirty="0"/>
          </a:p>
        </p:txBody>
      </p:sp>
    </p:spTree>
    <p:extLst>
      <p:ext uri="{BB962C8B-B14F-4D97-AF65-F5344CB8AC3E}">
        <p14:creationId xmlns:p14="http://schemas.microsoft.com/office/powerpoint/2010/main" val="1866370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71342" y="276004"/>
            <a:ext cx="11517818" cy="805001"/>
          </a:xfrm>
        </p:spPr>
        <p:txBody>
          <a:bodyPr/>
          <a:lstStyle/>
          <a:p>
            <a:pPr eaLnBrk="1" hangingPunct="1"/>
            <a:r>
              <a:rPr lang="en-GB" dirty="0"/>
              <a:t>Conditional expressions</a:t>
            </a:r>
          </a:p>
        </p:txBody>
      </p:sp>
      <p:graphicFrame>
        <p:nvGraphicFramePr>
          <p:cNvPr id="19465" name="Object 12">
            <a:hlinkClick r:id="" action="ppaction://ole?verb=0"/>
          </p:cNvPr>
          <p:cNvGraphicFramePr>
            <a:graphicFrameLocks noGrp="1"/>
          </p:cNvGraphicFramePr>
          <p:nvPr>
            <p:ph idx="1"/>
            <p:extLst>
              <p:ext uri="{D42A27DB-BD31-4B8C-83A1-F6EECF244321}">
                <p14:modId xmlns:p14="http://schemas.microsoft.com/office/powerpoint/2010/main" val="2641471383"/>
              </p:ext>
            </p:extLst>
          </p:nvPr>
        </p:nvGraphicFramePr>
        <p:xfrm>
          <a:off x="5668909" y="5327795"/>
          <a:ext cx="382638" cy="578123"/>
        </p:xfrm>
        <a:graphic>
          <a:graphicData uri="http://schemas.openxmlformats.org/presentationml/2006/ole">
            <mc:AlternateContent xmlns:mc="http://schemas.openxmlformats.org/markup-compatibility/2006">
              <mc:Choice xmlns:v="urn:schemas-microsoft-com:vml" Requires="v">
                <p:oleObj name="ClipArt" r:id="rId3" imgW="2022205" imgH="3657600" progId="">
                  <p:embed/>
                </p:oleObj>
              </mc:Choice>
              <mc:Fallback>
                <p:oleObj name="ClipArt" r:id="rId3" imgW="2022205" imgH="3657600" progId="">
                  <p:embed/>
                  <p:pic>
                    <p:nvPicPr>
                      <p:cNvPr id="19465" name="Object 12">
                        <a:hlinkClick r:id="" action="ppaction://ole?verb=0"/>
                      </p:cNvPr>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8909" y="5327795"/>
                        <a:ext cx="382638" cy="5781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59" name="Rectangle 3"/>
          <p:cNvSpPr>
            <a:spLocks noGrp="1" noChangeArrowheads="1"/>
          </p:cNvSpPr>
          <p:nvPr>
            <p:ph type="body" sz="quarter" idx="4294967295"/>
          </p:nvPr>
        </p:nvSpPr>
        <p:spPr>
          <a:xfrm>
            <a:off x="334211" y="1367059"/>
            <a:ext cx="11715750" cy="5214937"/>
          </a:xfrm>
        </p:spPr>
        <p:txBody>
          <a:bodyPr/>
          <a:lstStyle/>
          <a:p>
            <a:r>
              <a:rPr lang="en-GB" b="1" dirty="0"/>
              <a:t>Shorthand for conditionals</a:t>
            </a:r>
            <a:endParaRPr lang="en-US" b="1" dirty="0"/>
          </a:p>
          <a:p>
            <a:endParaRPr lang="en-GB" dirty="0"/>
          </a:p>
          <a:p>
            <a:endParaRPr lang="en-GB" dirty="0"/>
          </a:p>
          <a:p>
            <a:endParaRPr lang="en-GB" dirty="0"/>
          </a:p>
          <a:p>
            <a:endParaRPr lang="en-GB" dirty="0"/>
          </a:p>
          <a:p>
            <a:endParaRPr lang="en-GB" dirty="0"/>
          </a:p>
          <a:p>
            <a:pPr marL="358775" indent="-185738">
              <a:buFont typeface="Arial" panose="020B0604020202020204" pitchFamily="34" charset="0"/>
              <a:buChar char="•"/>
            </a:pPr>
            <a:r>
              <a:rPr lang="en-GB" sz="1800" dirty="0">
                <a:latin typeface="Montserrat"/>
              </a:rPr>
              <a:t>No : and </a:t>
            </a:r>
            <a:r>
              <a:rPr lang="en-GB" sz="1800" dirty="0" err="1">
                <a:latin typeface="Montserrat"/>
              </a:rPr>
              <a:t>elif</a:t>
            </a:r>
            <a:r>
              <a:rPr lang="en-GB" sz="1800" dirty="0">
                <a:latin typeface="Montserrat"/>
              </a:rPr>
              <a:t> not allowed</a:t>
            </a:r>
          </a:p>
          <a:p>
            <a:pPr marL="342900" indent="-342900">
              <a:buFont typeface="Arial" panose="020B0604020202020204" pitchFamily="34" charset="0"/>
              <a:buChar char="•"/>
            </a:pPr>
            <a:endParaRPr lang="en-GB" dirty="0"/>
          </a:p>
          <a:p>
            <a:pPr lvl="1">
              <a:buFont typeface="Arial" panose="020B0604020202020204" pitchFamily="34" charset="0"/>
              <a:buChar char="•"/>
            </a:pPr>
            <a:endParaRPr lang="en-GB" dirty="0"/>
          </a:p>
          <a:p>
            <a:pPr marL="358775" indent="-185738">
              <a:buFont typeface="Arial" panose="020B0604020202020204" pitchFamily="34" charset="0"/>
              <a:buChar char="•"/>
            </a:pPr>
            <a:r>
              <a:rPr lang="en-GB" sz="1800" dirty="0">
                <a:latin typeface="Montserrat"/>
              </a:rPr>
              <a:t>Beware of precedence and readability</a:t>
            </a:r>
            <a:endParaRPr lang="en-GB" sz="1800" dirty="0"/>
          </a:p>
        </p:txBody>
      </p:sp>
      <p:sp>
        <p:nvSpPr>
          <p:cNvPr id="19460" name="Text Box 5"/>
          <p:cNvSpPr txBox="1">
            <a:spLocks noChangeArrowheads="1"/>
          </p:cNvSpPr>
          <p:nvPr/>
        </p:nvSpPr>
        <p:spPr bwMode="auto">
          <a:xfrm>
            <a:off x="3767924" y="2703256"/>
            <a:ext cx="6756978" cy="76944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a:cs typeface="Courier New"/>
              </a:rPr>
              <a:t>print("</a:t>
            </a:r>
            <a:r>
              <a:rPr lang="en-US" sz="1800" dirty="0" err="1">
                <a:latin typeface="Courier New"/>
                <a:cs typeface="Courier New"/>
              </a:rPr>
              <a:t>i</a:t>
            </a:r>
            <a:r>
              <a:rPr lang="en-US" sz="1800" dirty="0">
                <a:latin typeface="Courier New"/>
                <a:cs typeface="Courier New"/>
              </a:rPr>
              <a:t> </a:t>
            </a:r>
            <a:r>
              <a:rPr lang="en-US" sz="1800" dirty="0" err="1">
                <a:latin typeface="Courier New"/>
                <a:cs typeface="Courier New"/>
              </a:rPr>
              <a:t>gt</a:t>
            </a:r>
            <a:r>
              <a:rPr lang="en-US" sz="1800" dirty="0">
                <a:latin typeface="Courier New"/>
                <a:cs typeface="Courier New"/>
              </a:rPr>
              <a:t> j") if </a:t>
            </a:r>
            <a:r>
              <a:rPr lang="en-US" sz="1800" dirty="0" err="1">
                <a:latin typeface="Courier New"/>
                <a:cs typeface="Courier New"/>
              </a:rPr>
              <a:t>i</a:t>
            </a:r>
            <a:r>
              <a:rPr lang="en-US" sz="1800" dirty="0">
                <a:latin typeface="Courier New"/>
                <a:cs typeface="Courier New"/>
              </a:rPr>
              <a:t> &gt; j else print ("</a:t>
            </a:r>
            <a:r>
              <a:rPr lang="en-US" sz="1800" dirty="0" err="1">
                <a:latin typeface="Courier New"/>
                <a:cs typeface="Courier New"/>
              </a:rPr>
              <a:t>i</a:t>
            </a:r>
            <a:r>
              <a:rPr lang="en-US" sz="1800" dirty="0">
                <a:latin typeface="Courier New"/>
                <a:cs typeface="Courier New"/>
              </a:rPr>
              <a:t> </a:t>
            </a:r>
            <a:r>
              <a:rPr lang="en-US" sz="1800" dirty="0" err="1">
                <a:latin typeface="Courier New"/>
                <a:cs typeface="Courier New"/>
              </a:rPr>
              <a:t>lt</a:t>
            </a:r>
            <a:r>
              <a:rPr lang="en-US" sz="1800" dirty="0">
                <a:latin typeface="Courier New"/>
                <a:cs typeface="Courier New"/>
              </a:rPr>
              <a:t> j")</a:t>
            </a:r>
            <a:endParaRPr lang="en-US" dirty="0">
              <a:latin typeface="Courier New"/>
              <a:cs typeface="Courier New"/>
            </a:endParaRPr>
          </a:p>
          <a:p>
            <a:pPr>
              <a:spcBef>
                <a:spcPct val="0"/>
              </a:spcBef>
            </a:pPr>
            <a:endParaRPr lang="en-US" sz="800" dirty="0">
              <a:latin typeface="Courier New" panose="02070309020205020404" pitchFamily="49" charset="0"/>
            </a:endParaRPr>
          </a:p>
          <a:p>
            <a:pPr>
              <a:spcBef>
                <a:spcPct val="0"/>
              </a:spcBef>
            </a:pPr>
            <a:r>
              <a:rPr lang="en-US" sz="1800" dirty="0">
                <a:latin typeface="Courier New" panose="02070309020205020404" pitchFamily="49" charset="0"/>
              </a:rPr>
              <a:t>print("</a:t>
            </a:r>
            <a:r>
              <a:rPr lang="en-US" sz="1800" dirty="0" err="1">
                <a:latin typeface="Courier New" panose="02070309020205020404" pitchFamily="49" charset="0"/>
              </a:rPr>
              <a:t>i</a:t>
            </a:r>
            <a:r>
              <a:rPr lang="en-US" sz="1800" dirty="0">
                <a:latin typeface="Courier New" panose="02070309020205020404" pitchFamily="49" charset="0"/>
              </a:rPr>
              <a:t> </a:t>
            </a:r>
            <a:r>
              <a:rPr lang="en-US" sz="1800" dirty="0" err="1">
                <a:latin typeface="Courier New" panose="02070309020205020404" pitchFamily="49" charset="0"/>
              </a:rPr>
              <a:t>gt</a:t>
            </a:r>
            <a:r>
              <a:rPr lang="en-US" sz="1800" dirty="0">
                <a:latin typeface="Courier New" panose="02070309020205020404" pitchFamily="49" charset="0"/>
              </a:rPr>
              <a:t> j" if </a:t>
            </a:r>
            <a:r>
              <a:rPr lang="en-US" sz="1800" dirty="0" err="1">
                <a:latin typeface="Courier New" panose="02070309020205020404" pitchFamily="49" charset="0"/>
              </a:rPr>
              <a:t>i</a:t>
            </a:r>
            <a:r>
              <a:rPr lang="en-US" sz="1800" dirty="0">
                <a:latin typeface="Courier New" panose="02070309020205020404" pitchFamily="49" charset="0"/>
              </a:rPr>
              <a:t> &gt; j else "</a:t>
            </a:r>
            <a:r>
              <a:rPr lang="en-US" sz="1800" dirty="0" err="1">
                <a:latin typeface="Courier New" panose="02070309020205020404" pitchFamily="49" charset="0"/>
              </a:rPr>
              <a:t>i</a:t>
            </a:r>
            <a:r>
              <a:rPr lang="en-US" sz="1800" dirty="0">
                <a:latin typeface="Courier New" panose="02070309020205020404" pitchFamily="49" charset="0"/>
              </a:rPr>
              <a:t> </a:t>
            </a:r>
            <a:r>
              <a:rPr lang="en-US" sz="1800" dirty="0" err="1">
                <a:latin typeface="Courier New" panose="02070309020205020404" pitchFamily="49" charset="0"/>
              </a:rPr>
              <a:t>lt</a:t>
            </a:r>
            <a:r>
              <a:rPr lang="en-US" sz="1800" dirty="0">
                <a:latin typeface="Courier New" panose="02070309020205020404" pitchFamily="49" charset="0"/>
              </a:rPr>
              <a:t> j")</a:t>
            </a:r>
            <a:endParaRPr lang="en-GB" sz="1800" dirty="0">
              <a:latin typeface="Courier New" panose="02070309020205020404" pitchFamily="49" charset="0"/>
            </a:endParaRPr>
          </a:p>
        </p:txBody>
      </p:sp>
      <p:sp>
        <p:nvSpPr>
          <p:cNvPr id="19461" name="Text Box 6"/>
          <p:cNvSpPr txBox="1">
            <a:spLocks noChangeArrowheads="1"/>
          </p:cNvSpPr>
          <p:nvPr/>
        </p:nvSpPr>
        <p:spPr bwMode="auto">
          <a:xfrm>
            <a:off x="680207" y="1845664"/>
            <a:ext cx="2803973" cy="1754326"/>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lIns="91440" tIns="45720" rIns="91440" bIns="45720" anchor="t">
            <a:spAutoFit/>
          </a:bodyPr>
          <a:lstStyle>
            <a:defPPr>
              <a:defRPr lang="en-US"/>
            </a:defPPr>
            <a:lvl1pPr>
              <a:spcBef>
                <a:spcPct val="0"/>
              </a:spcBef>
              <a:defRPr>
                <a:latin typeface="Courier New" panose="02070309020205020404" pitchFamily="49" charset="0"/>
              </a:defRPr>
            </a:lvl1pPr>
            <a:lvl2pPr marL="742950" indent="-285750">
              <a:defRPr sz="1000">
                <a:latin typeface="Arial" charset="0"/>
              </a:defRPr>
            </a:lvl2pPr>
            <a:lvl3pPr marL="1143000" indent="-228600">
              <a:defRPr sz="1000">
                <a:latin typeface="Arial" charset="0"/>
              </a:defRPr>
            </a:lvl3pPr>
            <a:lvl4pPr marL="1600200" indent="-228600">
              <a:defRPr sz="1000">
                <a:latin typeface="Arial" charset="0"/>
              </a:defRPr>
            </a:lvl4pPr>
            <a:lvl5pPr marL="2057400" indent="-228600">
              <a:defRPr sz="1000">
                <a:latin typeface="Arial" charset="0"/>
              </a:defRPr>
            </a:lvl5pPr>
            <a:lvl6pPr marL="2514600" indent="-228600" eaLnBrk="0" fontAlgn="base" hangingPunct="0">
              <a:spcBef>
                <a:spcPct val="50000"/>
              </a:spcBef>
              <a:spcAft>
                <a:spcPct val="0"/>
              </a:spcAft>
              <a:defRPr sz="1000">
                <a:latin typeface="Arial" charset="0"/>
              </a:defRPr>
            </a:lvl6pPr>
            <a:lvl7pPr marL="2971800" indent="-228600" eaLnBrk="0" fontAlgn="base" hangingPunct="0">
              <a:spcBef>
                <a:spcPct val="50000"/>
              </a:spcBef>
              <a:spcAft>
                <a:spcPct val="0"/>
              </a:spcAft>
              <a:defRPr sz="1000">
                <a:latin typeface="Arial" charset="0"/>
              </a:defRPr>
            </a:lvl7pPr>
            <a:lvl8pPr marL="3429000" indent="-228600" eaLnBrk="0" fontAlgn="base" hangingPunct="0">
              <a:spcBef>
                <a:spcPct val="50000"/>
              </a:spcBef>
              <a:spcAft>
                <a:spcPct val="0"/>
              </a:spcAft>
              <a:defRPr sz="1000">
                <a:latin typeface="Arial" charset="0"/>
              </a:defRPr>
            </a:lvl8pPr>
            <a:lvl9pPr marL="3886200" indent="-228600" eaLnBrk="0" fontAlgn="base" hangingPunct="0">
              <a:spcBef>
                <a:spcPct val="50000"/>
              </a:spcBef>
              <a:spcAft>
                <a:spcPct val="0"/>
              </a:spcAft>
              <a:defRPr sz="1000">
                <a:latin typeface="Arial" charset="0"/>
              </a:defRPr>
            </a:lvl9pPr>
          </a:lstStyle>
          <a:p>
            <a:r>
              <a:rPr lang="en-US" dirty="0" err="1">
                <a:latin typeface="Courier New"/>
                <a:cs typeface="Courier New"/>
              </a:rPr>
              <a:t>i</a:t>
            </a:r>
            <a:r>
              <a:rPr lang="en-US" dirty="0">
                <a:latin typeface="Courier New"/>
                <a:cs typeface="Courier New"/>
              </a:rPr>
              <a:t>= 42</a:t>
            </a:r>
            <a:endParaRPr lang="en-US" dirty="0"/>
          </a:p>
          <a:p>
            <a:r>
              <a:rPr lang="en-US" dirty="0">
                <a:latin typeface="Courier New"/>
                <a:cs typeface="Courier New"/>
              </a:rPr>
              <a:t>j = 3</a:t>
            </a:r>
            <a:endParaRPr lang="en-US" dirty="0">
              <a:cs typeface="Courier New" panose="02070309020205020404" pitchFamily="49" charset="0"/>
            </a:endParaRPr>
          </a:p>
          <a:p>
            <a:r>
              <a:rPr lang="en-US" dirty="0">
                <a:latin typeface="Courier New"/>
                <a:cs typeface="Courier New"/>
              </a:rPr>
              <a:t>if </a:t>
            </a:r>
            <a:r>
              <a:rPr lang="en-US" dirty="0" err="1">
                <a:latin typeface="Courier New"/>
                <a:cs typeface="Courier New"/>
              </a:rPr>
              <a:t>i</a:t>
            </a:r>
            <a:r>
              <a:rPr lang="en-US" dirty="0">
                <a:latin typeface="Courier New"/>
                <a:cs typeface="Courier New"/>
              </a:rPr>
              <a:t> &gt; j:</a:t>
            </a:r>
            <a:endParaRPr lang="en-US" dirty="0">
              <a:cs typeface="Courier New"/>
            </a:endParaRPr>
          </a:p>
          <a:p>
            <a:r>
              <a:rPr lang="en-US" dirty="0"/>
              <a:t>    print("</a:t>
            </a:r>
            <a:r>
              <a:rPr lang="en-US" dirty="0" err="1"/>
              <a:t>i</a:t>
            </a:r>
            <a:r>
              <a:rPr lang="en-US" dirty="0"/>
              <a:t> </a:t>
            </a:r>
            <a:r>
              <a:rPr lang="en-US" dirty="0" err="1"/>
              <a:t>gt</a:t>
            </a:r>
            <a:r>
              <a:rPr lang="en-US" dirty="0"/>
              <a:t> j")</a:t>
            </a:r>
          </a:p>
          <a:p>
            <a:r>
              <a:rPr lang="en-US" dirty="0"/>
              <a:t>else:</a:t>
            </a:r>
          </a:p>
          <a:p>
            <a:r>
              <a:rPr lang="en-US" dirty="0"/>
              <a:t>    print("</a:t>
            </a:r>
            <a:r>
              <a:rPr lang="en-US" dirty="0" err="1"/>
              <a:t>i</a:t>
            </a:r>
            <a:r>
              <a:rPr lang="en-US" dirty="0"/>
              <a:t> </a:t>
            </a:r>
            <a:r>
              <a:rPr lang="en-US" dirty="0" err="1"/>
              <a:t>lt</a:t>
            </a:r>
            <a:r>
              <a:rPr lang="en-US" dirty="0"/>
              <a:t> j")</a:t>
            </a:r>
            <a:endParaRPr lang="en-GB" dirty="0"/>
          </a:p>
        </p:txBody>
      </p:sp>
      <p:sp>
        <p:nvSpPr>
          <p:cNvPr id="19462" name="Text Box 7"/>
          <p:cNvSpPr txBox="1">
            <a:spLocks noChangeArrowheads="1"/>
          </p:cNvSpPr>
          <p:nvPr/>
        </p:nvSpPr>
        <p:spPr bwMode="auto">
          <a:xfrm>
            <a:off x="4189143" y="1338386"/>
            <a:ext cx="3561291" cy="366712"/>
          </a:xfrm>
          <a:prstGeom prst="rect">
            <a:avLst/>
          </a:prstGeom>
          <a:noFill/>
          <a:ln>
            <a:solidFill>
              <a:srgbClr val="004050"/>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i="1" dirty="0"/>
              <a:t>expr1 </a:t>
            </a:r>
            <a:r>
              <a:rPr lang="en-GB" sz="1800" b="1" dirty="0">
                <a:latin typeface="Courier New" panose="02070309020205020404" pitchFamily="49" charset="0"/>
              </a:rPr>
              <a:t>if</a:t>
            </a:r>
            <a:r>
              <a:rPr lang="en-GB" sz="1800" i="1" dirty="0"/>
              <a:t> </a:t>
            </a:r>
            <a:r>
              <a:rPr lang="en-GB" sz="1800" i="1" dirty="0" err="1"/>
              <a:t>boolean</a:t>
            </a:r>
            <a:r>
              <a:rPr lang="en-GB" sz="1800" i="1" dirty="0"/>
              <a:t> </a:t>
            </a:r>
            <a:r>
              <a:rPr lang="en-GB" sz="1800" b="1" dirty="0">
                <a:latin typeface="Courier New" panose="02070309020205020404" pitchFamily="49" charset="0"/>
              </a:rPr>
              <a:t>else</a:t>
            </a:r>
            <a:r>
              <a:rPr lang="en-GB" sz="1800" i="1" dirty="0"/>
              <a:t> expr2</a:t>
            </a:r>
          </a:p>
        </p:txBody>
      </p:sp>
      <p:sp>
        <p:nvSpPr>
          <p:cNvPr id="19463" name="Text Box 10"/>
          <p:cNvSpPr txBox="1">
            <a:spLocks noChangeArrowheads="1"/>
          </p:cNvSpPr>
          <p:nvPr/>
        </p:nvSpPr>
        <p:spPr bwMode="auto">
          <a:xfrm>
            <a:off x="10660580" y="2548226"/>
            <a:ext cx="1301750" cy="1079500"/>
          </a:xfrm>
          <a:prstGeom prst="rect">
            <a:avLst/>
          </a:prstGeom>
          <a:solidFill>
            <a:schemeClr val="bg1"/>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These 'if' statements all do the same thing</a:t>
            </a:r>
          </a:p>
        </p:txBody>
      </p:sp>
      <p:sp>
        <p:nvSpPr>
          <p:cNvPr id="19464" name="Text Box 11"/>
          <p:cNvSpPr txBox="1">
            <a:spLocks noChangeArrowheads="1"/>
          </p:cNvSpPr>
          <p:nvPr/>
        </p:nvSpPr>
        <p:spPr bwMode="auto">
          <a:xfrm>
            <a:off x="680207" y="5327547"/>
            <a:ext cx="4751387" cy="107791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a = 54</a:t>
            </a:r>
          </a:p>
          <a:p>
            <a:pPr>
              <a:spcBef>
                <a:spcPct val="0"/>
              </a:spcBef>
            </a:pPr>
            <a:r>
              <a:rPr lang="en-US" sz="1800" dirty="0">
                <a:latin typeface="Courier New" panose="02070309020205020404" pitchFamily="49" charset="0"/>
              </a:rPr>
              <a:t>answer = a + 5 if a &lt; 42 else 0</a:t>
            </a:r>
          </a:p>
          <a:p>
            <a:pPr>
              <a:spcBef>
                <a:spcPct val="0"/>
              </a:spcBef>
            </a:pPr>
            <a:endParaRPr lang="en-US" dirty="0">
              <a:latin typeface="Courier New" panose="02070309020205020404" pitchFamily="49" charset="0"/>
            </a:endParaRPr>
          </a:p>
          <a:p>
            <a:pPr>
              <a:spcBef>
                <a:spcPct val="0"/>
              </a:spcBef>
            </a:pPr>
            <a:r>
              <a:rPr lang="en-US" sz="1800" dirty="0">
                <a:latin typeface="Courier New" panose="02070309020205020404" pitchFamily="49" charset="0"/>
              </a:rPr>
              <a:t>answer = a + </a:t>
            </a:r>
            <a:r>
              <a:rPr lang="en-US" sz="1800" b="1" dirty="0">
                <a:latin typeface="Courier New" panose="02070309020205020404" pitchFamily="49" charset="0"/>
              </a:rPr>
              <a:t>(</a:t>
            </a:r>
            <a:r>
              <a:rPr lang="en-US" sz="1800" dirty="0">
                <a:latin typeface="Courier New" panose="02070309020205020404" pitchFamily="49" charset="0"/>
              </a:rPr>
              <a:t>5 if a &lt; 42 else 0</a:t>
            </a:r>
            <a:r>
              <a:rPr lang="en-US" sz="1800" b="1" dirty="0">
                <a:latin typeface="Courier New" panose="02070309020205020404" pitchFamily="49" charset="0"/>
              </a:rPr>
              <a:t>)</a:t>
            </a:r>
          </a:p>
        </p:txBody>
      </p:sp>
      <p:sp>
        <p:nvSpPr>
          <p:cNvPr id="882702" name="Rectangle 14"/>
          <p:cNvSpPr>
            <a:spLocks noChangeArrowheads="1"/>
          </p:cNvSpPr>
          <p:nvPr/>
        </p:nvSpPr>
        <p:spPr bwMode="auto">
          <a:xfrm>
            <a:off x="5541427" y="5857281"/>
            <a:ext cx="660400" cy="820737"/>
          </a:xfrm>
          <a:prstGeom prst="rect">
            <a:avLst/>
          </a:prstGeom>
          <a:noFill/>
          <a:ln w="12700">
            <a:noFill/>
            <a:miter lim="800000"/>
            <a:headEnd/>
            <a:tailEnd/>
          </a:ln>
          <a:effectLst/>
        </p:spPr>
        <p:txBody>
          <a:bodyPr lIns="90488" tIns="44450" rIns="90488" bIns="44450" anchor="t">
            <a:spAutoFit/>
          </a:bodyPr>
          <a:lstStyle/>
          <a:p>
            <a:pPr defTabSz="739775">
              <a:spcBef>
                <a:spcPct val="0"/>
              </a:spcBef>
              <a:defRPr/>
            </a:pPr>
            <a:r>
              <a:rPr lang="en-US" sz="4800" b="1" dirty="0">
                <a:solidFill>
                  <a:srgbClr val="00B050"/>
                </a:solidFill>
                <a:effectLst>
                  <a:outerShdw blurRad="38100" dist="38100" dir="2700000" algn="tl">
                    <a:srgbClr val="C0C0C0"/>
                  </a:outerShdw>
                </a:effectLst>
                <a:latin typeface="Wingdings"/>
                <a:sym typeface="Wingdings"/>
              </a:rPr>
              <a:t></a:t>
            </a:r>
            <a:endParaRPr lang="en-US" sz="3600">
              <a:solidFill>
                <a:srgbClr val="00B050"/>
              </a:solidFill>
              <a:effectLst>
                <a:outerShdw blurRad="38100" dist="38100" dir="2700000" algn="tl">
                  <a:srgbClr val="C0C0C0"/>
                </a:outerShdw>
              </a:effectLst>
              <a:latin typeface="Wingdings"/>
              <a:sym typeface="Wingdings"/>
            </a:endParaRPr>
          </a:p>
        </p:txBody>
      </p:sp>
      <p:sp>
        <p:nvSpPr>
          <p:cNvPr id="19467" name="Text Box 15"/>
          <p:cNvSpPr txBox="1">
            <a:spLocks noChangeArrowheads="1"/>
          </p:cNvSpPr>
          <p:nvPr/>
        </p:nvSpPr>
        <p:spPr bwMode="auto">
          <a:xfrm>
            <a:off x="680207" y="4175030"/>
            <a:ext cx="6507163"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panose="02070309020205020404" pitchFamily="49" charset="0"/>
              </a:rPr>
              <a:t>-1 if a &lt; b else (+1 if a &gt; b else 0)</a:t>
            </a:r>
            <a:endParaRPr lang="en-GB" sz="1800" dirty="0">
              <a:latin typeface="Courier New" panose="02070309020205020404" pitchFamily="49" charset="0"/>
            </a:endParaRPr>
          </a:p>
        </p:txBody>
      </p:sp>
      <p:sp>
        <p:nvSpPr>
          <p:cNvPr id="2" name="Slide Number Placeholder 1">
            <a:extLst>
              <a:ext uri="{FF2B5EF4-FFF2-40B4-BE49-F238E27FC236}">
                <a16:creationId xmlns:a16="http://schemas.microsoft.com/office/drawing/2014/main" id="{B35D1994-F913-96C5-08FB-19BA21580C8F}"/>
              </a:ext>
            </a:extLst>
          </p:cNvPr>
          <p:cNvSpPr>
            <a:spLocks noGrp="1"/>
          </p:cNvSpPr>
          <p:nvPr>
            <p:ph type="sldNum" sz="quarter" idx="4"/>
          </p:nvPr>
        </p:nvSpPr>
        <p:spPr/>
        <p:txBody>
          <a:bodyPr/>
          <a:lstStyle/>
          <a:p>
            <a:fld id="{EF892D59-8F09-EF4B-AD6D-DA609442F868}" type="slidenum">
              <a:rPr lang="en-GB" smtClean="0"/>
              <a:pPr/>
              <a:t>20</a:t>
            </a:fld>
            <a:endParaRPr lang="en-GB" dirty="0"/>
          </a:p>
        </p:txBody>
      </p:sp>
    </p:spTree>
    <p:extLst>
      <p:ext uri="{BB962C8B-B14F-4D97-AF65-F5344CB8AC3E}">
        <p14:creationId xmlns:p14="http://schemas.microsoft.com/office/powerpoint/2010/main" val="112717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14885" y="355164"/>
            <a:ext cx="11517818" cy="805001"/>
          </a:xfrm>
        </p:spPr>
        <p:txBody>
          <a:bodyPr/>
          <a:lstStyle/>
          <a:p>
            <a:pPr eaLnBrk="1" hangingPunct="1"/>
            <a:r>
              <a:rPr lang="en-GB" dirty="0"/>
              <a:t>Unconditional closedown</a:t>
            </a:r>
          </a:p>
        </p:txBody>
      </p:sp>
      <p:sp>
        <p:nvSpPr>
          <p:cNvPr id="20483" name="Rectangle 3"/>
          <p:cNvSpPr>
            <a:spLocks noGrp="1" noChangeArrowheads="1"/>
          </p:cNvSpPr>
          <p:nvPr>
            <p:ph idx="1"/>
          </p:nvPr>
        </p:nvSpPr>
        <p:spPr/>
        <p:txBody>
          <a:bodyPr>
            <a:normAutofit/>
          </a:bodyPr>
          <a:lstStyle/>
          <a:p>
            <a:pPr>
              <a:spcBef>
                <a:spcPts val="600"/>
              </a:spcBef>
            </a:pPr>
            <a:r>
              <a:rPr lang="en-GB" b="1" dirty="0">
                <a:latin typeface="Courier New"/>
                <a:cs typeface="Courier New"/>
              </a:rPr>
              <a:t>os._exit(</a:t>
            </a:r>
            <a:r>
              <a:rPr lang="en-GB" b="1" i="1" dirty="0" err="1">
                <a:latin typeface="Montserrat"/>
              </a:rPr>
              <a:t>integer_expression</a:t>
            </a:r>
            <a:r>
              <a:rPr lang="en-GB" b="1" dirty="0">
                <a:latin typeface="Courier New"/>
                <a:cs typeface="Courier New"/>
              </a:rPr>
              <a:t>)</a:t>
            </a:r>
            <a:endParaRPr lang="en-US" dirty="0">
              <a:latin typeface="Montserrat"/>
            </a:endParaRPr>
          </a:p>
          <a:p>
            <a:pPr marL="514350" lvl="1" indent="-285750">
              <a:spcBef>
                <a:spcPts val="600"/>
              </a:spcBef>
              <a:buSzPct val="114999"/>
              <a:buFont typeface="Arial"/>
              <a:buChar char="•"/>
            </a:pPr>
            <a:r>
              <a:rPr lang="en-GB" sz="1800" dirty="0">
                <a:latin typeface="Montserrat"/>
              </a:rPr>
              <a:t>Cannot be trapped.</a:t>
            </a:r>
            <a:endParaRPr lang="en-US" dirty="0">
              <a:latin typeface="Montserrat"/>
            </a:endParaRPr>
          </a:p>
          <a:p>
            <a:pPr marL="514350" lvl="1" indent="-285750">
              <a:spcBef>
                <a:spcPts val="600"/>
              </a:spcBef>
              <a:buSzPct val="114999"/>
              <a:buFont typeface="Arial"/>
              <a:buChar char="•"/>
            </a:pPr>
            <a:r>
              <a:rPr lang="en-GB" sz="1800" dirty="0">
                <a:latin typeface="Montserrat"/>
              </a:rPr>
              <a:t>Returns </a:t>
            </a:r>
            <a:r>
              <a:rPr lang="en-GB" sz="1800" i="1" dirty="0" err="1">
                <a:latin typeface="Montserrat"/>
              </a:rPr>
              <a:t>integer_expression</a:t>
            </a:r>
            <a:r>
              <a:rPr lang="en-GB" sz="1800" dirty="0">
                <a:latin typeface="Montserrat"/>
              </a:rPr>
              <a:t> to the caller (usually the shell).</a:t>
            </a:r>
            <a:endParaRPr lang="en-US" dirty="0">
              <a:latin typeface="Montserrat"/>
            </a:endParaRPr>
          </a:p>
          <a:p>
            <a:pPr>
              <a:spcBef>
                <a:spcPts val="600"/>
              </a:spcBef>
            </a:pPr>
            <a:r>
              <a:rPr lang="en-GB" b="1" dirty="0" err="1">
                <a:latin typeface="Courier New"/>
                <a:cs typeface="Courier New"/>
              </a:rPr>
              <a:t>os.abort</a:t>
            </a:r>
            <a:r>
              <a:rPr lang="en-GB" b="1" dirty="0">
                <a:latin typeface="Courier New"/>
                <a:cs typeface="Courier New"/>
              </a:rPr>
              <a:t>()</a:t>
            </a:r>
            <a:endParaRPr lang="en-GB" b="1" dirty="0">
              <a:latin typeface="Courier New" panose="02070309020205020404" pitchFamily="49" charset="0"/>
              <a:cs typeface="Courier New" panose="02070309020205020404" pitchFamily="49" charset="0"/>
            </a:endParaRPr>
          </a:p>
          <a:p>
            <a:pPr marL="457200" lvl="1" indent="-228600">
              <a:spcBef>
                <a:spcPts val="600"/>
              </a:spcBef>
              <a:buSzPct val="114999"/>
              <a:buFont typeface="Arial"/>
              <a:buChar char="•"/>
            </a:pPr>
            <a:r>
              <a:rPr lang="en-GB" sz="1800" dirty="0">
                <a:latin typeface="Montserrat"/>
              </a:rPr>
              <a:t>Raises a SIGABRT signal (trappable on UNIX).</a:t>
            </a:r>
            <a:endParaRPr lang="en-GB" b="1" dirty="0">
              <a:latin typeface="Montserrat"/>
              <a:cs typeface="Courier New" panose="02070309020205020404" pitchFamily="49" charset="0"/>
            </a:endParaRPr>
          </a:p>
          <a:p>
            <a:pPr marL="457200" lvl="1" indent="-228600">
              <a:spcBef>
                <a:spcPts val="600"/>
              </a:spcBef>
              <a:buSzPct val="114999"/>
              <a:buFont typeface="Arial"/>
              <a:buChar char="•"/>
            </a:pPr>
            <a:r>
              <a:rPr lang="en-GB" sz="1800" dirty="0">
                <a:latin typeface="Montserrat"/>
              </a:rPr>
              <a:t>Causes a core dump on UNIX, an exit 3 on Windows.</a:t>
            </a:r>
            <a:endParaRPr lang="en-GB" b="1" dirty="0">
              <a:latin typeface="Montserrat"/>
              <a:cs typeface="Courier New" panose="02070309020205020404" pitchFamily="49" charset="0"/>
            </a:endParaRPr>
          </a:p>
          <a:p>
            <a:pPr>
              <a:spcBef>
                <a:spcPts val="600"/>
              </a:spcBef>
              <a:buSzPct val="114999"/>
            </a:pPr>
            <a:r>
              <a:rPr lang="en-GB" b="1" dirty="0" err="1">
                <a:latin typeface="Courier New"/>
                <a:cs typeface="Courier New"/>
              </a:rPr>
              <a:t>sys.exit</a:t>
            </a:r>
            <a:r>
              <a:rPr lang="en-GB" b="1" dirty="0">
                <a:latin typeface="Courier New"/>
                <a:cs typeface="Courier New"/>
              </a:rPr>
              <a:t>(</a:t>
            </a:r>
            <a:r>
              <a:rPr lang="en-GB" b="1" i="1" dirty="0">
                <a:latin typeface="Montserrat"/>
              </a:rPr>
              <a:t>expression</a:t>
            </a:r>
            <a:r>
              <a:rPr lang="en-GB" b="1" dirty="0">
                <a:latin typeface="Courier New"/>
                <a:cs typeface="Courier New"/>
              </a:rPr>
              <a:t>)</a:t>
            </a:r>
          </a:p>
          <a:p>
            <a:pPr marL="457200" lvl="2" indent="-228600">
              <a:spcBef>
                <a:spcPts val="600"/>
              </a:spcBef>
              <a:buSzPct val="114999"/>
              <a:buFont typeface="Arial"/>
              <a:buChar char="•"/>
            </a:pPr>
            <a:r>
              <a:rPr lang="en-GB" sz="1600" dirty="0">
                <a:latin typeface="Montserrat"/>
              </a:rPr>
              <a:t>Raises a </a:t>
            </a:r>
            <a:r>
              <a:rPr lang="en-GB" sz="1600" dirty="0" err="1">
                <a:latin typeface="Courier New"/>
                <a:cs typeface="Courier New"/>
              </a:rPr>
              <a:t>SystemExit</a:t>
            </a:r>
            <a:r>
              <a:rPr lang="en-GB" sz="1600" dirty="0">
                <a:latin typeface="Montserrat"/>
              </a:rPr>
              <a:t> exception which can be trapped.</a:t>
            </a:r>
            <a:endParaRPr lang="en-GB" b="1" dirty="0">
              <a:latin typeface="Courier New"/>
              <a:cs typeface="Courier New"/>
            </a:endParaRPr>
          </a:p>
          <a:p>
            <a:pPr marL="457200" lvl="1" indent="-228600">
              <a:spcBef>
                <a:spcPts val="600"/>
              </a:spcBef>
              <a:buSzPct val="114999"/>
              <a:buFont typeface="Arial"/>
              <a:buChar char="•"/>
            </a:pPr>
            <a:r>
              <a:rPr lang="en-GB" sz="1800" dirty="0">
                <a:latin typeface="Montserrat"/>
              </a:rPr>
              <a:t>Returns expression to the caller (usually the shell) if it is an integer.</a:t>
            </a:r>
            <a:endParaRPr lang="en-GB" b="1" dirty="0">
              <a:latin typeface="Courier New"/>
              <a:cs typeface="Courier New"/>
            </a:endParaRPr>
          </a:p>
          <a:p>
            <a:pPr marL="457200" lvl="1" indent="-228600">
              <a:spcBef>
                <a:spcPts val="600"/>
              </a:spcBef>
              <a:buFont typeface="Arial"/>
              <a:buChar char="•"/>
            </a:pPr>
            <a:r>
              <a:rPr lang="en-GB" sz="1800" dirty="0">
                <a:latin typeface="Montserrat"/>
              </a:rPr>
              <a:t>Prints to other objects to stderr and returns 1 to caller.</a:t>
            </a:r>
            <a:endParaRPr lang="en-GB" b="1" dirty="0">
              <a:latin typeface="Courier New"/>
              <a:cs typeface="Courier New"/>
            </a:endParaRPr>
          </a:p>
        </p:txBody>
      </p:sp>
      <p:sp>
        <p:nvSpPr>
          <p:cNvPr id="20484" name="Text Box 6"/>
          <p:cNvSpPr txBox="1">
            <a:spLocks noChangeArrowheads="1"/>
          </p:cNvSpPr>
          <p:nvPr/>
        </p:nvSpPr>
        <p:spPr bwMode="auto">
          <a:xfrm>
            <a:off x="816033" y="5843374"/>
            <a:ext cx="2884240"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err="1">
                <a:latin typeface="Courier New" panose="02070309020205020404" pitchFamily="49" charset="0"/>
              </a:rPr>
              <a:t>sys.exit</a:t>
            </a:r>
            <a:r>
              <a:rPr lang="en-GB" sz="1800" dirty="0">
                <a:latin typeface="Courier New" panose="02070309020205020404" pitchFamily="49" charset="0"/>
              </a:rPr>
              <a:t>("Goodbye")</a:t>
            </a:r>
          </a:p>
        </p:txBody>
      </p:sp>
      <p:pic>
        <p:nvPicPr>
          <p:cNvPr id="2" name="Picture 1" descr="A close-up of a sign&#10;&#10;Description automatically generated">
            <a:extLst>
              <a:ext uri="{FF2B5EF4-FFF2-40B4-BE49-F238E27FC236}">
                <a16:creationId xmlns:a16="http://schemas.microsoft.com/office/drawing/2014/main" id="{CFA789CD-EDC8-57C1-0E77-99949D0A5F5D}"/>
              </a:ext>
            </a:extLst>
          </p:cNvPr>
          <p:cNvPicPr>
            <a:picLocks noChangeAspect="1"/>
          </p:cNvPicPr>
          <p:nvPr/>
        </p:nvPicPr>
        <p:blipFill>
          <a:blip r:embed="rId3"/>
          <a:stretch>
            <a:fillRect/>
          </a:stretch>
        </p:blipFill>
        <p:spPr>
          <a:xfrm>
            <a:off x="8575272" y="0"/>
            <a:ext cx="3610356" cy="6857999"/>
          </a:xfrm>
          <a:prstGeom prst="rect">
            <a:avLst/>
          </a:prstGeom>
        </p:spPr>
      </p:pic>
      <p:sp>
        <p:nvSpPr>
          <p:cNvPr id="3" name="Slide Number Placeholder 2">
            <a:extLst>
              <a:ext uri="{FF2B5EF4-FFF2-40B4-BE49-F238E27FC236}">
                <a16:creationId xmlns:a16="http://schemas.microsoft.com/office/drawing/2014/main" id="{BCE425A5-69CF-736A-BA1A-3E50F13BDD66}"/>
              </a:ext>
            </a:extLst>
          </p:cNvPr>
          <p:cNvSpPr>
            <a:spLocks noGrp="1"/>
          </p:cNvSpPr>
          <p:nvPr>
            <p:ph type="sldNum" sz="quarter" idx="4"/>
          </p:nvPr>
        </p:nvSpPr>
        <p:spPr/>
        <p:txBody>
          <a:bodyPr/>
          <a:lstStyle/>
          <a:p>
            <a:fld id="{EF892D59-8F09-EF4B-AD6D-DA609442F868}" type="slidenum">
              <a:rPr lang="en-GB" smtClean="0"/>
              <a:pPr/>
              <a:t>21</a:t>
            </a:fld>
            <a:endParaRPr lang="en-GB" dirty="0"/>
          </a:p>
        </p:txBody>
      </p:sp>
    </p:spTree>
    <p:extLst>
      <p:ext uri="{BB962C8B-B14F-4D97-AF65-F5344CB8AC3E}">
        <p14:creationId xmlns:p14="http://schemas.microsoft.com/office/powerpoint/2010/main" val="1131989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14885" y="355229"/>
            <a:ext cx="11517818" cy="805001"/>
          </a:xfrm>
        </p:spPr>
        <p:txBody>
          <a:bodyPr/>
          <a:lstStyle/>
          <a:p>
            <a:r>
              <a:rPr lang="en-GB" dirty="0"/>
              <a:t>Unconditional flow control (2)</a:t>
            </a:r>
          </a:p>
        </p:txBody>
      </p:sp>
      <p:sp>
        <p:nvSpPr>
          <p:cNvPr id="2" name="Text Placeholder 1"/>
          <p:cNvSpPr>
            <a:spLocks noGrp="1"/>
          </p:cNvSpPr>
          <p:nvPr>
            <p:ph idx="1"/>
          </p:nvPr>
        </p:nvSpPr>
        <p:spPr>
          <a:xfrm>
            <a:off x="341272" y="1074342"/>
            <a:ext cx="11698328" cy="5783658"/>
          </a:xfrm>
        </p:spPr>
        <p:txBody>
          <a:bodyPr>
            <a:normAutofit fontScale="92500" lnSpcReduction="20000"/>
          </a:bodyPr>
          <a:lstStyle/>
          <a:p>
            <a:pPr>
              <a:spcBef>
                <a:spcPts val="600"/>
              </a:spcBef>
            </a:pPr>
            <a:r>
              <a:rPr lang="en-GB" b="1" dirty="0">
                <a:latin typeface="Montserrat"/>
              </a:rPr>
              <a:t>But what about </a:t>
            </a:r>
            <a:r>
              <a:rPr lang="en-GB" b="1" i="1" dirty="0">
                <a:latin typeface="Courier New"/>
                <a:cs typeface="Courier New"/>
              </a:rPr>
              <a:t>exit()</a:t>
            </a:r>
            <a:r>
              <a:rPr lang="en-GB" b="1" i="1" dirty="0">
                <a:latin typeface="Montserrat"/>
              </a:rPr>
              <a:t> and </a:t>
            </a:r>
            <a:r>
              <a:rPr lang="en-GB" b="1" i="1" dirty="0">
                <a:latin typeface="Montserrat"/>
                <a:cs typeface="Courier New"/>
              </a:rPr>
              <a:t> </a:t>
            </a:r>
            <a:r>
              <a:rPr lang="en-GB" b="1" i="1" dirty="0">
                <a:latin typeface="Courier New"/>
                <a:cs typeface="Courier New"/>
              </a:rPr>
              <a:t>quit()</a:t>
            </a:r>
            <a:endParaRPr lang="en-GB" b="1" dirty="0">
              <a:latin typeface="Montserrat"/>
            </a:endParaRPr>
          </a:p>
          <a:p>
            <a:pPr marL="457200" lvl="2" indent="-228600">
              <a:spcBef>
                <a:spcPts val="600"/>
              </a:spcBef>
              <a:buFont typeface="Arial"/>
              <a:buChar char="•"/>
            </a:pPr>
            <a:r>
              <a:rPr lang="en-GB" sz="1900" dirty="0">
                <a:latin typeface="Montserrat"/>
              </a:rPr>
              <a:t>At start-up, the </a:t>
            </a:r>
            <a:r>
              <a:rPr lang="en-GB" sz="1900" dirty="0">
                <a:latin typeface="Courier New"/>
                <a:cs typeface="Courier New"/>
              </a:rPr>
              <a:t>site</a:t>
            </a:r>
            <a:r>
              <a:rPr lang="en-GB" sz="1900" dirty="0">
                <a:latin typeface="Montserrat"/>
              </a:rPr>
              <a:t> module is automatically loaded.</a:t>
            </a:r>
          </a:p>
          <a:p>
            <a:pPr marL="457200" lvl="3" indent="-228600">
              <a:spcBef>
                <a:spcPts val="600"/>
              </a:spcBef>
              <a:buFont typeface="Arial"/>
              <a:buChar char="•"/>
            </a:pPr>
            <a:r>
              <a:rPr lang="en-GB" sz="1900" dirty="0">
                <a:latin typeface="Montserrat"/>
              </a:rPr>
              <a:t>Unless the -S command-line option is given.</a:t>
            </a:r>
            <a:endParaRPr lang="en-GB" sz="1900" dirty="0">
              <a:latin typeface="Courier New"/>
              <a:cs typeface="Courier New"/>
            </a:endParaRPr>
          </a:p>
          <a:p>
            <a:pPr marL="457200" lvl="3" indent="-228600">
              <a:spcBef>
                <a:spcPts val="600"/>
              </a:spcBef>
              <a:buFont typeface="Arial"/>
              <a:buChar char="•"/>
            </a:pPr>
            <a:r>
              <a:rPr lang="en-GB" sz="1900" dirty="0">
                <a:latin typeface="Montserrat"/>
              </a:rPr>
              <a:t>Several objects are created, including </a:t>
            </a:r>
            <a:r>
              <a:rPr lang="en-GB" sz="1900" b="1" dirty="0">
                <a:latin typeface="Courier New"/>
                <a:cs typeface="Courier New"/>
              </a:rPr>
              <a:t>exit</a:t>
            </a:r>
            <a:r>
              <a:rPr lang="en-GB" sz="1900" dirty="0">
                <a:latin typeface="Montserrat"/>
              </a:rPr>
              <a:t> and </a:t>
            </a:r>
            <a:r>
              <a:rPr lang="en-GB" sz="1900" b="1" dirty="0">
                <a:latin typeface="Courier New"/>
                <a:cs typeface="Courier New"/>
              </a:rPr>
              <a:t>quit.</a:t>
            </a:r>
            <a:endParaRPr lang="en-GB" sz="1900" dirty="0">
              <a:latin typeface="Courier New"/>
              <a:cs typeface="Courier New"/>
            </a:endParaRPr>
          </a:p>
          <a:p>
            <a:pPr marL="0" lvl="3" indent="0">
              <a:spcBef>
                <a:spcPts val="600"/>
              </a:spcBef>
              <a:buNone/>
            </a:pPr>
            <a:r>
              <a:rPr lang="en-GB" sz="1800" b="1" dirty="0">
                <a:latin typeface="Montserrat"/>
                <a:cs typeface="Courier New"/>
              </a:rPr>
              <a:t>When</a:t>
            </a:r>
            <a:r>
              <a:rPr lang="en-GB" sz="1800" b="1" dirty="0">
                <a:latin typeface="+mn-lt"/>
                <a:cs typeface="Courier New"/>
              </a:rPr>
              <a:t> called they</a:t>
            </a:r>
            <a:r>
              <a:rPr lang="en-GB" sz="1800" b="1" dirty="0">
                <a:latin typeface="Montserrat"/>
              </a:rPr>
              <a:t>:</a:t>
            </a:r>
            <a:endParaRPr lang="en-GB" sz="1800" b="1" dirty="0">
              <a:latin typeface="Courier New"/>
              <a:cs typeface="Courier New"/>
            </a:endParaRPr>
          </a:p>
          <a:p>
            <a:pPr marL="457200" lvl="3" indent="-228600">
              <a:spcBef>
                <a:spcPts val="600"/>
              </a:spcBef>
              <a:buFont typeface="Arial"/>
              <a:buChar char="•"/>
            </a:pPr>
            <a:r>
              <a:rPr lang="en-GB" sz="1900" dirty="0">
                <a:latin typeface="Montserrat"/>
              </a:rPr>
              <a:t>output a message:</a:t>
            </a:r>
            <a:endParaRPr lang="en-GB" sz="1900" dirty="0">
              <a:latin typeface="Courier New"/>
              <a:cs typeface="Courier New"/>
            </a:endParaRPr>
          </a:p>
          <a:p>
            <a:pPr>
              <a:spcBef>
                <a:spcPts val="600"/>
              </a:spcBef>
            </a:pPr>
            <a:endParaRPr lang="en-GB" dirty="0"/>
          </a:p>
          <a:p>
            <a:pPr>
              <a:spcBef>
                <a:spcPts val="600"/>
              </a:spcBef>
            </a:pPr>
            <a:endParaRPr lang="en-GB" dirty="0"/>
          </a:p>
          <a:p>
            <a:pPr>
              <a:spcBef>
                <a:spcPts val="600"/>
              </a:spcBef>
            </a:pPr>
            <a:endParaRPr lang="en-GB" dirty="0"/>
          </a:p>
          <a:p>
            <a:pPr>
              <a:spcBef>
                <a:spcPts val="600"/>
              </a:spcBef>
            </a:pPr>
            <a:endParaRPr lang="en-GB" sz="800" dirty="0"/>
          </a:p>
          <a:p>
            <a:pPr marL="457200" indent="-228600">
              <a:spcBef>
                <a:spcPts val="600"/>
              </a:spcBef>
              <a:buFont typeface="Arial"/>
              <a:buChar char="•"/>
            </a:pPr>
            <a:r>
              <a:rPr lang="en-GB" sz="1900" dirty="0">
                <a:latin typeface="Montserrat"/>
              </a:rPr>
              <a:t>raise a </a:t>
            </a:r>
            <a:r>
              <a:rPr lang="en-GB" sz="1900" b="1" dirty="0" err="1">
                <a:latin typeface="Courier New"/>
              </a:rPr>
              <a:t>SystemExit</a:t>
            </a:r>
            <a:r>
              <a:rPr lang="en-GB" sz="1900" b="1" dirty="0">
                <a:latin typeface="Montserrat"/>
              </a:rPr>
              <a:t> </a:t>
            </a:r>
            <a:r>
              <a:rPr lang="en-GB" sz="1900" dirty="0">
                <a:latin typeface="Montserrat"/>
              </a:rPr>
              <a:t>exception and close </a:t>
            </a:r>
            <a:r>
              <a:rPr lang="en-GB" sz="1900" b="1" dirty="0">
                <a:latin typeface="Courier New"/>
                <a:cs typeface="Courier New"/>
              </a:rPr>
              <a:t>stdin.</a:t>
            </a:r>
          </a:p>
          <a:p>
            <a:pPr marL="457200" lvl="1" indent="-228600">
              <a:spcBef>
                <a:spcPts val="600"/>
              </a:spcBef>
              <a:buFont typeface="Arial"/>
              <a:buChar char="•"/>
            </a:pPr>
            <a:r>
              <a:rPr lang="en-GB" sz="1900" dirty="0">
                <a:latin typeface="Montserrat"/>
              </a:rPr>
              <a:t>IDLE ignores </a:t>
            </a:r>
            <a:r>
              <a:rPr lang="en-GB" sz="1900" dirty="0" err="1">
                <a:latin typeface="Courier New"/>
              </a:rPr>
              <a:t>SystemExit</a:t>
            </a:r>
            <a:r>
              <a:rPr lang="en-GB" sz="1900" dirty="0">
                <a:latin typeface="Courier New"/>
              </a:rPr>
              <a:t> </a:t>
            </a:r>
            <a:r>
              <a:rPr lang="en-GB" sz="1900" dirty="0">
                <a:latin typeface="Montserrat"/>
              </a:rPr>
              <a:t>but closes when </a:t>
            </a:r>
            <a:r>
              <a:rPr lang="en-GB" sz="1900" dirty="0">
                <a:latin typeface="Courier New"/>
                <a:cs typeface="Courier New"/>
              </a:rPr>
              <a:t>stdin</a:t>
            </a:r>
            <a:r>
              <a:rPr lang="en-GB" sz="1900" dirty="0">
                <a:latin typeface="Montserrat"/>
              </a:rPr>
              <a:t> is closed.</a:t>
            </a:r>
          </a:p>
          <a:p>
            <a:pPr marL="914400" lvl="1" indent="0">
              <a:spcBef>
                <a:spcPts val="600"/>
              </a:spcBef>
              <a:buNone/>
            </a:pPr>
            <a:endParaRPr lang="en-GB" sz="1800" dirty="0">
              <a:latin typeface="Montserrat"/>
            </a:endParaRPr>
          </a:p>
          <a:p>
            <a:pPr>
              <a:spcBef>
                <a:spcPts val="600"/>
              </a:spcBef>
            </a:pPr>
            <a:r>
              <a:rPr lang="en-GB" b="1" dirty="0">
                <a:latin typeface="Montserrat"/>
              </a:rPr>
              <a:t>Only use in an interpreter session, not in production code!</a:t>
            </a:r>
            <a:endParaRPr lang="en-GB" b="1" dirty="0"/>
          </a:p>
          <a:p>
            <a:pPr marL="457200" lvl="1" indent="-228600">
              <a:spcBef>
                <a:spcPts val="600"/>
              </a:spcBef>
              <a:buFont typeface="Arial"/>
              <a:buChar char="•"/>
            </a:pPr>
            <a:r>
              <a:rPr lang="en-GB" sz="1900" dirty="0">
                <a:latin typeface="Montserrat"/>
              </a:rPr>
              <a:t>Because of the side-effect of closing </a:t>
            </a:r>
            <a:r>
              <a:rPr lang="en-GB" sz="1900" dirty="0">
                <a:latin typeface="Courier New"/>
                <a:cs typeface="Courier New"/>
              </a:rPr>
              <a:t>stdin.</a:t>
            </a:r>
          </a:p>
        </p:txBody>
      </p:sp>
      <p:sp>
        <p:nvSpPr>
          <p:cNvPr id="4" name="TextBox 3"/>
          <p:cNvSpPr txBox="1"/>
          <p:nvPr/>
        </p:nvSpPr>
        <p:spPr>
          <a:xfrm>
            <a:off x="915146" y="3429000"/>
            <a:ext cx="5698996" cy="1200329"/>
          </a:xfrm>
          <a:prstGeom prst="rect">
            <a:avLst/>
          </a:prstGeom>
          <a:solidFill>
            <a:schemeClr val="tx1">
              <a:lumMod val="10000"/>
              <a:lumOff val="90000"/>
            </a:schemeClr>
          </a:solidFill>
          <a:ln>
            <a:solidFill>
              <a:schemeClr val="tx1"/>
            </a:solidFill>
          </a:ln>
          <a:effectLst>
            <a:outerShdw blurRad="50800" dist="38100" dir="2700000" algn="tl" rotWithShape="0">
              <a:prstClr val="black">
                <a:alpha val="40000"/>
              </a:prstClr>
            </a:outerShdw>
          </a:effectLst>
        </p:spPr>
        <p:txBody>
          <a:bodyPr wrap="none" rtlCol="0">
            <a:spAutoFit/>
          </a:bodyPr>
          <a:lstStyle/>
          <a:p>
            <a:r>
              <a:rPr lang="en-GB" dirty="0">
                <a:latin typeface="Courier New" pitchFamily="49" charset="0"/>
                <a:cs typeface="Courier New" pitchFamily="49" charset="0"/>
              </a:rPr>
              <a:t>&gt;&gt;&gt; exit</a:t>
            </a:r>
          </a:p>
          <a:p>
            <a:r>
              <a:rPr lang="en-GB" dirty="0">
                <a:latin typeface="Courier New" pitchFamily="49" charset="0"/>
                <a:cs typeface="Courier New" pitchFamily="49" charset="0"/>
              </a:rPr>
              <a:t>Use exit() or Ctrl-Z plus Return to exit</a:t>
            </a:r>
          </a:p>
          <a:p>
            <a:r>
              <a:rPr lang="en-GB" dirty="0">
                <a:latin typeface="Courier New" pitchFamily="49" charset="0"/>
                <a:cs typeface="Courier New" pitchFamily="49" charset="0"/>
              </a:rPr>
              <a:t>&gt;&gt;&gt; quit</a:t>
            </a:r>
          </a:p>
          <a:p>
            <a:r>
              <a:rPr lang="en-GB" dirty="0">
                <a:latin typeface="Courier New" pitchFamily="49" charset="0"/>
                <a:cs typeface="Courier New" pitchFamily="49" charset="0"/>
              </a:rPr>
              <a:t>Use quit() or Ctrl-Z plus Return to exit</a:t>
            </a:r>
          </a:p>
        </p:txBody>
      </p:sp>
      <p:sp>
        <p:nvSpPr>
          <p:cNvPr id="5" name="Slide Number Placeholder 4">
            <a:extLst>
              <a:ext uri="{FF2B5EF4-FFF2-40B4-BE49-F238E27FC236}">
                <a16:creationId xmlns:a16="http://schemas.microsoft.com/office/drawing/2014/main" id="{2A54C87B-1348-38F3-868E-A7D22B5B8D00}"/>
              </a:ext>
            </a:extLst>
          </p:cNvPr>
          <p:cNvSpPr>
            <a:spLocks noGrp="1"/>
          </p:cNvSpPr>
          <p:nvPr>
            <p:ph type="sldNum" sz="quarter" idx="4"/>
          </p:nvPr>
        </p:nvSpPr>
        <p:spPr/>
        <p:txBody>
          <a:bodyPr/>
          <a:lstStyle/>
          <a:p>
            <a:fld id="{EF892D59-8F09-EF4B-AD6D-DA609442F868}" type="slidenum">
              <a:rPr lang="en-GB" smtClean="0"/>
              <a:pPr/>
              <a:t>22</a:t>
            </a:fld>
            <a:endParaRPr lang="en-GB" dirty="0"/>
          </a:p>
        </p:txBody>
      </p:sp>
    </p:spTree>
    <p:extLst>
      <p:ext uri="{BB962C8B-B14F-4D97-AF65-F5344CB8AC3E}">
        <p14:creationId xmlns:p14="http://schemas.microsoft.com/office/powerpoint/2010/main" val="3021210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9620" name="Rectangle 4"/>
          <p:cNvSpPr>
            <a:spLocks noGrp="1" noChangeArrowheads="1"/>
          </p:cNvSpPr>
          <p:nvPr>
            <p:ph type="body" sz="quarter" idx="10"/>
          </p:nvPr>
        </p:nvSpPr>
        <p:spPr/>
        <p:txBody>
          <a:bodyPr>
            <a:normAutofit/>
          </a:bodyPr>
          <a:lstStyle/>
          <a:p>
            <a:r>
              <a:rPr lang="en-GB" dirty="0"/>
              <a:t>Summary</a:t>
            </a:r>
            <a:endParaRPr lang="en-GB" b="0" dirty="0">
              <a:latin typeface="Courier New" panose="02070309020205020404" pitchFamily="49" charset="0"/>
            </a:endParaRPr>
          </a:p>
        </p:txBody>
      </p:sp>
      <p:sp>
        <p:nvSpPr>
          <p:cNvPr id="2" name="Text Placeholder 1">
            <a:extLst>
              <a:ext uri="{FF2B5EF4-FFF2-40B4-BE49-F238E27FC236}">
                <a16:creationId xmlns:a16="http://schemas.microsoft.com/office/drawing/2014/main" id="{9C25F63F-6D37-42B7-ABBA-0CB1EC28859C}"/>
              </a:ext>
            </a:extLst>
          </p:cNvPr>
          <p:cNvSpPr>
            <a:spLocks noGrp="1"/>
          </p:cNvSpPr>
          <p:nvPr>
            <p:ph type="body" sz="quarter" idx="15"/>
          </p:nvPr>
        </p:nvSpPr>
        <p:spPr>
          <a:xfrm>
            <a:off x="4767003" y="694556"/>
            <a:ext cx="7192963" cy="5119407"/>
          </a:xfrm>
        </p:spPr>
        <p:txBody>
          <a:bodyPr/>
          <a:lstStyle/>
          <a:p>
            <a:r>
              <a:rPr lang="en-GB" sz="2000" b="1" dirty="0"/>
              <a:t>Python has the usual Boolean and logical operators</a:t>
            </a:r>
            <a:endParaRPr lang="en-US" sz="2000" dirty="0"/>
          </a:p>
          <a:p>
            <a:pPr marL="457200" lvl="2" indent="-228600"/>
            <a:r>
              <a:rPr lang="en-GB" sz="2000" dirty="0"/>
              <a:t>Be careful of types.</a:t>
            </a:r>
          </a:p>
          <a:p>
            <a:pPr marL="457200" lvl="2" indent="-228600"/>
            <a:endParaRPr lang="en-GB" sz="2000" dirty="0">
              <a:latin typeface="Montserrat"/>
            </a:endParaRPr>
          </a:p>
          <a:p>
            <a:r>
              <a:rPr lang="en-GB" sz="2000" b="1" dirty="0"/>
              <a:t>Basic flow control statements :</a:t>
            </a:r>
          </a:p>
          <a:p>
            <a:pPr marL="457200" lvl="1" indent="0">
              <a:buNone/>
            </a:pPr>
            <a:r>
              <a:rPr lang="en-GB" sz="2000" dirty="0">
                <a:latin typeface="Montserrat"/>
              </a:rPr>
              <a:t>if </a:t>
            </a:r>
            <a:r>
              <a:rPr lang="en-GB" sz="2000" i="1" dirty="0">
                <a:latin typeface="Montserrat"/>
              </a:rPr>
              <a:t>condition</a:t>
            </a:r>
            <a:r>
              <a:rPr lang="en-GB" sz="2000" dirty="0">
                <a:latin typeface="Montserrat"/>
              </a:rPr>
              <a:t>:</a:t>
            </a:r>
          </a:p>
          <a:p>
            <a:pPr marL="457200" lvl="1" indent="228600">
              <a:buFontTx/>
              <a:buNone/>
            </a:pPr>
            <a:r>
              <a:rPr lang="en-GB" sz="2000" i="1" dirty="0">
                <a:latin typeface="Montserrat"/>
              </a:rPr>
              <a:t>indented statements</a:t>
            </a:r>
            <a:endParaRPr lang="en-GB" sz="2000" dirty="0"/>
          </a:p>
          <a:p>
            <a:pPr marL="179705" lvl="3" indent="-179705">
              <a:buFontTx/>
              <a:buNone/>
            </a:pPr>
            <a:endParaRPr lang="en-GB" sz="2000" b="1" i="1" dirty="0"/>
          </a:p>
          <a:p>
            <a:pPr marL="179705" lvl="1" indent="277495">
              <a:buFontTx/>
              <a:buNone/>
            </a:pPr>
            <a:r>
              <a:rPr lang="en-GB" sz="2000" dirty="0"/>
              <a:t>while </a:t>
            </a:r>
            <a:r>
              <a:rPr lang="en-GB" sz="2000" i="1" dirty="0"/>
              <a:t>condition</a:t>
            </a:r>
            <a:r>
              <a:rPr lang="en-GB" sz="2000" dirty="0"/>
              <a:t>:</a:t>
            </a:r>
          </a:p>
          <a:p>
            <a:pPr marL="179705" lvl="1" indent="277495">
              <a:buFontTx/>
              <a:buNone/>
            </a:pPr>
            <a:r>
              <a:rPr lang="en-GB" sz="2000" dirty="0"/>
              <a:t>    </a:t>
            </a:r>
            <a:r>
              <a:rPr lang="en-GB" sz="2000" i="1" dirty="0"/>
              <a:t>indented statements</a:t>
            </a:r>
          </a:p>
          <a:p>
            <a:pPr marL="179705" lvl="3" indent="277495">
              <a:buFontTx/>
              <a:buNone/>
            </a:pPr>
            <a:endParaRPr lang="en-GB" sz="2000" b="1" i="1" dirty="0"/>
          </a:p>
          <a:p>
            <a:pPr marL="179705" lvl="1" indent="277495">
              <a:buFontTx/>
              <a:buNone/>
            </a:pPr>
            <a:r>
              <a:rPr lang="en-GB" sz="2000" dirty="0"/>
              <a:t>for </a:t>
            </a:r>
            <a:r>
              <a:rPr lang="en-GB" sz="2000" i="1" dirty="0"/>
              <a:t>target </a:t>
            </a:r>
            <a:r>
              <a:rPr lang="en-GB" sz="2000" dirty="0"/>
              <a:t>in</a:t>
            </a:r>
            <a:r>
              <a:rPr lang="en-GB" sz="2000" i="1" dirty="0"/>
              <a:t> object</a:t>
            </a:r>
            <a:r>
              <a:rPr lang="en-GB" sz="2000" dirty="0"/>
              <a:t>:</a:t>
            </a:r>
          </a:p>
          <a:p>
            <a:pPr marL="685800" lvl="1" indent="0">
              <a:buFontTx/>
              <a:buNone/>
            </a:pPr>
            <a:r>
              <a:rPr lang="en-GB" sz="2000" i="1" dirty="0">
                <a:latin typeface="Montserrat"/>
              </a:rPr>
              <a:t>indented statements</a:t>
            </a:r>
          </a:p>
          <a:p>
            <a:pPr marL="179705" lvl="1" indent="-179705">
              <a:buNone/>
            </a:pPr>
            <a:endParaRPr lang="en-GB" sz="2000" i="1" dirty="0"/>
          </a:p>
          <a:p>
            <a:r>
              <a:rPr lang="en-GB" sz="2000" b="1" dirty="0">
                <a:latin typeface="Montserrat"/>
              </a:rPr>
              <a:t>Terminate a process using </a:t>
            </a:r>
            <a:r>
              <a:rPr lang="en-GB" sz="2000" b="1" dirty="0" err="1">
                <a:latin typeface="Courier New"/>
                <a:cs typeface="Courier New"/>
              </a:rPr>
              <a:t>sys.exit</a:t>
            </a:r>
            <a:r>
              <a:rPr lang="en-GB" sz="2000" b="1" dirty="0">
                <a:latin typeface="Courier New"/>
                <a:cs typeface="Courier New"/>
              </a:rPr>
              <a:t>().</a:t>
            </a:r>
          </a:p>
          <a:p>
            <a:endParaRPr lang="en-GB" sz="2000" dirty="0"/>
          </a:p>
        </p:txBody>
      </p:sp>
      <p:sp>
        <p:nvSpPr>
          <p:cNvPr id="3" name="Slide Number Placeholder 2">
            <a:extLst>
              <a:ext uri="{FF2B5EF4-FFF2-40B4-BE49-F238E27FC236}">
                <a16:creationId xmlns:a16="http://schemas.microsoft.com/office/drawing/2014/main" id="{A0FE7414-6170-4AC2-84E0-3AA57418C515}"/>
              </a:ext>
            </a:extLst>
          </p:cNvPr>
          <p:cNvSpPr>
            <a:spLocks noGrp="1"/>
          </p:cNvSpPr>
          <p:nvPr>
            <p:ph type="sldNum" sz="quarter" idx="4"/>
          </p:nvPr>
        </p:nvSpPr>
        <p:spPr/>
        <p:txBody>
          <a:bodyPr/>
          <a:lstStyle/>
          <a:p>
            <a:fld id="{EF892D59-8F09-EF4B-AD6D-DA609442F868}" type="slidenum">
              <a:rPr lang="en-GB" smtClean="0"/>
              <a:pPr/>
              <a:t>23</a:t>
            </a:fld>
            <a:endParaRPr lang="en-GB" dirty="0"/>
          </a:p>
        </p:txBody>
      </p:sp>
    </p:spTree>
    <p:extLst>
      <p:ext uri="{BB962C8B-B14F-4D97-AF65-F5344CB8AC3E}">
        <p14:creationId xmlns:p14="http://schemas.microsoft.com/office/powerpoint/2010/main" val="17196278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2000"/>
                                  </p:stCondLst>
                                  <p:childTnLst>
                                    <p:set>
                                      <p:cBhvr>
                                        <p:cTn id="6" dur="1" fill="hold">
                                          <p:stCondLst>
                                            <p:cond delay="0"/>
                                          </p:stCondLst>
                                        </p:cTn>
                                        <p:tgtEl>
                                          <p:spTgt spid="879620">
                                            <p:txEl>
                                              <p:pRg st="0" end="0"/>
                                            </p:txEl>
                                          </p:spTgt>
                                        </p:tgtEl>
                                        <p:attrNameLst>
                                          <p:attrName>style.visibility</p:attrName>
                                        </p:attrNameLst>
                                      </p:cBhvr>
                                      <p:to>
                                        <p:strVal val="visible"/>
                                      </p:to>
                                    </p:set>
                                    <p:animEffect transition="in" filter="slide(fromTop)">
                                      <p:cBhvr>
                                        <p:cTn id="7" dur="500"/>
                                        <p:tgtEl>
                                          <p:spTgt spid="8796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20" grpId="0" build="p" autoUpdateAnimBg="0" advAuto="200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BE98484-7256-4E3A-B705-C986CD5A016A}">
  <ds:schemaRefs>
    <ds:schemaRef ds:uri="http://schemas.microsoft.com/sharepoint/v3/contenttype/forms"/>
  </ds:schemaRefs>
</ds:datastoreItem>
</file>

<file path=customXml/itemProps2.xml><?xml version="1.0" encoding="utf-8"?>
<ds:datastoreItem xmlns:ds="http://schemas.openxmlformats.org/officeDocument/2006/customXml" ds:itemID="{C89CFCD5-3140-45DE-8ED9-476E1A0D0F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d1066a-245b-4400-ad94-398f95c475c9"/>
    <ds:schemaRef ds:uri="9d579490-102d-4bf3-8643-974e676835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B4158A-C0C4-4D44-A3BA-C6D52A324163}">
  <ds:schemaRefs>
    <ds:schemaRef ds:uri="http://purl.org/dc/elements/1.1/"/>
    <ds:schemaRef ds:uri="http://schemas.microsoft.com/office/2006/metadata/properties"/>
    <ds:schemaRef ds:uri="5658a7d0-6a08-4b10-980f-26d551ebb763"/>
    <ds:schemaRef ds:uri="http://purl.org/dc/terms/"/>
    <ds:schemaRef ds:uri="http://schemas.openxmlformats.org/package/2006/metadata/core-properties"/>
    <ds:schemaRef ds:uri="2adca231-d9e0-4ab7-b9c8-e8741ed43f47"/>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1906</TotalTime>
  <Words>5329</Words>
  <Application>Microsoft Office PowerPoint</Application>
  <PresentationFormat>Widescreen</PresentationFormat>
  <Paragraphs>583</Paragraphs>
  <Slides>23</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23</vt:i4>
      </vt:variant>
    </vt:vector>
  </HeadingPairs>
  <TitlesOfParts>
    <vt:vector size="32" baseType="lpstr">
      <vt:lpstr>Courier New</vt:lpstr>
      <vt:lpstr>Calibri</vt:lpstr>
      <vt:lpstr>Arial</vt:lpstr>
      <vt:lpstr>Wingdings</vt:lpstr>
      <vt:lpstr>Montserrat Black</vt:lpstr>
      <vt:lpstr>Montserrat</vt:lpstr>
      <vt:lpstr>Master</vt:lpstr>
      <vt:lpstr>Bitmap Image</vt:lpstr>
      <vt:lpstr>ClipArt</vt:lpstr>
      <vt:lpstr>Python 3 programming</vt:lpstr>
      <vt:lpstr>PowerPoint Presentation</vt:lpstr>
      <vt:lpstr>Python conditionals</vt:lpstr>
      <vt:lpstr>Python conditionals</vt:lpstr>
      <vt:lpstr>Python conditionals</vt:lpstr>
      <vt:lpstr>Indentation</vt:lpstr>
      <vt:lpstr>What is truth?</vt:lpstr>
      <vt:lpstr>Comparison and Boolean operators</vt:lpstr>
      <vt:lpstr>Chained comparisons</vt:lpstr>
      <vt:lpstr>Sequence and collection tests</vt:lpstr>
      <vt:lpstr>Object types</vt:lpstr>
      <vt:lpstr>PowerPoint Presentation</vt:lpstr>
      <vt:lpstr>While loops</vt:lpstr>
      <vt:lpstr>Loop control statements</vt:lpstr>
      <vt:lpstr>For loops</vt:lpstr>
      <vt:lpstr>For loops</vt:lpstr>
      <vt:lpstr>enumerate</vt:lpstr>
      <vt:lpstr>Counting 'for' loops</vt:lpstr>
      <vt:lpstr>Zipping through multiple related lists </vt:lpstr>
      <vt:lpstr>Conditional expressions</vt:lpstr>
      <vt:lpstr>Unconditional closedown</vt:lpstr>
      <vt:lpstr>Unconditional flow control (2)</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Cameron, Donald</cp:lastModifiedBy>
  <cp:revision>886</cp:revision>
  <cp:lastPrinted>2019-07-03T09:46:41Z</cp:lastPrinted>
  <dcterms:created xsi:type="dcterms:W3CDTF">2019-09-05T08:17:12Z</dcterms:created>
  <dcterms:modified xsi:type="dcterms:W3CDTF">2025-08-28T13:29:59Z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3</vt:lpwstr>
  </property>
  <property fmtid="{D5CDD505-2E9C-101B-9397-08002B2CF9AE}" pid="5" name="MediaServiceImageTags">
    <vt:lpwstr/>
  </property>
</Properties>
</file>