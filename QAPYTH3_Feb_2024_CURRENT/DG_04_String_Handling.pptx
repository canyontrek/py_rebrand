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26"/>
  </p:notesMasterIdLst>
  <p:handoutMasterIdLst>
    <p:handoutMasterId r:id="rId27"/>
  </p:handoutMasterIdLst>
  <p:sldIdLst>
    <p:sldId id="303" r:id="rId5"/>
    <p:sldId id="304" r:id="rId6"/>
    <p:sldId id="283" r:id="rId7"/>
    <p:sldId id="284" r:id="rId8"/>
    <p:sldId id="285" r:id="rId9"/>
    <p:sldId id="286" r:id="rId10"/>
    <p:sldId id="287" r:id="rId11"/>
    <p:sldId id="288" r:id="rId12"/>
    <p:sldId id="289" r:id="rId13"/>
    <p:sldId id="290" r:id="rId14"/>
    <p:sldId id="291" r:id="rId15"/>
    <p:sldId id="292" r:id="rId16"/>
    <p:sldId id="299" r:id="rId17"/>
    <p:sldId id="300" r:id="rId18"/>
    <p:sldId id="293" r:id="rId19"/>
    <p:sldId id="294" r:id="rId20"/>
    <p:sldId id="305" r:id="rId21"/>
    <p:sldId id="296" r:id="rId22"/>
    <p:sldId id="297" r:id="rId23"/>
    <p:sldId id="298" r:id="rId24"/>
    <p:sldId id="302" r:id="rId25"/>
  </p:sldIdLst>
  <p:sldSz cx="12192000" cy="6858000"/>
  <p:notesSz cx="6645275" cy="9775825"/>
  <p:embeddedFontLst>
    <p:embeddedFont>
      <p:font typeface="Montserrat" panose="00000500000000000000" pitchFamily="2" charset="0"/>
      <p:regular r:id="rId28"/>
      <p:bold r:id="rId29"/>
      <p:italic r:id="rId30"/>
      <p:boldItalic r:id="rId31"/>
    </p:embeddedFont>
    <p:embeddedFont>
      <p:font typeface="Montserrat Black" panose="00000A00000000000000" pitchFamily="2" charset="0"/>
      <p:bold r:id="rId32"/>
      <p:boldItalic r:id="rId33"/>
    </p:embeddedFont>
    <p:embeddedFont>
      <p:font typeface="Segoe UI" panose="020B0502040204020203" pitchFamily="34" charset="0"/>
      <p:regular r:id="rId34"/>
      <p:bold r:id="rId35"/>
      <p:italic r:id="rId36"/>
      <p:boldItalic r:id="rId37"/>
    </p:embeddedFont>
  </p:embeddedFontLst>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EDB8"/>
    <a:srgbClr val="004050"/>
    <a:srgbClr val="F91258"/>
    <a:srgbClr val="7E007C"/>
    <a:srgbClr val="28CFF9"/>
    <a:srgbClr val="F3622C"/>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16E137-844F-0109-005A-BADB34CE2BC8}" v="18" dt="2023-08-22T15:51:09.177"/>
    <p1510:client id="{64927637-32F8-4A26-D54D-4A3334976743}" v="590" dt="2023-06-22T14:29:07.2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89978" autoAdjust="0"/>
  </p:normalViewPr>
  <p:slideViewPr>
    <p:cSldViewPr snapToGrid="0" snapToObjects="1" showGuides="1">
      <p:cViewPr varScale="1">
        <p:scale>
          <a:sx n="99" d="100"/>
          <a:sy n="99" d="100"/>
        </p:scale>
        <p:origin x="1296" y="78"/>
      </p:cViewPr>
      <p:guideLst>
        <p:guide pos="3840"/>
        <p:guide orient="horz" pos="377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Lst>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9"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7.fntdata"/><Relationship Id="rId42"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6.fntdata"/><Relationship Id="rId38"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2.fntdata"/><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4.fntdata"/><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ableStyles" Target="tableStyles.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13" Type="http://schemas.openxmlformats.org/officeDocument/2006/relationships/slide" Target="slides/slide16.xml"/><Relationship Id="rId3" Type="http://schemas.openxmlformats.org/officeDocument/2006/relationships/slide" Target="slides/slide4.xml"/><Relationship Id="rId7" Type="http://schemas.openxmlformats.org/officeDocument/2006/relationships/slide" Target="slides/slide8.xml"/><Relationship Id="rId12" Type="http://schemas.openxmlformats.org/officeDocument/2006/relationships/slide" Target="slides/slide15.xml"/><Relationship Id="rId2" Type="http://schemas.openxmlformats.org/officeDocument/2006/relationships/slide" Target="slides/slide3.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2.xml"/><Relationship Id="rId5" Type="http://schemas.openxmlformats.org/officeDocument/2006/relationships/slide" Target="slides/slide6.xml"/><Relationship Id="rId15" Type="http://schemas.openxmlformats.org/officeDocument/2006/relationships/slide" Target="slides/slide19.xml"/><Relationship Id="rId10" Type="http://schemas.openxmlformats.org/officeDocument/2006/relationships/slide" Target="slides/slide11.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20/02/2024</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20/02/2024</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309563" y="1038225"/>
            <a:ext cx="6018212" cy="3386138"/>
          </a:xfr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latin typeface="Arial" charset="0"/>
              <a:cs typeface="Arial" charset="0"/>
            </a:endParaRPr>
          </a:p>
        </p:txBody>
      </p:sp>
    </p:spTree>
    <p:extLst>
      <p:ext uri="{BB962C8B-B14F-4D97-AF65-F5344CB8AC3E}">
        <p14:creationId xmlns:p14="http://schemas.microsoft.com/office/powerpoint/2010/main" val="3324709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 name="Rectangle 3"/>
          <p:cNvSpPr>
            <a:spLocks noGrp="1" noChangeArrowheads="1"/>
          </p:cNvSpPr>
          <p:nvPr>
            <p:ph type="body" idx="1"/>
          </p:nvPr>
        </p:nvSpPr>
        <p:spPr/>
        <p:txBody>
          <a:bodyPr/>
          <a:lstStyle/>
          <a:p>
            <a:r>
              <a:rPr lang="en-GB" dirty="0"/>
              <a:t>Handling text is important to most Python programs, and is a fundamental object type in Python. They went through an import change between Python 2 and 3…</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1401834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Rot="1" noChangeAspect="1" noChangeArrowheads="1" noTextEdit="1"/>
          </p:cNvSpPr>
          <p:nvPr>
            <p:ph type="sldImg"/>
          </p:nvPr>
        </p:nvSpPr>
        <p:spPr>
          <a:ln/>
        </p:spPr>
      </p:sp>
      <p:sp>
        <p:nvSpPr>
          <p:cNvPr id="2458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String types went through a major revision at Python 3, they are now Unicode strings, which are usually two bytes for each character. In 3.3 strings are more flexible, and are stored internally in as few bytes as possible. Therefore, ASCII characters only use one byte each, despite being part of a </a:t>
            </a:r>
            <a:r>
              <a:rPr lang="en-GB" dirty="0" err="1"/>
              <a:t>unicode</a:t>
            </a:r>
            <a:r>
              <a:rPr lang="en-GB" dirty="0"/>
              <a:t> object (this optimisation reduces memory usage significantly).</a:t>
            </a:r>
          </a:p>
          <a:p>
            <a:r>
              <a:rPr lang="en-GB" dirty="0"/>
              <a:t>The default encoding used is UTF-8, but this can be altered by a pragma comment at the start of the script, for example:</a:t>
            </a:r>
          </a:p>
          <a:p>
            <a:r>
              <a:rPr lang="en-GB" dirty="0"/>
              <a:t>     </a:t>
            </a:r>
            <a:r>
              <a:rPr lang="en-GB" dirty="0">
                <a:latin typeface="Courier New" pitchFamily="49" charset="0"/>
                <a:cs typeface="Courier New" pitchFamily="49" charset="0"/>
              </a:rPr>
              <a:t># -*- coding: latin-1 -*- </a:t>
            </a:r>
          </a:p>
          <a:p>
            <a:r>
              <a:rPr lang="en-GB" dirty="0"/>
              <a:t>See the Python help text for a list of standard encodings, it is a long list! The current encoding can be obtained from </a:t>
            </a:r>
            <a:r>
              <a:rPr lang="en-GB" b="1" dirty="0" err="1">
                <a:latin typeface="Courier New" pitchFamily="49" charset="0"/>
                <a:cs typeface="Courier New" pitchFamily="49" charset="0"/>
              </a:rPr>
              <a:t>sys.getdefaultencoding</a:t>
            </a:r>
            <a:r>
              <a:rPr lang="en-GB" b="1" dirty="0">
                <a:latin typeface="Courier New" pitchFamily="49" charset="0"/>
                <a:cs typeface="Courier New" pitchFamily="49" charset="0"/>
              </a:rPr>
              <a:t>()</a:t>
            </a:r>
            <a:r>
              <a:rPr lang="en-GB" dirty="0"/>
              <a:t>.</a:t>
            </a:r>
          </a:p>
          <a:p>
            <a:r>
              <a:rPr lang="en-GB" dirty="0"/>
              <a:t>The old Python 2 u"…" prefix was not supported in 3.0 to 3.2, but reappeared at 3.3.  It has no effect on Python 3 and is only there for backward compatibility.</a:t>
            </a:r>
          </a:p>
          <a:p>
            <a:r>
              <a:rPr lang="en-GB" dirty="0"/>
              <a:t>You will see </a:t>
            </a:r>
            <a:r>
              <a:rPr lang="en-GB" b="1" dirty="0">
                <a:latin typeface="Courier New" pitchFamily="49" charset="0"/>
              </a:rPr>
              <a:t>bytes</a:t>
            </a:r>
            <a:r>
              <a:rPr lang="en-GB" dirty="0"/>
              <a:t> and </a:t>
            </a:r>
            <a:r>
              <a:rPr lang="en-GB" b="1" dirty="0" err="1">
                <a:latin typeface="Courier New" pitchFamily="49" charset="0"/>
              </a:rPr>
              <a:t>bytearray</a:t>
            </a:r>
            <a:r>
              <a:rPr lang="en-GB" dirty="0"/>
              <a:t> mentioned in the documentation, and we will briefly see them later in the course. They map to the old single-byte character sets and are mostly used for interfacing with low-level primitives written in C, and for compatibility with Python 2.</a:t>
            </a:r>
          </a:p>
          <a:p>
            <a:r>
              <a:rPr lang="en-GB" dirty="0"/>
              <a:t>You may find other, specialised, string types. For example, the GUI package </a:t>
            </a:r>
            <a:r>
              <a:rPr lang="en-GB" dirty="0" err="1"/>
              <a:t>PyQt</a:t>
            </a:r>
            <a:r>
              <a:rPr lang="en-GB" dirty="0"/>
              <a:t> has a </a:t>
            </a:r>
            <a:r>
              <a:rPr lang="en-GB" dirty="0" err="1">
                <a:latin typeface="Courier New" pitchFamily="49" charset="0"/>
              </a:rPr>
              <a:t>QString</a:t>
            </a:r>
            <a:r>
              <a:rPr lang="en-GB" dirty="0"/>
              <a:t> type.</a:t>
            </a:r>
          </a:p>
        </p:txBody>
      </p:sp>
    </p:spTree>
    <p:extLst>
      <p:ext uri="{BB962C8B-B14F-4D97-AF65-F5344CB8AC3E}">
        <p14:creationId xmlns:p14="http://schemas.microsoft.com/office/powerpoint/2010/main" val="1039663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Rot="1" noChangeAspect="1" noChangeArrowheads="1" noTextEdit="1"/>
          </p:cNvSpPr>
          <p:nvPr>
            <p:ph type="sldImg"/>
          </p:nvPr>
        </p:nvSpPr>
        <p:spPr>
          <a:ln/>
        </p:spPr>
      </p:sp>
      <p:sp>
        <p:nvSpPr>
          <p:cNvPr id="2560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built-in </a:t>
            </a:r>
            <a:r>
              <a:rPr lang="en-GB" b="1" dirty="0">
                <a:latin typeface="Courier New" pitchFamily="49" charset="0"/>
              </a:rPr>
              <a:t>print() </a:t>
            </a:r>
            <a:r>
              <a:rPr lang="en-GB" dirty="0"/>
              <a:t>function is one of the most used functions, and we have seen it before. The </a:t>
            </a:r>
            <a:r>
              <a:rPr lang="en-GB" b="1" dirty="0">
                <a:latin typeface="Courier New" pitchFamily="49" charset="0"/>
              </a:rPr>
              <a:t>print()</a:t>
            </a:r>
            <a:r>
              <a:rPr lang="en-GB" dirty="0"/>
              <a:t> </a:t>
            </a:r>
            <a:r>
              <a:rPr lang="en-GB" i="1" dirty="0"/>
              <a:t>function</a:t>
            </a:r>
            <a:r>
              <a:rPr lang="en-GB" dirty="0"/>
              <a:t> was introduced at Python 2.6 and replaced the old </a:t>
            </a:r>
            <a:r>
              <a:rPr lang="en-GB" b="1" dirty="0">
                <a:latin typeface="Courier New" pitchFamily="49" charset="0"/>
              </a:rPr>
              <a:t>print</a:t>
            </a:r>
            <a:r>
              <a:rPr lang="en-GB" dirty="0"/>
              <a:t> </a:t>
            </a:r>
            <a:r>
              <a:rPr lang="en-GB" i="1" dirty="0"/>
              <a:t>statement</a:t>
            </a:r>
            <a:r>
              <a:rPr lang="en-GB" dirty="0"/>
              <a:t> at Python 3.0 (so, 2.6 and 2.7 has both). The named arguments are new, as are the parentheses which are required now that </a:t>
            </a:r>
            <a:r>
              <a:rPr lang="en-GB" b="1" dirty="0">
                <a:latin typeface="Courier New" pitchFamily="49" charset="0"/>
              </a:rPr>
              <a:t>print</a:t>
            </a:r>
            <a:r>
              <a:rPr lang="en-GB" dirty="0"/>
              <a:t> is a function. </a:t>
            </a:r>
          </a:p>
          <a:p>
            <a:r>
              <a:rPr lang="en-GB" dirty="0"/>
              <a:t> </a:t>
            </a:r>
          </a:p>
          <a:p>
            <a:r>
              <a:rPr lang="en-GB" dirty="0"/>
              <a:t>The </a:t>
            </a:r>
            <a:r>
              <a:rPr lang="en-GB" b="1" dirty="0">
                <a:latin typeface="Courier New" pitchFamily="49" charset="0"/>
                <a:cs typeface="Courier New" pitchFamily="49" charset="0"/>
              </a:rPr>
              <a:t>flush</a:t>
            </a:r>
            <a:r>
              <a:rPr lang="en-GB" dirty="0"/>
              <a:t> argument was added at Python 3.3.</a:t>
            </a:r>
          </a:p>
          <a:p>
            <a:r>
              <a:rPr lang="en-GB" dirty="0"/>
              <a:t>When we say that objects are </a:t>
            </a:r>
            <a:r>
              <a:rPr lang="en-GB" i="1" dirty="0" err="1"/>
              <a:t>stringified</a:t>
            </a:r>
            <a:r>
              <a:rPr lang="en-GB" dirty="0"/>
              <a:t>, we mean that they are converted to strings into the same format as the </a:t>
            </a:r>
            <a:r>
              <a:rPr lang="en-GB" b="1" dirty="0" err="1">
                <a:latin typeface="Courier New" pitchFamily="49" charset="0"/>
              </a:rPr>
              <a:t>str</a:t>
            </a:r>
            <a:r>
              <a:rPr lang="en-GB" dirty="0"/>
              <a:t> built-in function. As we shall see later, this can be overridden by a class method to </a:t>
            </a:r>
            <a:r>
              <a:rPr lang="en-GB" dirty="0" err="1"/>
              <a:t>stringify</a:t>
            </a:r>
            <a:r>
              <a:rPr lang="en-GB" dirty="0"/>
              <a:t> an object.</a:t>
            </a:r>
          </a:p>
          <a:p>
            <a:endParaRPr lang="en-GB" dirty="0"/>
          </a:p>
          <a:p>
            <a:r>
              <a:rPr lang="en-GB" dirty="0"/>
              <a:t>We shall see how to use </a:t>
            </a:r>
            <a:r>
              <a:rPr lang="en-GB" b="1" dirty="0">
                <a:latin typeface="Courier New" pitchFamily="49" charset="0"/>
              </a:rPr>
              <a:t>print</a:t>
            </a:r>
            <a:r>
              <a:rPr lang="en-GB" dirty="0"/>
              <a:t> with file objects in a later chapter.</a:t>
            </a:r>
          </a:p>
        </p:txBody>
      </p:sp>
    </p:spTree>
    <p:extLst>
      <p:ext uri="{BB962C8B-B14F-4D97-AF65-F5344CB8AC3E}">
        <p14:creationId xmlns:p14="http://schemas.microsoft.com/office/powerpoint/2010/main" val="4069664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Rot="1" noChangeAspect="1" noChangeArrowheads="1" noTextEdit="1"/>
          </p:cNvSpPr>
          <p:nvPr>
            <p:ph type="sldImg"/>
          </p:nvPr>
        </p:nvSpPr>
        <p:spPr>
          <a:ln/>
        </p:spPr>
      </p:sp>
      <p:sp>
        <p:nvSpPr>
          <p:cNvPr id="2663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Escape codes:</a:t>
            </a:r>
          </a:p>
          <a:p>
            <a:pPr lvl="1">
              <a:spcBef>
                <a:spcPct val="0"/>
              </a:spcBef>
            </a:pPr>
            <a:r>
              <a:rPr lang="en-GB" dirty="0"/>
              <a:t>\</a:t>
            </a:r>
            <a:r>
              <a:rPr lang="en-GB" i="1" dirty="0"/>
              <a:t>newline	newline</a:t>
            </a:r>
            <a:r>
              <a:rPr lang="en-GB" dirty="0"/>
              <a:t> is ignored</a:t>
            </a:r>
          </a:p>
          <a:p>
            <a:pPr lvl="1">
              <a:spcBef>
                <a:spcPct val="0"/>
              </a:spcBef>
            </a:pPr>
            <a:r>
              <a:rPr lang="en-GB" dirty="0"/>
              <a:t>\\		Backslash (\)</a:t>
            </a:r>
          </a:p>
          <a:p>
            <a:pPr lvl="1">
              <a:spcBef>
                <a:spcPct val="0"/>
              </a:spcBef>
            </a:pPr>
            <a:r>
              <a:rPr lang="en-GB" dirty="0"/>
              <a:t>\'		Single quote (')</a:t>
            </a:r>
          </a:p>
          <a:p>
            <a:pPr lvl="1">
              <a:spcBef>
                <a:spcPct val="0"/>
              </a:spcBef>
            </a:pPr>
            <a:r>
              <a:rPr lang="en-GB" dirty="0"/>
              <a:t>\"		Double quote (")</a:t>
            </a:r>
          </a:p>
          <a:p>
            <a:pPr lvl="1">
              <a:spcBef>
                <a:spcPct val="0"/>
              </a:spcBef>
            </a:pPr>
            <a:r>
              <a:rPr lang="en-GB" dirty="0"/>
              <a:t>\a		Bell (BEL)</a:t>
            </a:r>
          </a:p>
          <a:p>
            <a:pPr lvl="1">
              <a:spcBef>
                <a:spcPct val="0"/>
              </a:spcBef>
            </a:pPr>
            <a:r>
              <a:rPr lang="en-GB" dirty="0"/>
              <a:t>\b		Backspace (BS)</a:t>
            </a:r>
          </a:p>
          <a:p>
            <a:pPr lvl="1">
              <a:spcBef>
                <a:spcPct val="0"/>
              </a:spcBef>
            </a:pPr>
            <a:r>
              <a:rPr lang="en-GB" dirty="0"/>
              <a:t>\f		</a:t>
            </a:r>
            <a:r>
              <a:rPr lang="en-GB" dirty="0" err="1"/>
              <a:t>Formfeed</a:t>
            </a:r>
            <a:r>
              <a:rPr lang="en-GB" dirty="0"/>
              <a:t> (FF)</a:t>
            </a:r>
          </a:p>
          <a:p>
            <a:pPr lvl="1">
              <a:spcBef>
                <a:spcPct val="0"/>
              </a:spcBef>
            </a:pPr>
            <a:r>
              <a:rPr lang="en-GB" dirty="0"/>
              <a:t>\n		Linefeed (LF)</a:t>
            </a:r>
          </a:p>
          <a:p>
            <a:pPr lvl="1">
              <a:spcBef>
                <a:spcPct val="0"/>
              </a:spcBef>
            </a:pPr>
            <a:r>
              <a:rPr lang="en-GB" dirty="0"/>
              <a:t>\N{</a:t>
            </a:r>
            <a:r>
              <a:rPr lang="en-GB" i="1" dirty="0"/>
              <a:t>name</a:t>
            </a:r>
            <a:r>
              <a:rPr lang="en-GB" dirty="0"/>
              <a:t>}	Character named </a:t>
            </a:r>
            <a:r>
              <a:rPr lang="en-GB" i="1" dirty="0"/>
              <a:t>name</a:t>
            </a:r>
            <a:r>
              <a:rPr lang="en-GB" dirty="0"/>
              <a:t> in the Unicode database</a:t>
            </a:r>
          </a:p>
          <a:p>
            <a:pPr lvl="1">
              <a:spcBef>
                <a:spcPct val="0"/>
              </a:spcBef>
            </a:pPr>
            <a:r>
              <a:rPr lang="en-GB" dirty="0"/>
              <a:t>\r		Carriage Return (CR)</a:t>
            </a:r>
          </a:p>
          <a:p>
            <a:pPr lvl="1">
              <a:spcBef>
                <a:spcPct val="0"/>
              </a:spcBef>
            </a:pPr>
            <a:r>
              <a:rPr lang="en-GB" dirty="0"/>
              <a:t>\t		Horizontal Tab (TAB)</a:t>
            </a:r>
          </a:p>
          <a:p>
            <a:pPr lvl="1">
              <a:spcBef>
                <a:spcPct val="0"/>
              </a:spcBef>
            </a:pPr>
            <a:r>
              <a:rPr lang="en-GB" dirty="0"/>
              <a:t>\</a:t>
            </a:r>
            <a:r>
              <a:rPr lang="en-GB" dirty="0" err="1"/>
              <a:t>u</a:t>
            </a:r>
            <a:r>
              <a:rPr lang="en-GB" i="1" dirty="0" err="1"/>
              <a:t>xxxx</a:t>
            </a:r>
            <a:r>
              <a:rPr lang="en-GB" i="1" dirty="0"/>
              <a:t>	</a:t>
            </a:r>
            <a:r>
              <a:rPr lang="en-GB" dirty="0"/>
              <a:t>Character with 16-bit hex value </a:t>
            </a:r>
            <a:r>
              <a:rPr lang="en-GB" i="1" dirty="0" err="1"/>
              <a:t>xxxx</a:t>
            </a:r>
            <a:endParaRPr lang="en-GB" dirty="0"/>
          </a:p>
          <a:p>
            <a:pPr lvl="1">
              <a:spcBef>
                <a:spcPct val="0"/>
              </a:spcBef>
            </a:pPr>
            <a:r>
              <a:rPr lang="en-GB" dirty="0"/>
              <a:t>\</a:t>
            </a:r>
            <a:r>
              <a:rPr lang="en-GB" dirty="0" err="1"/>
              <a:t>U</a:t>
            </a:r>
            <a:r>
              <a:rPr lang="en-GB" i="1" dirty="0" err="1"/>
              <a:t>xxxxxxxx</a:t>
            </a:r>
            <a:r>
              <a:rPr lang="en-GB" i="1" dirty="0"/>
              <a:t>	</a:t>
            </a:r>
            <a:r>
              <a:rPr lang="en-GB" dirty="0"/>
              <a:t>Character with 32-bit hex value </a:t>
            </a:r>
            <a:r>
              <a:rPr lang="en-GB" i="1" dirty="0" err="1"/>
              <a:t>xxxxxxxx</a:t>
            </a:r>
            <a:endParaRPr lang="en-GB" dirty="0"/>
          </a:p>
          <a:p>
            <a:pPr lvl="1">
              <a:spcBef>
                <a:spcPct val="0"/>
              </a:spcBef>
            </a:pPr>
            <a:r>
              <a:rPr lang="en-GB" dirty="0"/>
              <a:t>\v		Vertical Tab (VT)</a:t>
            </a:r>
          </a:p>
          <a:p>
            <a:pPr lvl="1">
              <a:spcBef>
                <a:spcPct val="0"/>
              </a:spcBef>
            </a:pPr>
            <a:r>
              <a:rPr lang="en-GB" dirty="0"/>
              <a:t>\</a:t>
            </a:r>
            <a:r>
              <a:rPr lang="en-GB" i="1" dirty="0" err="1"/>
              <a:t>ooo</a:t>
            </a:r>
            <a:r>
              <a:rPr lang="en-GB" i="1" dirty="0"/>
              <a:t>	</a:t>
            </a:r>
            <a:r>
              <a:rPr lang="en-GB" dirty="0"/>
              <a:t>Character with octal value </a:t>
            </a:r>
            <a:r>
              <a:rPr lang="en-GB" i="1" dirty="0" err="1"/>
              <a:t>ooo</a:t>
            </a:r>
            <a:r>
              <a:rPr lang="en-GB" dirty="0"/>
              <a:t>(3,5)</a:t>
            </a:r>
          </a:p>
          <a:p>
            <a:pPr lvl="1">
              <a:spcBef>
                <a:spcPct val="0"/>
              </a:spcBef>
            </a:pPr>
            <a:r>
              <a:rPr lang="en-GB" dirty="0"/>
              <a:t>\0		Null</a:t>
            </a:r>
          </a:p>
          <a:p>
            <a:pPr lvl="1">
              <a:spcBef>
                <a:spcPct val="0"/>
              </a:spcBef>
            </a:pPr>
            <a:r>
              <a:rPr lang="en-GB" dirty="0"/>
              <a:t>\</a:t>
            </a:r>
            <a:r>
              <a:rPr lang="en-GB" dirty="0" err="1"/>
              <a:t>x</a:t>
            </a:r>
            <a:r>
              <a:rPr lang="en-GB" i="1" dirty="0" err="1"/>
              <a:t>hh</a:t>
            </a:r>
            <a:r>
              <a:rPr lang="en-GB" i="1" dirty="0"/>
              <a:t>	</a:t>
            </a:r>
            <a:r>
              <a:rPr lang="en-GB" dirty="0"/>
              <a:t>Character with hex value </a:t>
            </a:r>
            <a:r>
              <a:rPr lang="en-GB" i="1" dirty="0" err="1"/>
              <a:t>hh</a:t>
            </a:r>
            <a:endParaRPr lang="en-GB" dirty="0"/>
          </a:p>
          <a:p>
            <a:endParaRPr lang="en-GB" dirty="0"/>
          </a:p>
          <a:p>
            <a:r>
              <a:rPr lang="en-GB" dirty="0"/>
              <a:t>Triple quoted strings """ are discussed later.</a:t>
            </a:r>
          </a:p>
          <a:p>
            <a:r>
              <a:rPr lang="en-GB" dirty="0"/>
              <a:t>Raw strings are particularly useful when we do not want these translations. For example when using regular expressions \1, \2, etc. are used as back-references (see later) and if you do not use raw strings these will be translated as \x01, \x02, etc. The last character inside a raw string may not be a \.</a:t>
            </a:r>
          </a:p>
        </p:txBody>
      </p:sp>
    </p:spTree>
    <p:extLst>
      <p:ext uri="{BB962C8B-B14F-4D97-AF65-F5344CB8AC3E}">
        <p14:creationId xmlns:p14="http://schemas.microsoft.com/office/powerpoint/2010/main" val="592332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Rot="1" noChangeAspect="1" noChangeArrowheads="1" noTextEdit="1"/>
          </p:cNvSpPr>
          <p:nvPr>
            <p:ph type="sldImg"/>
          </p:nvPr>
        </p:nvSpPr>
        <p:spPr>
          <a:ln/>
        </p:spPr>
      </p:sp>
      <p:sp>
        <p:nvSpPr>
          <p:cNvPr id="2765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Much like </a:t>
            </a:r>
            <a:r>
              <a:rPr lang="en-GB" i="1" dirty="0" err="1"/>
              <a:t>awk</a:t>
            </a:r>
            <a:r>
              <a:rPr lang="en-GB" dirty="0"/>
              <a:t>, string literals may be 'joined' merely by placing them next to each other - the intervening white-space is optional. This is useful when specifying long strings that go over one line, but we must 'escape' the new-line first. This removes the special meaning of a new-line, which normally terminates the statement.</a:t>
            </a:r>
          </a:p>
          <a:p>
            <a:endParaRPr lang="en-GB" dirty="0"/>
          </a:p>
          <a:p>
            <a:r>
              <a:rPr lang="en-GB" dirty="0"/>
              <a:t>Unlike </a:t>
            </a:r>
            <a:r>
              <a:rPr lang="en-GB" i="1" dirty="0" err="1"/>
              <a:t>awk</a:t>
            </a:r>
            <a:r>
              <a:rPr lang="en-GB" dirty="0"/>
              <a:t> we cannot use this technique with variables, an operator must be used.  For this, much like C++ and Java, Python overloads the + operator for strings for concatenation. </a:t>
            </a:r>
          </a:p>
          <a:p>
            <a:endParaRPr lang="en-GB" dirty="0"/>
          </a:p>
          <a:p>
            <a:r>
              <a:rPr lang="en-GB" dirty="0"/>
              <a:t>Although string concatenation using the + operator is easy, it should not be over-used, particularly in a loop. The problem is that we think we are adding data onto the end of a string, but we are not! We are creating new string objects and copying the entire contents on each iteration. There is a better way of joining all the items in a list - a string method called </a:t>
            </a:r>
            <a:r>
              <a:rPr lang="en-GB" dirty="0">
                <a:latin typeface="Courier New" panose="02070309020205020404" pitchFamily="49" charset="0"/>
                <a:cs typeface="Courier New" panose="02070309020205020404" pitchFamily="49" charset="0"/>
              </a:rPr>
              <a:t>join()</a:t>
            </a:r>
            <a:r>
              <a:rPr lang="en-GB" dirty="0"/>
              <a:t> which we see later.</a:t>
            </a:r>
          </a:p>
        </p:txBody>
      </p:sp>
    </p:spTree>
    <p:extLst>
      <p:ext uri="{BB962C8B-B14F-4D97-AF65-F5344CB8AC3E}">
        <p14:creationId xmlns:p14="http://schemas.microsoft.com/office/powerpoint/2010/main" val="1804204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p:cNvSpPr>
            <a:spLocks noGrp="1" noRot="1" noChangeAspect="1" noChangeArrowheads="1" noTextEdit="1"/>
          </p:cNvSpPr>
          <p:nvPr>
            <p:ph type="sldImg"/>
          </p:nvPr>
        </p:nvSpPr>
        <p:spPr>
          <a:ln/>
        </p:spPr>
      </p:sp>
      <p:sp>
        <p:nvSpPr>
          <p:cNvPr id="2867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In Python, double quotes have no special meaning over single quotes - and both may contain special characters. If you have embedded single quotes (such as with SQL), then use double quotes around your string, with double quotes in the data (such as with HTML) then use single quotes. If you have both or embedded white-space such as new-lines or tabs, or \ (such as Windows path names), then triple quotes (single or double) will handle them. Notice that new-lines and quotes are all 'escaped'. This makes it particularly useful when data has come from a user and may be a hacking attempt, for example SQL injection.</a:t>
            </a:r>
          </a:p>
          <a:p>
            <a:endParaRPr lang="en-GB" dirty="0"/>
          </a:p>
          <a:p>
            <a:r>
              <a:rPr lang="en-GB" dirty="0"/>
              <a:t>With triple quotes, be careful of trailing special characters, including other quotes. For example:</a:t>
            </a:r>
          </a:p>
          <a:p>
            <a:pPr lvl="1"/>
            <a:r>
              <a:rPr lang="en-GB" dirty="0">
                <a:latin typeface="Courier New" pitchFamily="49" charset="0"/>
              </a:rPr>
              <a:t>file = """C:\QA\Python\PYTHB\"""</a:t>
            </a:r>
          </a:p>
          <a:p>
            <a:r>
              <a:rPr lang="en-GB" b="1" dirty="0"/>
              <a:t>does not work</a:t>
            </a:r>
            <a:r>
              <a:rPr lang="en-GB" dirty="0"/>
              <a:t>, since the final </a:t>
            </a:r>
            <a:r>
              <a:rPr lang="en-GB" b="1" dirty="0"/>
              <a:t>\</a:t>
            </a:r>
            <a:r>
              <a:rPr lang="en-GB" dirty="0"/>
              <a:t> 'escapes' the following quote. Adding another " will unfortunately add it to the end of the data. However, escaping the \ does work:</a:t>
            </a:r>
          </a:p>
          <a:p>
            <a:pPr lvl="1"/>
            <a:r>
              <a:rPr lang="en-GB" dirty="0">
                <a:latin typeface="Courier New" pitchFamily="49" charset="0"/>
              </a:rPr>
              <a:t>file = """C:\\QA\\Python\\PYTHB\\"""</a:t>
            </a:r>
            <a:endParaRPr lang="en-GB" dirty="0"/>
          </a:p>
        </p:txBody>
      </p:sp>
    </p:spTree>
    <p:extLst>
      <p:ext uri="{BB962C8B-B14F-4D97-AF65-F5344CB8AC3E}">
        <p14:creationId xmlns:p14="http://schemas.microsoft.com/office/powerpoint/2010/main" val="157465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Rot="1" noChangeAspect="1" noChangeArrowheads="1" noTextEdit="1"/>
          </p:cNvSpPr>
          <p:nvPr>
            <p:ph type="sldImg"/>
          </p:nvPr>
        </p:nvSpPr>
        <p:spPr>
          <a:ln/>
        </p:spPr>
      </p:sp>
      <p:sp>
        <p:nvSpPr>
          <p:cNvPr id="2970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In Python's early days, string handling was done using the </a:t>
            </a:r>
            <a:r>
              <a:rPr lang="en-GB" dirty="0">
                <a:latin typeface="Courier New" pitchFamily="49" charset="0"/>
              </a:rPr>
              <a:t>string</a:t>
            </a:r>
            <a:r>
              <a:rPr lang="en-GB" dirty="0"/>
              <a:t> module. Thankfully, this is no longer necessary, and we have several built-in methods. The </a:t>
            </a:r>
            <a:r>
              <a:rPr lang="en-GB" dirty="0">
                <a:latin typeface="Courier New" pitchFamily="49" charset="0"/>
              </a:rPr>
              <a:t>string</a:t>
            </a:r>
            <a:r>
              <a:rPr lang="en-GB" dirty="0"/>
              <a:t> module still works but is only there for backward compatibility.</a:t>
            </a:r>
          </a:p>
          <a:p>
            <a:endParaRPr lang="en-GB" dirty="0"/>
          </a:p>
          <a:p>
            <a:r>
              <a:rPr lang="en-GB" dirty="0"/>
              <a:t>Both </a:t>
            </a:r>
            <a:r>
              <a:rPr lang="en-GB" b="1" dirty="0" err="1">
                <a:latin typeface="Courier New" pitchFamily="49" charset="0"/>
              </a:rPr>
              <a:t>str</a:t>
            </a:r>
            <a:r>
              <a:rPr lang="en-GB" dirty="0"/>
              <a:t> and </a:t>
            </a:r>
            <a:r>
              <a:rPr lang="en-GB" b="1" dirty="0" err="1">
                <a:latin typeface="Courier New" pitchFamily="49" charset="0"/>
              </a:rPr>
              <a:t>repr</a:t>
            </a:r>
            <a:r>
              <a:rPr lang="en-GB" dirty="0"/>
              <a:t> can convert a number to a string, generally </a:t>
            </a:r>
            <a:r>
              <a:rPr lang="en-GB" b="1" dirty="0" err="1">
                <a:latin typeface="Courier New" pitchFamily="49" charset="0"/>
              </a:rPr>
              <a:t>str</a:t>
            </a:r>
            <a:r>
              <a:rPr lang="en-GB" dirty="0"/>
              <a:t> will produce prettier output. Both these functions can be implemented in a user written class, and their expected result is rather different. The </a:t>
            </a:r>
            <a:r>
              <a:rPr lang="en-GB" b="1" dirty="0" err="1">
                <a:latin typeface="Courier New" pitchFamily="49" charset="0"/>
              </a:rPr>
              <a:t>str</a:t>
            </a:r>
            <a:r>
              <a:rPr lang="en-GB" dirty="0"/>
              <a:t> function is supposed to return a human-readable form of the object. In contrast, </a:t>
            </a:r>
            <a:r>
              <a:rPr lang="en-GB" b="1" dirty="0" err="1">
                <a:latin typeface="Courier New" pitchFamily="49" charset="0"/>
              </a:rPr>
              <a:t>repr</a:t>
            </a:r>
            <a:r>
              <a:rPr lang="en-GB" dirty="0"/>
              <a:t> is supposed to return a Python readable form, or </a:t>
            </a:r>
            <a:r>
              <a:rPr lang="en-GB" b="1" i="1" dirty="0"/>
              <a:t>repr</a:t>
            </a:r>
            <a:r>
              <a:rPr lang="en-GB" i="1" dirty="0"/>
              <a:t>esentation</a:t>
            </a:r>
            <a:r>
              <a:rPr lang="en-GB" dirty="0"/>
              <a:t>, specifically for the built-in function </a:t>
            </a:r>
            <a:r>
              <a:rPr lang="en-GB" b="1" dirty="0">
                <a:latin typeface="Courier New" pitchFamily="49" charset="0"/>
              </a:rPr>
              <a:t>eval</a:t>
            </a:r>
            <a:r>
              <a:rPr lang="en-GB" dirty="0"/>
              <a:t> (which compiles code at runtime and is generally pronounced </a:t>
            </a:r>
            <a:r>
              <a:rPr lang="en-GB" i="1" dirty="0"/>
              <a:t>evil</a:t>
            </a:r>
            <a:r>
              <a:rPr lang="en-GB" dirty="0"/>
              <a:t>). So, use </a:t>
            </a:r>
            <a:r>
              <a:rPr lang="en-GB" b="1" dirty="0">
                <a:latin typeface="Courier New" pitchFamily="49" charset="0"/>
              </a:rPr>
              <a:t>str</a:t>
            </a:r>
            <a:r>
              <a:rPr lang="en-GB" dirty="0"/>
              <a:t> unless you are doing particularly eval things.</a:t>
            </a:r>
          </a:p>
          <a:p>
            <a:endParaRPr lang="en-GB" dirty="0"/>
          </a:p>
          <a:p>
            <a:r>
              <a:rPr lang="en-GB" dirty="0"/>
              <a:t>Note that in early versions of Python, `back-ticks` could be used instead of </a:t>
            </a:r>
            <a:r>
              <a:rPr lang="en-GB" b="1" dirty="0" err="1">
                <a:latin typeface="Courier New" pitchFamily="49" charset="0"/>
              </a:rPr>
              <a:t>repr</a:t>
            </a:r>
            <a:r>
              <a:rPr lang="en-GB" dirty="0"/>
              <a:t>, but this was removed at Python 3.0. </a:t>
            </a:r>
          </a:p>
          <a:p>
            <a:endParaRPr lang="en-GB" dirty="0"/>
          </a:p>
          <a:p>
            <a:r>
              <a:rPr lang="en-GB" dirty="0"/>
              <a:t>The </a:t>
            </a:r>
            <a:r>
              <a:rPr lang="en-GB" b="1" dirty="0">
                <a:latin typeface="Courier New" pitchFamily="49" charset="0"/>
              </a:rPr>
              <a:t>replace</a:t>
            </a:r>
            <a:r>
              <a:rPr lang="en-GB" dirty="0"/>
              <a:t> and </a:t>
            </a:r>
            <a:r>
              <a:rPr lang="en-GB" b="1" dirty="0">
                <a:latin typeface="Courier New" pitchFamily="49" charset="0"/>
              </a:rPr>
              <a:t>find</a:t>
            </a:r>
            <a:r>
              <a:rPr lang="en-GB" dirty="0"/>
              <a:t> methods often overlap in functionality with regular expressions (discussed later). Generally, these methods are more efficient than REs (Regular Expressions), and easier to code.</a:t>
            </a:r>
          </a:p>
          <a:p>
            <a:endParaRPr lang="en-GB" dirty="0"/>
          </a:p>
          <a:p>
            <a:r>
              <a:rPr lang="en-GB" dirty="0"/>
              <a:t>There are other string methods, around 40 in all, some are discussed later.</a:t>
            </a:r>
          </a:p>
        </p:txBody>
      </p:sp>
    </p:spTree>
    <p:extLst>
      <p:ext uri="{BB962C8B-B14F-4D97-AF65-F5344CB8AC3E}">
        <p14:creationId xmlns:p14="http://schemas.microsoft.com/office/powerpoint/2010/main" val="3246930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Several methods are available with strings to test their type. Many return a Boolean (True or False) but some, like </a:t>
            </a:r>
            <a:r>
              <a:rPr lang="en-GB" b="1" dirty="0">
                <a:latin typeface="Courier New" pitchFamily="49" charset="0"/>
              </a:rPr>
              <a:t>count</a:t>
            </a:r>
            <a:r>
              <a:rPr lang="en-GB" dirty="0"/>
              <a:t>, do not. Most of these methods can be coded in other ways and using a Regular Expression (RE) is the most obvious. However, </a:t>
            </a:r>
            <a:r>
              <a:rPr lang="en-GB" dirty="0" err="1"/>
              <a:t>REs</a:t>
            </a:r>
            <a:r>
              <a:rPr lang="en-GB" dirty="0"/>
              <a:t> are often slow, and rarely easier to read. Here is the RE code for the example shown, details later:</a:t>
            </a:r>
          </a:p>
          <a:p>
            <a:pPr lvl="1">
              <a:spcBef>
                <a:spcPct val="0"/>
              </a:spcBef>
            </a:pPr>
            <a:r>
              <a:rPr lang="en-GB" dirty="0">
                <a:latin typeface="Courier New" pitchFamily="49" charset="0"/>
              </a:rPr>
              <a:t>import re</a:t>
            </a:r>
          </a:p>
          <a:p>
            <a:pPr lvl="1">
              <a:spcBef>
                <a:spcPct val="0"/>
              </a:spcBef>
            </a:pPr>
            <a:r>
              <a:rPr lang="en-GB" dirty="0">
                <a:latin typeface="Courier New" pitchFamily="49" charset="0"/>
              </a:rPr>
              <a:t>text = 'hello world'</a:t>
            </a:r>
          </a:p>
          <a:p>
            <a:pPr lvl="1">
              <a:spcBef>
                <a:spcPct val="0"/>
              </a:spcBef>
            </a:pPr>
            <a:endParaRPr lang="en-GB" dirty="0">
              <a:latin typeface="Courier New" pitchFamily="49" charset="0"/>
            </a:endParaRPr>
          </a:p>
          <a:p>
            <a:pPr lvl="1">
              <a:spcBef>
                <a:spcPct val="0"/>
              </a:spcBef>
            </a:pPr>
            <a:r>
              <a:rPr lang="en-GB" dirty="0">
                <a:latin typeface="Courier New" pitchFamily="49" charset="0"/>
              </a:rPr>
              <a:t>print(</a:t>
            </a:r>
            <a:r>
              <a:rPr lang="en-GB" dirty="0" err="1">
                <a:latin typeface="Courier New" pitchFamily="49" charset="0"/>
              </a:rPr>
              <a:t>len</a:t>
            </a:r>
            <a:r>
              <a:rPr lang="en-GB" dirty="0">
                <a:latin typeface="Courier New" pitchFamily="49" charset="0"/>
              </a:rPr>
              <a:t>( </a:t>
            </a:r>
            <a:r>
              <a:rPr lang="en-GB" dirty="0" err="1">
                <a:latin typeface="Courier New" pitchFamily="49" charset="0"/>
              </a:rPr>
              <a:t>re.findall</a:t>
            </a:r>
            <a:r>
              <a:rPr lang="en-GB" dirty="0">
                <a:latin typeface="Courier New" pitchFamily="49" charset="0"/>
              </a:rPr>
              <a:t> (r"(o)", text)))</a:t>
            </a:r>
          </a:p>
          <a:p>
            <a:pPr lvl="1">
              <a:spcBef>
                <a:spcPct val="0"/>
              </a:spcBef>
            </a:pPr>
            <a:r>
              <a:rPr lang="en-GB" dirty="0">
                <a:latin typeface="Courier New" pitchFamily="49" charset="0"/>
              </a:rPr>
              <a:t>print(</a:t>
            </a:r>
            <a:r>
              <a:rPr lang="en-GB" dirty="0" err="1">
                <a:latin typeface="Courier New" pitchFamily="49" charset="0"/>
              </a:rPr>
              <a:t>len</a:t>
            </a:r>
            <a:r>
              <a:rPr lang="en-GB" dirty="0">
                <a:latin typeface="Courier New" pitchFamily="49" charset="0"/>
              </a:rPr>
              <a:t>( </a:t>
            </a:r>
            <a:r>
              <a:rPr lang="en-GB" dirty="0" err="1">
                <a:latin typeface="Courier New" pitchFamily="49" charset="0"/>
              </a:rPr>
              <a:t>re.findall</a:t>
            </a:r>
            <a:r>
              <a:rPr lang="en-GB" dirty="0">
                <a:latin typeface="Courier New" pitchFamily="49" charset="0"/>
              </a:rPr>
              <a:t> (r"(o)", text[5:])))</a:t>
            </a:r>
          </a:p>
          <a:p>
            <a:pPr lvl="1">
              <a:spcBef>
                <a:spcPct val="0"/>
              </a:spcBef>
            </a:pPr>
            <a:endParaRPr lang="en-GB" dirty="0">
              <a:latin typeface="Courier New" pitchFamily="49" charset="0"/>
            </a:endParaRPr>
          </a:p>
          <a:p>
            <a:pPr lvl="1">
              <a:spcBef>
                <a:spcPct val="0"/>
              </a:spcBef>
            </a:pPr>
            <a:r>
              <a:rPr lang="en-GB" dirty="0">
                <a:latin typeface="Courier New" pitchFamily="49" charset="0"/>
              </a:rPr>
              <a:t>if </a:t>
            </a:r>
            <a:r>
              <a:rPr lang="en-GB" dirty="0" err="1">
                <a:latin typeface="Courier New" pitchFamily="49" charset="0"/>
              </a:rPr>
              <a:t>re.match</a:t>
            </a:r>
            <a:r>
              <a:rPr lang="en-GB" dirty="0">
                <a:latin typeface="Courier New" pitchFamily="49" charset="0"/>
              </a:rPr>
              <a:t>(</a:t>
            </a:r>
            <a:r>
              <a:rPr lang="en-GB" dirty="0" err="1">
                <a:latin typeface="Courier New" pitchFamily="49" charset="0"/>
              </a:rPr>
              <a:t>r"^hell</a:t>
            </a:r>
            <a:r>
              <a:rPr lang="en-GB" dirty="0">
                <a:latin typeface="Courier New" pitchFamily="49" charset="0"/>
              </a:rPr>
              <a:t>", text):</a:t>
            </a:r>
          </a:p>
          <a:p>
            <a:pPr lvl="1">
              <a:spcBef>
                <a:spcPct val="0"/>
              </a:spcBef>
            </a:pPr>
            <a:r>
              <a:rPr lang="en-GB" dirty="0">
                <a:latin typeface="Courier New" pitchFamily="49" charset="0"/>
              </a:rPr>
              <a:t>    print("It's hell in there”)</a:t>
            </a:r>
          </a:p>
          <a:p>
            <a:pPr lvl="1">
              <a:spcBef>
                <a:spcPct val="0"/>
              </a:spcBef>
            </a:pPr>
            <a:r>
              <a:rPr lang="en-GB" dirty="0">
                <a:latin typeface="Courier New" pitchFamily="49" charset="0"/>
              </a:rPr>
              <a:t>    </a:t>
            </a:r>
          </a:p>
          <a:p>
            <a:pPr lvl="1">
              <a:spcBef>
                <a:spcPct val="0"/>
              </a:spcBef>
            </a:pPr>
            <a:r>
              <a:rPr lang="en-GB" dirty="0">
                <a:latin typeface="Courier New" pitchFamily="49" charset="0"/>
              </a:rPr>
              <a:t>if </a:t>
            </a:r>
            <a:r>
              <a:rPr lang="en-GB" dirty="0" err="1">
                <a:latin typeface="Courier New" pitchFamily="49" charset="0"/>
              </a:rPr>
              <a:t>re.match</a:t>
            </a:r>
            <a:r>
              <a:rPr lang="en-GB" dirty="0">
                <a:latin typeface="Courier New" pitchFamily="49" charset="0"/>
              </a:rPr>
              <a:t> (r"^[A-</a:t>
            </a:r>
            <a:r>
              <a:rPr lang="en-GB" dirty="0" err="1">
                <a:latin typeface="Courier New" pitchFamily="49" charset="0"/>
              </a:rPr>
              <a:t>Za</a:t>
            </a:r>
            <a:r>
              <a:rPr lang="en-GB" dirty="0">
                <a:latin typeface="Courier New" pitchFamily="49" charset="0"/>
              </a:rPr>
              <a:t>-z]+$", text):</a:t>
            </a:r>
          </a:p>
          <a:p>
            <a:pPr lvl="1">
              <a:spcBef>
                <a:spcPct val="0"/>
              </a:spcBef>
            </a:pPr>
            <a:r>
              <a:rPr lang="en-GB" dirty="0">
                <a:latin typeface="Courier New" pitchFamily="49" charset="0"/>
              </a:rPr>
              <a:t>    print(“string is all alpha”)</a:t>
            </a:r>
          </a:p>
          <a:p>
            <a:pPr lvl="1">
              <a:spcBef>
                <a:spcPct val="0"/>
              </a:spcBef>
            </a:pPr>
            <a:r>
              <a:rPr lang="en-GB" dirty="0">
                <a:latin typeface="Courier New" pitchFamily="49" charset="0"/>
              </a:rPr>
              <a:t>    </a:t>
            </a:r>
          </a:p>
          <a:p>
            <a:pPr lvl="1">
              <a:spcBef>
                <a:spcPct val="0"/>
              </a:spcBef>
            </a:pPr>
            <a:r>
              <a:rPr lang="en-GB" dirty="0">
                <a:latin typeface="Courier New" pitchFamily="49" charset="0"/>
              </a:rPr>
              <a:t>text = ' \t\r\n'</a:t>
            </a:r>
          </a:p>
          <a:p>
            <a:pPr lvl="1">
              <a:spcBef>
                <a:spcPct val="0"/>
              </a:spcBef>
            </a:pPr>
            <a:r>
              <a:rPr lang="en-GB" dirty="0">
                <a:latin typeface="Courier New" pitchFamily="49" charset="0"/>
              </a:rPr>
              <a:t>if </a:t>
            </a:r>
            <a:r>
              <a:rPr lang="en-GB" dirty="0" err="1">
                <a:latin typeface="Courier New" pitchFamily="49" charset="0"/>
              </a:rPr>
              <a:t>re.match</a:t>
            </a:r>
            <a:r>
              <a:rPr lang="en-GB" dirty="0">
                <a:latin typeface="Courier New" pitchFamily="49" charset="0"/>
              </a:rPr>
              <a:t>(r"^\s+$", text):</a:t>
            </a:r>
          </a:p>
          <a:p>
            <a:pPr lvl="1">
              <a:spcBef>
                <a:spcPct val="0"/>
              </a:spcBef>
            </a:pPr>
            <a:r>
              <a:rPr lang="en-GB" dirty="0">
                <a:latin typeface="Courier New" pitchFamily="49" charset="0"/>
              </a:rPr>
              <a:t>    print(“text is whitespace”)</a:t>
            </a:r>
          </a:p>
        </p:txBody>
      </p:sp>
    </p:spTree>
    <p:extLst>
      <p:ext uri="{BB962C8B-B14F-4D97-AF65-F5344CB8AC3E}">
        <p14:creationId xmlns:p14="http://schemas.microsoft.com/office/powerpoint/2010/main" val="3459218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p:cNvSpPr>
            <a:spLocks noGrp="1" noRot="1" noChangeAspect="1" noChangeArrowheads="1" noTextEdit="1"/>
          </p:cNvSpPr>
          <p:nvPr>
            <p:ph type="sldImg"/>
          </p:nvPr>
        </p:nvSpPr>
        <p:spPr>
          <a:ln/>
        </p:spPr>
      </p:sp>
      <p:sp>
        <p:nvSpPr>
          <p:cNvPr id="3175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Other languages have </a:t>
            </a:r>
            <a:r>
              <a:rPr lang="en-GB" dirty="0" err="1">
                <a:latin typeface="Courier New" pitchFamily="49" charset="0"/>
              </a:rPr>
              <a:t>printf</a:t>
            </a:r>
            <a:r>
              <a:rPr lang="en-GB" dirty="0"/>
              <a:t> and </a:t>
            </a:r>
            <a:r>
              <a:rPr lang="en-GB" dirty="0" err="1">
                <a:latin typeface="Courier New" pitchFamily="49" charset="0"/>
              </a:rPr>
              <a:t>sprintf</a:t>
            </a:r>
            <a:r>
              <a:rPr lang="en-GB" dirty="0"/>
              <a:t>, Python has string formatting.</a:t>
            </a:r>
          </a:p>
          <a:p>
            <a:r>
              <a:rPr lang="en-GB" dirty="0"/>
              <a:t>Python 3 introduced this new formatting style, for the old style, see slides after the summary. This style is also available in Python 2, from version 2.6.</a:t>
            </a:r>
          </a:p>
          <a:p>
            <a:r>
              <a:rPr lang="en-GB" dirty="0"/>
              <a:t>The fields in the format specifications have the following meaning:</a:t>
            </a:r>
          </a:p>
          <a:p>
            <a:pPr lvl="1">
              <a:spcBef>
                <a:spcPts val="0"/>
              </a:spcBef>
            </a:pPr>
            <a:r>
              <a:rPr lang="en-GB" dirty="0"/>
              <a:t>fill		Any character except {</a:t>
            </a:r>
          </a:p>
          <a:p>
            <a:pPr lvl="1">
              <a:spcBef>
                <a:spcPts val="0"/>
              </a:spcBef>
            </a:pPr>
            <a:r>
              <a:rPr lang="en-GB" dirty="0"/>
              <a:t>align	&lt; left, &gt; right, ^ centred, = pad sign</a:t>
            </a:r>
          </a:p>
          <a:p>
            <a:pPr lvl="1">
              <a:spcBef>
                <a:spcPts val="0"/>
              </a:spcBef>
            </a:pPr>
            <a:r>
              <a:rPr lang="en-GB" dirty="0"/>
              <a:t>sign		+ force sign, " " only force - (minus)</a:t>
            </a:r>
          </a:p>
          <a:p>
            <a:pPr lvl="1">
              <a:spcBef>
                <a:spcPts val="0"/>
              </a:spcBef>
            </a:pPr>
            <a:r>
              <a:rPr lang="en-GB" dirty="0"/>
              <a:t>#		prefix integers with 0b, 0o, or 0x</a:t>
            </a:r>
          </a:p>
          <a:p>
            <a:pPr lvl="1">
              <a:spcBef>
                <a:spcPts val="0"/>
              </a:spcBef>
            </a:pPr>
            <a:r>
              <a:rPr lang="en-GB" dirty="0"/>
              <a:t>0		Pad numbers with zero</a:t>
            </a:r>
          </a:p>
          <a:p>
            <a:pPr lvl="1">
              <a:spcBef>
                <a:spcPts val="0"/>
              </a:spcBef>
            </a:pPr>
            <a:r>
              <a:rPr lang="en-GB" dirty="0"/>
              <a:t>width	Minimum field width</a:t>
            </a:r>
          </a:p>
          <a:p>
            <a:pPr lvl="1">
              <a:spcBef>
                <a:spcPts val="0"/>
              </a:spcBef>
            </a:pPr>
            <a:r>
              <a:rPr lang="en-GB" dirty="0"/>
              <a:t>.precision	Maximum field width (strings), or number of decimal places </a:t>
            </a:r>
          </a:p>
          <a:p>
            <a:pPr lvl="1">
              <a:spcBef>
                <a:spcPts val="0"/>
              </a:spcBef>
            </a:pPr>
            <a:r>
              <a:rPr lang="en-GB" dirty="0"/>
              <a:t>type	b, c, d, n, o, x, X - integer formats</a:t>
            </a:r>
          </a:p>
          <a:p>
            <a:pPr>
              <a:spcBef>
                <a:spcPts val="0"/>
              </a:spcBef>
            </a:pPr>
            <a:r>
              <a:rPr lang="en-GB" dirty="0"/>
              <a:t>		e, E, f, g, G - floating point formats</a:t>
            </a:r>
          </a:p>
          <a:p>
            <a:pPr>
              <a:spcBef>
                <a:spcPts val="0"/>
              </a:spcBef>
            </a:pPr>
            <a:r>
              <a:rPr lang="en-GB" dirty="0"/>
              <a:t>These are all optional, the default type being a string. Taking the first example:</a:t>
            </a:r>
          </a:p>
          <a:p>
            <a:pPr lvl="1">
              <a:spcBef>
                <a:spcPts val="0"/>
              </a:spcBef>
            </a:pPr>
            <a:r>
              <a:rPr lang="en-GB" dirty="0">
                <a:latin typeface="Courier New" pitchFamily="49" charset="0"/>
              </a:rPr>
              <a:t>{0:5.3f}</a:t>
            </a:r>
            <a:endParaRPr lang="en-GB" dirty="0"/>
          </a:p>
          <a:p>
            <a:pPr lvl="1">
              <a:spcBef>
                <a:spcPts val="0"/>
              </a:spcBef>
            </a:pPr>
            <a:r>
              <a:rPr lang="en-GB" dirty="0">
                <a:latin typeface="Courier New" pitchFamily="49" charset="0"/>
              </a:rPr>
              <a:t>0</a:t>
            </a:r>
            <a:r>
              <a:rPr lang="en-GB" dirty="0"/>
              <a:t> is the position, the first variable passed to the format method (var1)</a:t>
            </a:r>
          </a:p>
          <a:p>
            <a:pPr lvl="1">
              <a:spcBef>
                <a:spcPts val="0"/>
              </a:spcBef>
            </a:pPr>
            <a:r>
              <a:rPr lang="en-GB" dirty="0"/>
              <a:t>From Python 3.1 they are automatically incremented if omitted</a:t>
            </a:r>
          </a:p>
          <a:p>
            <a:pPr lvl="1">
              <a:spcBef>
                <a:spcPts val="0"/>
              </a:spcBef>
            </a:pPr>
            <a:r>
              <a:rPr lang="en-GB" dirty="0">
                <a:latin typeface="Courier New" pitchFamily="49" charset="0"/>
              </a:rPr>
              <a:t>5</a:t>
            </a:r>
            <a:r>
              <a:rPr lang="en-GB" dirty="0"/>
              <a:t> is the minimum field width, including the decimal point</a:t>
            </a:r>
          </a:p>
          <a:p>
            <a:pPr lvl="1">
              <a:spcBef>
                <a:spcPts val="0"/>
              </a:spcBef>
            </a:pPr>
            <a:r>
              <a:rPr lang="en-GB" dirty="0">
                <a:latin typeface="Courier New" pitchFamily="49" charset="0"/>
              </a:rPr>
              <a:t>3</a:t>
            </a:r>
            <a:r>
              <a:rPr lang="en-GB" dirty="0"/>
              <a:t> is the precision, meaning 3 characters after the decimal point.</a:t>
            </a:r>
          </a:p>
          <a:p>
            <a:r>
              <a:rPr lang="en-US" dirty="0"/>
              <a:t>Field names (also known as nested arguments) may be used for substitutions, e.g.</a:t>
            </a:r>
          </a:p>
          <a:p>
            <a:pPr lvl="1">
              <a:spcBef>
                <a:spcPts val="0"/>
              </a:spcBef>
            </a:pPr>
            <a:r>
              <a:rPr lang="en-US" dirty="0">
                <a:latin typeface="Courier New" pitchFamily="49" charset="0"/>
                <a:cs typeface="Courier New" pitchFamily="49" charset="0"/>
              </a:rPr>
              <a:t>var1 = 42</a:t>
            </a:r>
          </a:p>
          <a:p>
            <a:pPr lvl="1">
              <a:spcBef>
                <a:spcPts val="0"/>
              </a:spcBef>
            </a:pPr>
            <a:r>
              <a:rPr lang="en-US" dirty="0">
                <a:latin typeface="Courier New" pitchFamily="49" charset="0"/>
                <a:cs typeface="Courier New" pitchFamily="49" charset="0"/>
              </a:rPr>
              <a:t>var2 = 'hello'</a:t>
            </a:r>
          </a:p>
          <a:p>
            <a:pPr lvl="1">
              <a:spcBef>
                <a:spcPts val="0"/>
              </a:spcBef>
            </a:pPr>
            <a:r>
              <a:rPr lang="en-US" dirty="0">
                <a:latin typeface="Courier New" pitchFamily="49" charset="0"/>
                <a:cs typeface="Courier New" pitchFamily="49" charset="0"/>
              </a:rPr>
              <a:t>print("{name} {value}".format(value=var1, name=var2))</a:t>
            </a:r>
          </a:p>
          <a:p>
            <a:pPr lvl="1"/>
            <a:r>
              <a:rPr lang="en-US" dirty="0">
                <a:latin typeface="Courier New" pitchFamily="49" charset="0"/>
                <a:cs typeface="Courier New" pitchFamily="49" charset="0"/>
              </a:rPr>
              <a:t>'hello 42'</a:t>
            </a:r>
          </a:p>
          <a:p>
            <a:endParaRPr lang="en-US" dirty="0"/>
          </a:p>
          <a:p>
            <a:endParaRPr lang="en-GB" dirty="0"/>
          </a:p>
        </p:txBody>
      </p:sp>
    </p:spTree>
    <p:extLst>
      <p:ext uri="{BB962C8B-B14F-4D97-AF65-F5344CB8AC3E}">
        <p14:creationId xmlns:p14="http://schemas.microsoft.com/office/powerpoint/2010/main" val="1019158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3"/>
          <p:cNvSpPr>
            <a:spLocks noGrp="1" noChangeArrowheads="1"/>
          </p:cNvSpPr>
          <p:nvPr>
            <p:ph type="body" idx="1"/>
          </p:nvPr>
        </p:nvSpPr>
        <p:spPr/>
        <p:txBody>
          <a:bodyPr/>
          <a:lstStyle/>
          <a:p>
            <a:r>
              <a:rPr lang="en-US" dirty="0"/>
              <a:t>The format specifiers shown on the slides are type specifiers - they specify how the argument should be treated. </a:t>
            </a:r>
          </a:p>
          <a:p>
            <a:r>
              <a:rPr lang="en-US" dirty="0"/>
              <a:t>The example format string contains the following specifiers:</a:t>
            </a:r>
          </a:p>
          <a:p>
            <a:pPr lvl="1"/>
            <a:r>
              <a:rPr lang="en-US" dirty="0">
                <a:latin typeface="Courier New" panose="02070309020205020404" pitchFamily="49" charset="0"/>
                <a:cs typeface="Courier New" panose="02070309020205020404" pitchFamily="49" charset="0"/>
              </a:rPr>
              <a:t>{2d}</a:t>
            </a:r>
            <a:r>
              <a:rPr lang="en-US" dirty="0"/>
              <a:t>	Right-justified, at least two digits, space padding</a:t>
            </a:r>
          </a:p>
          <a:p>
            <a:pPr lvl="1"/>
            <a:r>
              <a:rPr lang="en-US" dirty="0">
                <a:latin typeface="Courier New" panose="02070309020205020404" pitchFamily="49" charset="0"/>
                <a:cs typeface="Courier New" panose="02070309020205020404" pitchFamily="49" charset="0"/>
              </a:rPr>
              <a:t>{&lt;10s}</a:t>
            </a:r>
            <a:r>
              <a:rPr lang="en-US" dirty="0"/>
              <a:t>	Left-justified, at least 10 character string, space padding</a:t>
            </a:r>
          </a:p>
          <a:p>
            <a:pPr lvl="1"/>
            <a:r>
              <a:rPr lang="en-US" dirty="0">
                <a:latin typeface="Courier New" panose="02070309020205020404" pitchFamily="49" charset="0"/>
                <a:cs typeface="Courier New" panose="02070309020205020404" pitchFamily="49" charset="0"/>
              </a:rPr>
              <a:t>{06.2f}</a:t>
            </a:r>
            <a:r>
              <a:rPr lang="en-US" dirty="0"/>
              <a:t>	Right-justified, at least 6 characters, zero padding. One of the six characters is the decimal point, and the argument is rounded to two digits after the decimal point</a:t>
            </a:r>
          </a:p>
          <a:p>
            <a:r>
              <a:rPr lang="en-US" dirty="0"/>
              <a:t>The second parameter to enumerate (1) is the start of the enumeration sequence (default is zero).</a:t>
            </a:r>
          </a:p>
          <a:p>
            <a:r>
              <a:rPr lang="en-US" dirty="0"/>
              <a:t>Here is the example using field names:</a:t>
            </a:r>
          </a:p>
          <a:p>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key in enumerate(</a:t>
            </a:r>
            <a:r>
              <a:rPr lang="en-US" dirty="0" err="1">
                <a:latin typeface="Courier New" panose="02070309020205020404" pitchFamily="49" charset="0"/>
                <a:cs typeface="Courier New" panose="02070309020205020404" pitchFamily="49" charset="0"/>
              </a:rPr>
              <a:t>planets.keys</a:t>
            </a:r>
            <a:r>
              <a:rPr lang="en-US" dirty="0">
                <a:latin typeface="Courier New" panose="02070309020205020404" pitchFamily="49" charset="0"/>
                <a:cs typeface="Courier New" panose="02070309020205020404" pitchFamily="49" charset="0"/>
              </a:rPr>
              <a:t>(), 1):</a:t>
            </a:r>
          </a:p>
          <a:p>
            <a:r>
              <a:rPr lang="en-US" dirty="0">
                <a:latin typeface="Courier New" panose="02070309020205020404" pitchFamily="49" charset="0"/>
                <a:cs typeface="Courier New" panose="02070309020205020404" pitchFamily="49" charset="0"/>
              </a:rPr>
              <a:t>    print("{pos:2d} {planet:&lt;10s} {distance:06.2f} Gm".</a:t>
            </a:r>
          </a:p>
          <a:p>
            <a:r>
              <a:rPr lang="en-US" dirty="0">
                <a:latin typeface="Courier New" panose="02070309020205020404" pitchFamily="49" charset="0"/>
                <a:cs typeface="Courier New" panose="02070309020205020404" pitchFamily="49" charset="0"/>
              </a:rPr>
              <a:t>        format(</a:t>
            </a:r>
            <a:r>
              <a:rPr lang="en-US" dirty="0" err="1">
                <a:latin typeface="Courier New" panose="02070309020205020404" pitchFamily="49" charset="0"/>
                <a:cs typeface="Courier New" panose="02070309020205020404" pitchFamily="49" charset="0"/>
              </a:rPr>
              <a:t>pos</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planet=</a:t>
            </a:r>
            <a:r>
              <a:rPr lang="en-US" dirty="0" err="1">
                <a:latin typeface="Courier New" panose="02070309020205020404" pitchFamily="49" charset="0"/>
                <a:cs typeface="Courier New" panose="02070309020205020404" pitchFamily="49" charset="0"/>
              </a:rPr>
              <a:t>key,distance</a:t>
            </a:r>
            <a:r>
              <a:rPr lang="en-US" dirty="0">
                <a:latin typeface="Courier New" panose="02070309020205020404" pitchFamily="49" charset="0"/>
                <a:cs typeface="Courier New" panose="02070309020205020404" pitchFamily="49" charset="0"/>
              </a:rPr>
              <a:t>=planets[key]))</a:t>
            </a:r>
          </a:p>
          <a:p>
            <a:endParaRPr lang="en-US" dirty="0"/>
          </a:p>
          <a:p>
            <a:r>
              <a:rPr lang="en-US" dirty="0"/>
              <a:t>By the way, Gm is the symbol for </a:t>
            </a:r>
            <a:r>
              <a:rPr lang="en-US" dirty="0" err="1"/>
              <a:t>gigametre</a:t>
            </a:r>
            <a:r>
              <a:rPr lang="en-US" dirty="0"/>
              <a:t>, the little used metric unit of 1000 </a:t>
            </a:r>
            <a:r>
              <a:rPr lang="en-US" dirty="0" err="1"/>
              <a:t>kilometres</a:t>
            </a:r>
            <a:r>
              <a:rPr lang="en-US" dirty="0"/>
              <a:t>. The example shows the mean distance from the Sun for these planets.</a:t>
            </a:r>
          </a:p>
          <a:p>
            <a:endParaRPr lang="en-US"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1419521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Rot="1" noChangeAspect="1" noChangeArrowheads="1" noTextEdit="1"/>
          </p:cNvSpPr>
          <p:nvPr>
            <p:ph type="sldImg"/>
          </p:nvPr>
        </p:nvSpPr>
        <p:spPr>
          <a:ln/>
        </p:spPr>
      </p:sp>
      <p:sp>
        <p:nvSpPr>
          <p:cNvPr id="3379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Often the string format strings are not required, and the formatting string methods may be enough. We feel the examples are self-explanatory.</a:t>
            </a:r>
          </a:p>
          <a:p>
            <a:r>
              <a:rPr lang="en-GB" dirty="0"/>
              <a:t>There are other string methods, for example </a:t>
            </a:r>
            <a:r>
              <a:rPr lang="en-GB" i="1" dirty="0" err="1"/>
              <a:t>string</a:t>
            </a:r>
            <a:r>
              <a:rPr lang="en-GB" b="1" dirty="0" err="1">
                <a:latin typeface="Courier New" pitchFamily="49" charset="0"/>
              </a:rPr>
              <a:t>.title</a:t>
            </a:r>
            <a:r>
              <a:rPr lang="en-GB" b="1" dirty="0">
                <a:latin typeface="Courier New" pitchFamily="49" charset="0"/>
              </a:rPr>
              <a:t>()</a:t>
            </a:r>
            <a:r>
              <a:rPr lang="en-GB" dirty="0"/>
              <a:t>, which changes the string to "title case" where the first character of each word is in upper case.</a:t>
            </a:r>
          </a:p>
          <a:p>
            <a:endParaRPr lang="en-GB" dirty="0"/>
          </a:p>
        </p:txBody>
      </p:sp>
    </p:spTree>
    <p:extLst>
      <p:ext uri="{BB962C8B-B14F-4D97-AF65-F5344CB8AC3E}">
        <p14:creationId xmlns:p14="http://schemas.microsoft.com/office/powerpoint/2010/main" val="10018506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has had interpolation</a:t>
            </a:r>
            <a:r>
              <a:rPr lang="en-US" baseline="0" dirty="0"/>
              <a:t> of sorts previously, in </a:t>
            </a:r>
            <a:r>
              <a:rPr lang="en-US" baseline="0" dirty="0" err="1">
                <a:latin typeface="Courier New"/>
                <a:cs typeface="Courier New"/>
              </a:rPr>
              <a:t>string.Template</a:t>
            </a:r>
            <a:r>
              <a:rPr lang="en-US" baseline="0" dirty="0"/>
              <a:t>, but it was unwieldy and not used very often. A new system, s</a:t>
            </a:r>
            <a:r>
              <a:rPr lang="en-US" dirty="0"/>
              <a:t>pecified in PEP 498 and introduced with Python 3.6,</a:t>
            </a:r>
            <a:r>
              <a:rPr lang="en-US" baseline="0" dirty="0"/>
              <a:t> is very similar in appearance to that used by Ruby. </a:t>
            </a:r>
          </a:p>
          <a:p>
            <a:endParaRPr lang="en-US" baseline="0" dirty="0"/>
          </a:p>
          <a:p>
            <a:r>
              <a:rPr lang="en-US" baseline="0" dirty="0"/>
              <a:t>Single or double quotes may be used, even triple quotes. Basically, we just put the Python expression, commonly a variable, inside braces. </a:t>
            </a:r>
            <a:r>
              <a:rPr lang="en-US" dirty="0"/>
              <a:t>A special syntax is used for format strings.</a:t>
            </a:r>
          </a:p>
        </p:txBody>
      </p:sp>
    </p:spTree>
    <p:extLst>
      <p:ext uri="{BB962C8B-B14F-4D97-AF65-F5344CB8AC3E}">
        <p14:creationId xmlns:p14="http://schemas.microsoft.com/office/powerpoint/2010/main" val="25295107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 calls, arithmetic, any valid python expression may be put inside the braces. However, we suggest that you Keep It Simple – complex expressions inside a string would be difficult to debug and read, so it is probably preferable to restrict yourself to simple expressions.</a:t>
            </a:r>
          </a:p>
          <a:p>
            <a:endParaRPr lang="en-US" dirty="0"/>
          </a:p>
          <a:p>
            <a:r>
              <a:rPr lang="en-US" dirty="0"/>
              <a:t>A raw string may be combined with an f-string, either </a:t>
            </a:r>
            <a:r>
              <a:rPr lang="en-US" dirty="0" err="1">
                <a:latin typeface="Courier New"/>
                <a:cs typeface="Courier New"/>
              </a:rPr>
              <a:t>fr</a:t>
            </a:r>
            <a:r>
              <a:rPr lang="en-US" dirty="0"/>
              <a:t> or </a:t>
            </a:r>
            <a:r>
              <a:rPr lang="en-US" dirty="0" err="1">
                <a:latin typeface="Courier New"/>
                <a:cs typeface="Courier New"/>
              </a:rPr>
              <a:t>rf</a:t>
            </a:r>
            <a:r>
              <a:rPr lang="en-US" dirty="0"/>
              <a:t> prefix may be used. An f-string </a:t>
            </a:r>
            <a:r>
              <a:rPr lang="en-US" i="1" dirty="0"/>
              <a:t>cannot</a:t>
            </a:r>
            <a:r>
              <a:rPr lang="en-US" dirty="0"/>
              <a:t> be combined with the u' (Unicode) prefix, since f-strings can only be Unicode. The specification rules out the possibility of f-string interpolation being back-ported to Python 2.</a:t>
            </a:r>
          </a:p>
          <a:p>
            <a:endParaRPr lang="en-US" dirty="0"/>
          </a:p>
          <a:p>
            <a:r>
              <a:rPr lang="en-US" dirty="0"/>
              <a:t>The </a:t>
            </a:r>
            <a:r>
              <a:rPr lang="en-US" dirty="0" err="1">
                <a:latin typeface="Courier New"/>
                <a:cs typeface="Courier New"/>
              </a:rPr>
              <a:t>fr</a:t>
            </a:r>
            <a:r>
              <a:rPr lang="en-US" dirty="0">
                <a:latin typeface="Courier New"/>
                <a:cs typeface="Courier New"/>
              </a:rPr>
              <a:t>' '</a:t>
            </a:r>
            <a:r>
              <a:rPr lang="en-US" dirty="0"/>
              <a:t> example is there to demonstrate the syntax, the correct way to join path components is to use </a:t>
            </a:r>
            <a:r>
              <a:rPr lang="en-US" dirty="0" err="1">
                <a:latin typeface="Courier New"/>
                <a:cs typeface="Courier New"/>
              </a:rPr>
              <a:t>os.path.join</a:t>
            </a:r>
            <a:r>
              <a:rPr lang="en-US" dirty="0">
                <a:latin typeface="Courier New"/>
                <a:cs typeface="Courier New"/>
              </a:rPr>
              <a:t>()</a:t>
            </a:r>
            <a:r>
              <a:rPr lang="en-US" dirty="0"/>
              <a:t>. Raw and f-strings are most commonly seen with regular expressions, which we will look at later in the course.</a:t>
            </a:r>
          </a:p>
        </p:txBody>
      </p:sp>
    </p:spTree>
    <p:extLst>
      <p:ext uri="{BB962C8B-B14F-4D97-AF65-F5344CB8AC3E}">
        <p14:creationId xmlns:p14="http://schemas.microsoft.com/office/powerpoint/2010/main" val="8098052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2" name="Rectangle 3"/>
          <p:cNvSpPr>
            <a:spLocks noGrp="1" noChangeArrowheads="1"/>
          </p:cNvSpPr>
          <p:nvPr>
            <p:ph type="body" idx="1"/>
          </p:nvPr>
        </p:nvSpPr>
        <p:spPr/>
        <p:txBody>
          <a:bodyPr/>
          <a:lstStyle/>
          <a:p>
            <a:r>
              <a:rPr lang="en-GB" dirty="0"/>
              <a:t>Sequential composite objects like strings, tuples, and lists may be sliced. Often only one item is required, in which case the syntax uses the familiar square brackets with the index inside. Items are indexed from zero on the left, or -1 (with a negative count) from the right,.</a:t>
            </a:r>
          </a:p>
          <a:p>
            <a:r>
              <a:rPr lang="en-GB" dirty="0"/>
              <a:t>To slice a range of elements, we specify the start index, a colon, then end index plus one. That is, the slice is taken up to, but not including, the second index position. If the start index is not given, the default is zero (first element). Defaulting the second index slices to the end of the object. For example, string[:-1] will remove the last character from a string.</a:t>
            </a:r>
          </a:p>
          <a:p>
            <a:r>
              <a:rPr lang="en-GB" dirty="0"/>
              <a:t>Python 2.3 added support for a third index, a step. For example:</a:t>
            </a:r>
          </a:p>
          <a:p>
            <a:pPr lvl="1"/>
            <a:r>
              <a:rPr lang="en-US" dirty="0"/>
              <a:t>#       0123456789012345</a:t>
            </a:r>
          </a:p>
          <a:p>
            <a:pPr lvl="1"/>
            <a:r>
              <a:rPr lang="en-US" dirty="0"/>
              <a:t>text = "Now that's what I call a dead parrot."</a:t>
            </a:r>
          </a:p>
          <a:p>
            <a:pPr lvl="1"/>
            <a:r>
              <a:rPr lang="en-US" dirty="0"/>
              <a:t>print (text[5 : 15 : 2])</a:t>
            </a:r>
          </a:p>
          <a:p>
            <a:pPr lvl="1"/>
            <a:r>
              <a:rPr lang="en-US" dirty="0"/>
              <a:t>Gives: </a:t>
            </a:r>
            <a:r>
              <a:rPr lang="en-GB" dirty="0" err="1"/>
              <a:t>htswa</a:t>
            </a:r>
            <a:endParaRPr lang="en-GB" dirty="0"/>
          </a:p>
          <a:p>
            <a:r>
              <a:rPr lang="en-GB" dirty="0"/>
              <a:t>This has printed every other character, from position 5 through to 15.</a:t>
            </a:r>
          </a:p>
          <a:p>
            <a:endParaRPr lang="en-GB" dirty="0"/>
          </a:p>
          <a:p>
            <a:r>
              <a:rPr lang="en-GB" dirty="0"/>
              <a:t>Here is another example:</a:t>
            </a:r>
          </a:p>
          <a:p>
            <a:r>
              <a:rPr lang="en-GB" dirty="0"/>
              <a:t>    print(name[::-1].upper())</a:t>
            </a:r>
          </a:p>
          <a:p>
            <a:r>
              <a:rPr lang="en-GB" dirty="0"/>
              <a:t>what do you think that does? (Try it)</a:t>
            </a:r>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068312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Rot="1" noChangeAspect="1" noChangeArrowheads="1" noTextEdit="1"/>
          </p:cNvSpPr>
          <p:nvPr>
            <p:ph type="sldImg"/>
          </p:nvPr>
        </p:nvSpPr>
        <p:spPr>
          <a:ln/>
        </p:spPr>
      </p:sp>
      <p:sp>
        <p:nvSpPr>
          <p:cNvPr id="3584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a:t>
            </a:r>
            <a:r>
              <a:rPr lang="en-GB" b="1" dirty="0">
                <a:latin typeface="Courier New" pitchFamily="49" charset="0"/>
              </a:rPr>
              <a:t>split</a:t>
            </a:r>
            <a:r>
              <a:rPr lang="en-GB" dirty="0"/>
              <a:t> function is commonly used to extract fields from records read from a file. If you want to split around line-endings, then use </a:t>
            </a:r>
            <a:r>
              <a:rPr lang="en-GB" dirty="0" err="1">
                <a:latin typeface="Courier New" pitchFamily="49" charset="0"/>
              </a:rPr>
              <a:t>splitlines</a:t>
            </a:r>
            <a:r>
              <a:rPr lang="en-GB" dirty="0">
                <a:latin typeface="Courier New" pitchFamily="49" charset="0"/>
              </a:rPr>
              <a:t>()</a:t>
            </a:r>
            <a:r>
              <a:rPr lang="en-GB" dirty="0"/>
              <a:t> instead.  Why might you want to do that? Because it is common to read a small file into a single string and then split it, so that each line goes into an element of a list.</a:t>
            </a:r>
          </a:p>
          <a:p>
            <a:r>
              <a:rPr lang="en-GB" dirty="0"/>
              <a:t>There are other versions of </a:t>
            </a:r>
            <a:r>
              <a:rPr lang="en-GB" b="1" dirty="0">
                <a:latin typeface="Courier New" pitchFamily="49" charset="0"/>
              </a:rPr>
              <a:t>split</a:t>
            </a:r>
            <a:r>
              <a:rPr lang="en-GB" dirty="0"/>
              <a:t> available: in the </a:t>
            </a:r>
            <a:r>
              <a:rPr lang="en-GB" b="1" dirty="0">
                <a:latin typeface="Courier New" pitchFamily="49" charset="0"/>
              </a:rPr>
              <a:t>re</a:t>
            </a:r>
            <a:r>
              <a:rPr lang="en-GB" dirty="0"/>
              <a:t> module and in the </a:t>
            </a:r>
            <a:r>
              <a:rPr lang="en-GB" b="1" dirty="0" err="1">
                <a:latin typeface="Courier New" pitchFamily="49" charset="0"/>
              </a:rPr>
              <a:t>os.path</a:t>
            </a:r>
            <a:r>
              <a:rPr lang="en-GB" dirty="0"/>
              <a:t> module. They have different functionality to the string </a:t>
            </a:r>
            <a:r>
              <a:rPr lang="en-GB" b="1" dirty="0">
                <a:latin typeface="Courier New" pitchFamily="49" charset="0"/>
              </a:rPr>
              <a:t>split</a:t>
            </a:r>
            <a:r>
              <a:rPr lang="en-GB" dirty="0"/>
              <a:t> function.</a:t>
            </a:r>
          </a:p>
          <a:p>
            <a:r>
              <a:rPr lang="en-GB" dirty="0"/>
              <a:t>The </a:t>
            </a:r>
            <a:r>
              <a:rPr lang="en-GB" b="1" dirty="0">
                <a:latin typeface="Courier New" pitchFamily="49" charset="0"/>
              </a:rPr>
              <a:t>join</a:t>
            </a:r>
            <a:r>
              <a:rPr lang="en-GB" dirty="0"/>
              <a:t> function is a method called on the separator string, which is rather unusual and takes some getting used to. When called on an empty string, it concatenates the characters in the list into one.</a:t>
            </a:r>
          </a:p>
          <a:p>
            <a:r>
              <a:rPr lang="en-GB" dirty="0"/>
              <a:t>We mentioned </a:t>
            </a:r>
            <a:r>
              <a:rPr lang="en-GB" dirty="0">
                <a:latin typeface="Courier New" panose="02070309020205020404" pitchFamily="49" charset="0"/>
                <a:cs typeface="Courier New" panose="02070309020205020404" pitchFamily="49" charset="0"/>
              </a:rPr>
              <a:t>join</a:t>
            </a:r>
            <a:r>
              <a:rPr lang="en-GB" dirty="0"/>
              <a:t> earlier. If you are concatenating a string in a loop, it is actually faster to append each item to the end of the list instead, then join them all together after the loop. With a small number of iterations, you will not notice any difference, but with a large number there is a measurable improvement in performance.</a:t>
            </a:r>
          </a:p>
        </p:txBody>
      </p:sp>
    </p:spTree>
    <p:extLst>
      <p:ext uri="{BB962C8B-B14F-4D97-AF65-F5344CB8AC3E}">
        <p14:creationId xmlns:p14="http://schemas.microsoft.com/office/powerpoint/2010/main" val="9307284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8163195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Rot="1" noChangeAspect="1" noChangeArrowheads="1" noTextEdit="1"/>
          </p:cNvSpPr>
          <p:nvPr>
            <p:ph type="sldImg"/>
          </p:nvPr>
        </p:nvSpPr>
        <p:spPr>
          <a:ln/>
        </p:spPr>
      </p:sp>
      <p:sp>
        <p:nvSpPr>
          <p:cNvPr id="3789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b="1" dirty="0">
                <a:latin typeface="Courier New" pitchFamily="49" charset="0"/>
              </a:rPr>
              <a:t>format</a:t>
            </a:r>
            <a:r>
              <a:rPr lang="en-US" dirty="0"/>
              <a:t> is particularly useful for displaying floating point numbers, in a variety of formats. The first example shows a number displayed with a total width of 11 characters (including the decimal point), and 8 digits after the decimal point, followed by engineering notation. Notice also that only one value is supplied, this is because both format specifications use position zero. In the other examples, we are not specifying the position, so they are automatically numbered for us (introduced at 3.1).</a:t>
            </a:r>
          </a:p>
          <a:p>
            <a:r>
              <a:rPr lang="en-US" dirty="0"/>
              <a:t>Text columns may be left or right aligned, the second example shows two fields left aligned and padded with spaces. </a:t>
            </a:r>
          </a:p>
          <a:p>
            <a:r>
              <a:rPr lang="en-US" dirty="0"/>
              <a:t>Converting to hexadecimal is useful (use </a:t>
            </a:r>
            <a:r>
              <a:rPr lang="en-US" b="1" dirty="0">
                <a:latin typeface="Courier New" pitchFamily="49" charset="0"/>
              </a:rPr>
              <a:t>o</a:t>
            </a:r>
            <a:r>
              <a:rPr lang="en-US" dirty="0"/>
              <a:t> for octal), and we also show an example of returning the formatted string instead of printing it.</a:t>
            </a:r>
          </a:p>
          <a:p>
            <a:r>
              <a:rPr lang="en-US" dirty="0"/>
              <a:t>Values normally stored in octal, like UNIX file permissions, are displayed or manipulated more easily using </a:t>
            </a:r>
            <a:r>
              <a:rPr lang="en-US" b="1" dirty="0">
                <a:latin typeface="Courier New" pitchFamily="49" charset="0"/>
              </a:rPr>
              <a:t>format</a:t>
            </a:r>
            <a:r>
              <a:rPr lang="en-US" dirty="0"/>
              <a:t>.</a:t>
            </a:r>
          </a:p>
          <a:p>
            <a:endParaRPr lang="en-GB" dirty="0"/>
          </a:p>
        </p:txBody>
      </p:sp>
    </p:spTree>
    <p:extLst>
      <p:ext uri="{BB962C8B-B14F-4D97-AF65-F5344CB8AC3E}">
        <p14:creationId xmlns:p14="http://schemas.microsoft.com/office/powerpoint/2010/main" val="37775724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2"/>
          <p:cNvSpPr>
            <a:spLocks noGrp="1" noRot="1" noChangeAspect="1" noChangeArrowheads="1" noTextEdit="1"/>
          </p:cNvSpPr>
          <p:nvPr>
            <p:ph type="sldImg"/>
          </p:nvPr>
        </p:nvSpPr>
        <p:spPr>
          <a:xfrm>
            <a:off x="-100013" y="442913"/>
            <a:ext cx="6940551" cy="3905250"/>
          </a:xfrm>
          <a:ln/>
        </p:spPr>
      </p:sp>
      <p:sp>
        <p:nvSpPr>
          <p:cNvPr id="38918" name="Rectangle 3"/>
          <p:cNvSpPr>
            <a:spLocks noGrp="1" noChangeArrowheads="1"/>
          </p:cNvSpPr>
          <p:nvPr>
            <p:ph type="body" idx="1"/>
          </p:nvPr>
        </p:nvSpPr>
        <p:spPr>
          <a:xfrm>
            <a:off x="750944" y="4568547"/>
            <a:ext cx="5400675" cy="4865688"/>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88162" tIns="44081" rIns="88162" bIns="44081"/>
          <a:lstStyle/>
          <a:p>
            <a:pPr>
              <a:tabLst/>
            </a:pPr>
            <a:r>
              <a:rPr lang="en-GB" dirty="0"/>
              <a:t>This style of string formatting is still supported in Python 3 but considered deprecated. It might be removed from the language eventually, so should not be used for new applications.</a:t>
            </a:r>
          </a:p>
          <a:p>
            <a:pPr>
              <a:tabLst/>
            </a:pPr>
            <a:endParaRPr lang="en-GB" dirty="0"/>
          </a:p>
          <a:p>
            <a:pPr>
              <a:tabLst/>
            </a:pPr>
            <a:r>
              <a:rPr lang="en-GB" dirty="0"/>
              <a:t>Many languages have the </a:t>
            </a:r>
            <a:r>
              <a:rPr lang="en-GB" dirty="0" err="1">
                <a:latin typeface="Courier New" pitchFamily="49" charset="0"/>
              </a:rPr>
              <a:t>printf</a:t>
            </a:r>
            <a:r>
              <a:rPr lang="en-GB" dirty="0"/>
              <a:t> and </a:t>
            </a:r>
            <a:r>
              <a:rPr lang="en-GB" dirty="0" err="1">
                <a:latin typeface="Courier New" pitchFamily="49" charset="0"/>
              </a:rPr>
              <a:t>scanf</a:t>
            </a:r>
            <a:r>
              <a:rPr lang="en-GB" dirty="0"/>
              <a:t> family of functions (originally from C), but Python 2 overloaded the % operator. I</a:t>
            </a:r>
            <a:r>
              <a:rPr lang="en-US" dirty="0"/>
              <a:t>f you are mixing text variables and escape sequences, then this provides a lot more flexibility than </a:t>
            </a:r>
            <a:r>
              <a:rPr lang="en-US" b="1" dirty="0">
                <a:latin typeface="Courier New" pitchFamily="49" charset="0"/>
              </a:rPr>
              <a:t>print</a:t>
            </a:r>
            <a:r>
              <a:rPr lang="en-US" dirty="0"/>
              <a:t>.  </a:t>
            </a:r>
          </a:p>
          <a:p>
            <a:pPr>
              <a:tabLst/>
            </a:pPr>
            <a:endParaRPr lang="en-US" dirty="0"/>
          </a:p>
          <a:p>
            <a:pPr>
              <a:tabLst/>
            </a:pPr>
            <a:r>
              <a:rPr lang="en-US" dirty="0"/>
              <a:t>The general form of a format specifier is:</a:t>
            </a:r>
          </a:p>
          <a:p>
            <a:pPr marL="457147" lvl="1"/>
            <a:r>
              <a:rPr lang="en-US" b="1" dirty="0">
                <a:latin typeface="Courier New" pitchFamily="49" charset="0"/>
              </a:rPr>
              <a:t>%[flag][width][.precision]letter</a:t>
            </a:r>
          </a:p>
          <a:p>
            <a:pPr>
              <a:tabLst/>
            </a:pPr>
            <a:r>
              <a:rPr lang="en-US" dirty="0"/>
              <a:t>where: </a:t>
            </a:r>
            <a:r>
              <a:rPr lang="en-US" b="1" dirty="0">
                <a:latin typeface="Courier New" pitchFamily="49" charset="0"/>
              </a:rPr>
              <a:t>[flag]</a:t>
            </a:r>
            <a:r>
              <a:rPr lang="en-US" dirty="0"/>
              <a:t> specifies padding an signed options</a:t>
            </a:r>
          </a:p>
          <a:p>
            <a:pPr marL="457147" lvl="1"/>
            <a:r>
              <a:rPr lang="en-US" b="1" dirty="0">
                <a:latin typeface="Courier New" pitchFamily="49" charset="0"/>
              </a:rPr>
              <a:t>[width]</a:t>
            </a:r>
            <a:r>
              <a:rPr lang="en-US" dirty="0"/>
              <a:t> specifies how wide the field is</a:t>
            </a:r>
          </a:p>
          <a:p>
            <a:pPr marL="457147" lvl="1"/>
            <a:r>
              <a:rPr lang="en-US" b="1" dirty="0">
                <a:latin typeface="Courier New" pitchFamily="49" charset="0"/>
              </a:rPr>
              <a:t>[.precision]</a:t>
            </a:r>
            <a:r>
              <a:rPr lang="en-US" dirty="0"/>
              <a:t> specifies decimal digits for floating point numbers</a:t>
            </a:r>
          </a:p>
          <a:p>
            <a:pPr>
              <a:tabLst/>
            </a:pPr>
            <a:r>
              <a:rPr lang="en-US" dirty="0"/>
              <a:t>and </a:t>
            </a:r>
            <a:r>
              <a:rPr lang="en-US" b="1" dirty="0">
                <a:latin typeface="Courier New" pitchFamily="49" charset="0"/>
              </a:rPr>
              <a:t>letter</a:t>
            </a:r>
            <a:r>
              <a:rPr lang="en-US" dirty="0"/>
              <a:t> indicates the data type.  To print a literal ‘%’, use ‘%%’.</a:t>
            </a:r>
          </a:p>
          <a:p>
            <a:pPr>
              <a:tabLst/>
            </a:pPr>
            <a:r>
              <a:rPr lang="en-US" dirty="0"/>
              <a:t>Only the common format specifiers are shown, for a full list see the online help text. Floating point numbers are rounded, but the rounding algorithm does not always produce what you might expect. If a particular rounding method is important, with money amounts, for example, it is best to implement it yourself rather than relying on </a:t>
            </a:r>
            <a:r>
              <a:rPr lang="en-US" dirty="0">
                <a:latin typeface="Courier New" pitchFamily="49" charset="0"/>
              </a:rPr>
              <a:t>%</a:t>
            </a:r>
            <a:r>
              <a:rPr lang="en-US" dirty="0"/>
              <a:t>.</a:t>
            </a:r>
          </a:p>
          <a:p>
            <a:pPr>
              <a:tabLst/>
            </a:pPr>
            <a:endParaRPr lang="en-GB" dirty="0"/>
          </a:p>
        </p:txBody>
      </p:sp>
    </p:spTree>
    <p:extLst>
      <p:ext uri="{BB962C8B-B14F-4D97-AF65-F5344CB8AC3E}">
        <p14:creationId xmlns:p14="http://schemas.microsoft.com/office/powerpoint/2010/main" val="42052272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Rot="1" noChangeAspect="1" noChangeArrowheads="1" noTextEdit="1"/>
          </p:cNvSpPr>
          <p:nvPr>
            <p:ph type="sldImg"/>
          </p:nvPr>
        </p:nvSpPr>
        <p:spPr>
          <a:ln/>
        </p:spPr>
      </p:sp>
      <p:sp>
        <p:nvSpPr>
          <p:cNvPr id="3994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b="1" dirty="0">
                <a:latin typeface="Courier New" pitchFamily="49" charset="0"/>
              </a:rPr>
              <a:t>%</a:t>
            </a:r>
            <a:r>
              <a:rPr lang="en-US" dirty="0"/>
              <a:t> is particularly useful for displaying floating point numbers, in a variety of formats. The first example shows a number displayed with a total width of 11 characters (including the decimal point), and 8 digits after the decimal point, followed by engineering notation.</a:t>
            </a:r>
          </a:p>
          <a:p>
            <a:r>
              <a:rPr lang="en-US" dirty="0"/>
              <a:t>"Columns" may also be left or right aligned, the second example shows two fields left aligned and padded with spaces. </a:t>
            </a:r>
          </a:p>
          <a:p>
            <a:r>
              <a:rPr lang="en-US" dirty="0"/>
              <a:t>Converting to hexadecimal is useful (use </a:t>
            </a:r>
            <a:r>
              <a:rPr lang="en-US" b="1" dirty="0">
                <a:latin typeface="Courier New" pitchFamily="49" charset="0"/>
              </a:rPr>
              <a:t>%o</a:t>
            </a:r>
            <a:r>
              <a:rPr lang="en-US" dirty="0"/>
              <a:t> for octal), and we also show an example of returning the formatted string instead of printing it.</a:t>
            </a:r>
          </a:p>
          <a:p>
            <a:r>
              <a:rPr lang="en-US" dirty="0"/>
              <a:t>Values normally stored in octal, like UNIX file permissions, are displayed or manipulated more easily using </a:t>
            </a:r>
            <a:r>
              <a:rPr lang="en-US" b="1" dirty="0">
                <a:latin typeface="Courier New" pitchFamily="49" charset="0"/>
              </a:rPr>
              <a:t>%</a:t>
            </a:r>
            <a:r>
              <a:rPr lang="en-US" dirty="0"/>
              <a:t>.</a:t>
            </a:r>
          </a:p>
          <a:p>
            <a:endParaRPr lang="en-GB" dirty="0"/>
          </a:p>
        </p:txBody>
      </p:sp>
    </p:spTree>
    <p:extLst>
      <p:ext uri="{BB962C8B-B14F-4D97-AF65-F5344CB8AC3E}">
        <p14:creationId xmlns:p14="http://schemas.microsoft.com/office/powerpoint/2010/main" val="28402618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Montserrat"/>
              </a:rPr>
              <a:t>Omitting the </a:t>
            </a:r>
            <a:r>
              <a:rPr lang="en-US" dirty="0">
                <a:latin typeface="Courier New"/>
                <a:cs typeface="Courier New"/>
              </a:rPr>
              <a:t>b'</a:t>
            </a:r>
            <a:r>
              <a:rPr lang="en-US" dirty="0">
                <a:latin typeface="Montserrat"/>
              </a:rPr>
              <a:t> on the left side of the format string will produce an str object rather than a bytes object. The</a:t>
            </a:r>
            <a:r>
              <a:rPr lang="en-US" baseline="0" dirty="0">
                <a:latin typeface="Montserrat"/>
              </a:rPr>
              <a:t> exception is </a:t>
            </a:r>
            <a:r>
              <a:rPr lang="en-US" baseline="0" dirty="0">
                <a:latin typeface="Courier New"/>
                <a:cs typeface="Courier New"/>
              </a:rPr>
              <a:t>%b</a:t>
            </a:r>
            <a:r>
              <a:rPr lang="en-US" baseline="0" dirty="0">
                <a:latin typeface="Montserrat"/>
              </a:rPr>
              <a:t> which is not supported inside a str.</a:t>
            </a:r>
          </a:p>
          <a:p>
            <a:endParaRPr lang="en-US" dirty="0">
              <a:latin typeface="Montserrat"/>
            </a:endParaRPr>
          </a:p>
          <a:p>
            <a:r>
              <a:rPr lang="en-US" dirty="0"/>
              <a:t>See </a:t>
            </a:r>
            <a:r>
              <a:rPr lang="en-US" i="1" dirty="0" err="1"/>
              <a:t>printf</a:t>
            </a:r>
            <a:r>
              <a:rPr lang="en-US" i="1" dirty="0"/>
              <a:t>-style Bytes Formatting</a:t>
            </a:r>
            <a:r>
              <a:rPr lang="en-US" dirty="0"/>
              <a:t> in the online documentation.</a:t>
            </a:r>
          </a:p>
        </p:txBody>
      </p:sp>
    </p:spTree>
    <p:extLst>
      <p:ext uri="{BB962C8B-B14F-4D97-AF65-F5344CB8AC3E}">
        <p14:creationId xmlns:p14="http://schemas.microsoft.com/office/powerpoint/2010/main" val="41690769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pic>
        <p:nvPicPr>
          <p:cNvPr id="2" name="Graphic 31">
            <a:extLst>
              <a:ext uri="{FF2B5EF4-FFF2-40B4-BE49-F238E27FC236}">
                <a16:creationId xmlns:a16="http://schemas.microsoft.com/office/drawing/2014/main" id="{C9777C0C-2466-065E-DE2A-D3B3D579C47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3" name="Slide Number Placeholder 5">
            <a:extLst>
              <a:ext uri="{FF2B5EF4-FFF2-40B4-BE49-F238E27FC236}">
                <a16:creationId xmlns:a16="http://schemas.microsoft.com/office/drawing/2014/main" id="{12910F45-C0C9-10BD-75EF-4CCFF8505D1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Graphic 31">
            <a:extLst>
              <a:ext uri="{FF2B5EF4-FFF2-40B4-BE49-F238E27FC236}">
                <a16:creationId xmlns:a16="http://schemas.microsoft.com/office/drawing/2014/main" id="{FEF756A2-08A4-05D6-468C-CFCCE950772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2" name="Graphic 31">
            <a:extLst>
              <a:ext uri="{FF2B5EF4-FFF2-40B4-BE49-F238E27FC236}">
                <a16:creationId xmlns:a16="http://schemas.microsoft.com/office/drawing/2014/main" id="{C1E4C2A7-181E-0214-4C34-90E953646C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8084422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275321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1_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98125000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1548272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2" r:id="rId35"/>
    <p:sldLayoutId id="2147483903" r:id="rId36"/>
    <p:sldLayoutId id="2147483904" r:id="rId37"/>
    <p:sldLayoutId id="2147483905" r:id="rId38"/>
  </p:sldLayoutIdLst>
  <p:hf hdr="0" ftr="0" dt="0"/>
  <p:txStyles>
    <p:titleStyle>
      <a:lvl1pPr algn="l" defTabSz="914400" rtl="0" eaLnBrk="1" latinLnBrk="0" hangingPunct="1">
        <a:lnSpc>
          <a:spcPct val="1000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0"/>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0"/>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0"/>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0"/>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7.xml"/><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376238" y="1760751"/>
            <a:ext cx="6596062" cy="2431485"/>
          </a:xfrm>
        </p:spPr>
        <p:txBody>
          <a:bodyPr>
            <a:normAutofit/>
          </a:bodyPr>
          <a:lstStyle/>
          <a:p>
            <a:r>
              <a:rPr lang="en-GB" dirty="0">
                <a:solidFill>
                  <a:srgbClr val="004050"/>
                </a:solidFill>
              </a:rPr>
              <a:t>Python 3 Programming</a:t>
            </a:r>
            <a:endParaRPr lang="en-US" dirty="0">
              <a:solidFill>
                <a:srgbClr val="004050"/>
              </a:solidFill>
              <a:latin typeface="Arial" charset="0"/>
              <a:cs typeface="Arial" charset="0"/>
            </a:endParaRPr>
          </a:p>
        </p:txBody>
      </p:sp>
      <p:sp>
        <p:nvSpPr>
          <p:cNvPr id="4099" name="Subtitle 2"/>
          <p:cNvSpPr>
            <a:spLocks noGrp="1"/>
          </p:cNvSpPr>
          <p:nvPr>
            <p:ph type="body" sz="quarter" idx="10"/>
          </p:nvPr>
        </p:nvSpPr>
        <p:spPr>
          <a:xfrm>
            <a:off x="376238" y="4497387"/>
            <a:ext cx="6604609" cy="709613"/>
          </a:xfrm>
        </p:spPr>
        <p:txBody>
          <a:bodyPr/>
          <a:lstStyle/>
          <a:p>
            <a:r>
              <a:rPr lang="en-GB" sz="2400" b="1" dirty="0">
                <a:solidFill>
                  <a:srgbClr val="004050"/>
                </a:solidFill>
              </a:rPr>
              <a:t>String handling</a:t>
            </a:r>
            <a:endParaRPr lang="en-US" sz="2400" b="1" dirty="0">
              <a:solidFill>
                <a:srgbClr val="004050"/>
              </a:solidFill>
              <a:latin typeface="Arial" charset="0"/>
              <a:cs typeface="Arial" charset="0"/>
            </a:endParaRPr>
          </a:p>
        </p:txBody>
      </p:sp>
    </p:spTree>
    <p:extLst>
      <p:ext uri="{BB962C8B-B14F-4D97-AF65-F5344CB8AC3E}">
        <p14:creationId xmlns:p14="http://schemas.microsoft.com/office/powerpoint/2010/main" val="2351901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0D33C1-BAB6-4EF0-A77F-056CE8148F81}"/>
              </a:ext>
            </a:extLst>
          </p:cNvPr>
          <p:cNvSpPr>
            <a:spLocks noGrp="1"/>
          </p:cNvSpPr>
          <p:nvPr>
            <p:ph type="body" sz="quarter" idx="15"/>
          </p:nvPr>
        </p:nvSpPr>
        <p:spPr>
          <a:xfrm>
            <a:off x="5019729" y="568936"/>
            <a:ext cx="7737735" cy="6155714"/>
          </a:xfrm>
        </p:spPr>
        <p:txBody>
          <a:bodyPr numCol="2"/>
          <a:lstStyle/>
          <a:p>
            <a:pPr>
              <a:lnSpc>
                <a:spcPct val="110000"/>
              </a:lnSpc>
            </a:pPr>
            <a:r>
              <a:rPr lang="en-GB" b="1" dirty="0"/>
              <a:t>Contents</a:t>
            </a:r>
          </a:p>
          <a:p>
            <a:pPr lvl="1"/>
            <a:r>
              <a:rPr lang="en-GB" dirty="0"/>
              <a:t>Python 3 strings</a:t>
            </a:r>
          </a:p>
          <a:p>
            <a:pPr lvl="1"/>
            <a:r>
              <a:rPr lang="en-GB" dirty="0"/>
              <a:t>The print function</a:t>
            </a:r>
          </a:p>
          <a:p>
            <a:pPr lvl="1"/>
            <a:r>
              <a:rPr lang="en-GB" dirty="0"/>
              <a:t>Cooking strings</a:t>
            </a:r>
          </a:p>
          <a:p>
            <a:pPr lvl="2"/>
            <a:r>
              <a:rPr lang="en-GB" dirty="0"/>
              <a:t>String concatenation</a:t>
            </a:r>
          </a:p>
          <a:p>
            <a:pPr lvl="2"/>
            <a:r>
              <a:rPr lang="en-GB" dirty="0"/>
              <a:t>"Quotes"</a:t>
            </a:r>
          </a:p>
          <a:p>
            <a:pPr lvl="1"/>
            <a:r>
              <a:rPr lang="en-GB" dirty="0"/>
              <a:t>String methods</a:t>
            </a:r>
          </a:p>
          <a:p>
            <a:pPr lvl="1"/>
            <a:r>
              <a:rPr lang="en-GB" dirty="0"/>
              <a:t>String tests</a:t>
            </a:r>
          </a:p>
          <a:p>
            <a:pPr lvl="1"/>
            <a:r>
              <a:rPr lang="en-GB" dirty="0"/>
              <a:t>String formatting</a:t>
            </a:r>
          </a:p>
          <a:p>
            <a:pPr lvl="1"/>
            <a:r>
              <a:rPr lang="en-GB" dirty="0"/>
              <a:t>Literal string interpolation</a:t>
            </a:r>
          </a:p>
          <a:p>
            <a:pPr lvl="1"/>
            <a:r>
              <a:rPr lang="en-GB" dirty="0"/>
              <a:t>Slicing a string</a:t>
            </a:r>
          </a:p>
          <a:p>
            <a:pPr lvl="1"/>
            <a:r>
              <a:rPr lang="en-GB" dirty="0"/>
              <a:t>String methods - split and join</a:t>
            </a:r>
            <a:br>
              <a:rPr lang="en-GB" dirty="0"/>
            </a:br>
            <a:br>
              <a:rPr lang="en-GB" dirty="0"/>
            </a:br>
            <a:r>
              <a:rPr lang="en-GB" b="1" dirty="0"/>
              <a:t>Summary</a:t>
            </a:r>
          </a:p>
          <a:p>
            <a:pPr lvl="1"/>
            <a:r>
              <a:rPr lang="en-GB" dirty="0"/>
              <a:t>String formatting - old style</a:t>
            </a:r>
          </a:p>
          <a:p>
            <a:pPr lvl="3">
              <a:lnSpc>
                <a:spcPct val="90000"/>
              </a:lnSpc>
            </a:pPr>
            <a:endParaRPr lang="en-GB" dirty="0"/>
          </a:p>
          <a:p>
            <a:endParaRPr lang="en-GB" dirty="0"/>
          </a:p>
        </p:txBody>
      </p:sp>
      <p:sp>
        <p:nvSpPr>
          <p:cNvPr id="4099" name="Rectangle 3"/>
          <p:cNvSpPr>
            <a:spLocks noGrp="1" noChangeArrowheads="1"/>
          </p:cNvSpPr>
          <p:nvPr>
            <p:ph type="body" sz="quarter" idx="10"/>
          </p:nvPr>
        </p:nvSpPr>
        <p:spPr/>
        <p:txBody>
          <a:bodyPr>
            <a:normAutofit/>
          </a:bodyPr>
          <a:lstStyle/>
          <a:p>
            <a:pPr>
              <a:lnSpc>
                <a:spcPct val="110000"/>
              </a:lnSpc>
            </a:pPr>
            <a:r>
              <a:rPr lang="en-GB" dirty="0"/>
              <a:t>String handling</a:t>
            </a:r>
          </a:p>
        </p:txBody>
      </p:sp>
      <p:sp>
        <p:nvSpPr>
          <p:cNvPr id="3" name="Slide Number Placeholder 2">
            <a:extLst>
              <a:ext uri="{FF2B5EF4-FFF2-40B4-BE49-F238E27FC236}">
                <a16:creationId xmlns:a16="http://schemas.microsoft.com/office/drawing/2014/main" id="{C5AEB308-A397-B186-21C6-55B9F761BB68}"/>
              </a:ext>
            </a:extLst>
          </p:cNvPr>
          <p:cNvSpPr>
            <a:spLocks noGrp="1"/>
          </p:cNvSpPr>
          <p:nvPr>
            <p:ph type="sldNum" sz="quarter" idx="4"/>
          </p:nvPr>
        </p:nvSpPr>
        <p:spPr/>
        <p:txBody>
          <a:bodyPr/>
          <a:lstStyle/>
          <a:p>
            <a:fld id="{EF892D59-8F09-EF4B-AD6D-DA609442F868}" type="slidenum">
              <a:rPr lang="en-GB" smtClean="0"/>
              <a:pPr/>
              <a:t>2</a:t>
            </a:fld>
            <a:endParaRPr lang="en-GB"/>
          </a:p>
        </p:txBody>
      </p:sp>
    </p:spTree>
    <p:extLst>
      <p:ext uri="{BB962C8B-B14F-4D97-AF65-F5344CB8AC3E}">
        <p14:creationId xmlns:p14="http://schemas.microsoft.com/office/powerpoint/2010/main" val="152993370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sz="half" idx="4294967295"/>
          </p:nvPr>
        </p:nvSpPr>
        <p:spPr>
          <a:xfrm>
            <a:off x="801966" y="1137073"/>
            <a:ext cx="8594725" cy="5568950"/>
          </a:xfrm>
        </p:spPr>
        <p:txBody>
          <a:bodyPr/>
          <a:lstStyle/>
          <a:p>
            <a:r>
              <a:rPr lang="en-GB" b="1" dirty="0"/>
              <a:t>Strings in Python 3 are Unicode</a:t>
            </a:r>
          </a:p>
          <a:p>
            <a:pPr marL="457200" lvl="1" indent="-228600">
              <a:buFont typeface="Arial" panose="020B0604020202020204" pitchFamily="34" charset="0"/>
              <a:buChar char="•"/>
            </a:pPr>
            <a:r>
              <a:rPr lang="en-GB" sz="1800" dirty="0"/>
              <a:t>Multi-byte characters.</a:t>
            </a:r>
          </a:p>
          <a:p>
            <a:pPr marL="457200" lvl="1" indent="-228600">
              <a:buFont typeface="Arial" panose="020B0604020202020204" pitchFamily="34" charset="0"/>
              <a:buChar char="•"/>
            </a:pPr>
            <a:r>
              <a:rPr lang="en-GB" sz="1800" dirty="0">
                <a:latin typeface="Courier New"/>
                <a:cs typeface="Courier New"/>
              </a:rPr>
              <a:t>\</a:t>
            </a:r>
            <a:r>
              <a:rPr lang="en-GB" sz="1800" dirty="0" err="1">
                <a:latin typeface="Courier New"/>
                <a:cs typeface="Courier New"/>
              </a:rPr>
              <a:t>u</a:t>
            </a:r>
            <a:r>
              <a:rPr lang="en-GB" sz="1800" b="0" i="1" dirty="0" err="1">
                <a:latin typeface="Montserrat"/>
              </a:rPr>
              <a:t>nnnn</a:t>
            </a:r>
            <a:r>
              <a:rPr lang="en-GB" sz="1800" dirty="0">
                <a:latin typeface="Montserrat"/>
              </a:rPr>
              <a:t> for a two-byte Unicode character.</a:t>
            </a:r>
          </a:p>
          <a:p>
            <a:pPr marL="457200" lvl="1" indent="-228600">
              <a:buFont typeface="Arial" panose="020B0604020202020204" pitchFamily="34" charset="0"/>
              <a:buChar char="•"/>
            </a:pPr>
            <a:r>
              <a:rPr lang="en-GB" sz="1800" dirty="0">
                <a:latin typeface="Courier New"/>
                <a:cs typeface="Courier New"/>
              </a:rPr>
              <a:t>\</a:t>
            </a:r>
            <a:r>
              <a:rPr lang="en-GB" sz="1800" dirty="0" err="1">
                <a:latin typeface="Courier New"/>
                <a:cs typeface="Courier New"/>
              </a:rPr>
              <a:t>U</a:t>
            </a:r>
            <a:r>
              <a:rPr lang="en-GB" sz="1800" b="0" i="1" dirty="0" err="1">
                <a:latin typeface="Montserrat"/>
              </a:rPr>
              <a:t>nnnnnnnn</a:t>
            </a:r>
            <a:r>
              <a:rPr lang="en-GB" sz="1800" dirty="0">
                <a:latin typeface="Montserrat"/>
              </a:rPr>
              <a:t> for a four-byte Unicode character.</a:t>
            </a:r>
          </a:p>
          <a:p>
            <a:pPr marL="457200" lvl="1" indent="-228600">
              <a:buFont typeface="Arial" panose="020B0604020202020204" pitchFamily="34" charset="0"/>
              <a:buChar char="•"/>
            </a:pPr>
            <a:r>
              <a:rPr lang="en-GB" sz="1800" dirty="0">
                <a:latin typeface="Courier New"/>
                <a:cs typeface="Courier New"/>
              </a:rPr>
              <a:t>\N{</a:t>
            </a:r>
            <a:r>
              <a:rPr lang="en-GB" sz="1800" b="0" i="1" dirty="0">
                <a:latin typeface="Montserrat"/>
              </a:rPr>
              <a:t>name</a:t>
            </a:r>
            <a:r>
              <a:rPr lang="en-GB" sz="1800" dirty="0">
                <a:latin typeface="Courier New"/>
                <a:cs typeface="Courier New"/>
              </a:rPr>
              <a:t>}</a:t>
            </a:r>
            <a:r>
              <a:rPr lang="en-GB" sz="1800" dirty="0">
                <a:latin typeface="Montserrat"/>
              </a:rPr>
              <a:t> for a named Unicode character.</a:t>
            </a:r>
          </a:p>
          <a:p>
            <a:pPr lvl="1"/>
            <a:endParaRPr lang="en-GB" dirty="0"/>
          </a:p>
          <a:p>
            <a:pPr lvl="1"/>
            <a:endParaRPr lang="en-GB" sz="800" dirty="0"/>
          </a:p>
          <a:p>
            <a:pPr lvl="1"/>
            <a:endParaRPr lang="en-GB" dirty="0"/>
          </a:p>
          <a:p>
            <a:pPr lvl="1"/>
            <a:endParaRPr lang="en-GB" dirty="0"/>
          </a:p>
          <a:p>
            <a:pPr marL="88900" lvl="1" indent="0">
              <a:buNone/>
            </a:pPr>
            <a:endParaRPr lang="en-GB" dirty="0"/>
          </a:p>
          <a:p>
            <a:r>
              <a:rPr lang="en-GB" b="1" dirty="0"/>
              <a:t>For low-level interfaces we have bytes() and </a:t>
            </a:r>
            <a:r>
              <a:rPr lang="en-GB" b="1" dirty="0" err="1"/>
              <a:t>bytearray</a:t>
            </a:r>
            <a:r>
              <a:rPr lang="en-GB" b="1" dirty="0"/>
              <a:t>()</a:t>
            </a:r>
          </a:p>
          <a:p>
            <a:endParaRPr lang="en-GB" sz="800" dirty="0"/>
          </a:p>
          <a:p>
            <a:endParaRPr lang="en-GB" dirty="0"/>
          </a:p>
          <a:p>
            <a:pPr marL="457200" lvl="1" indent="-228600">
              <a:buFont typeface="Arial" panose="020B0604020202020204" pitchFamily="34" charset="0"/>
              <a:buChar char="•"/>
            </a:pPr>
            <a:r>
              <a:rPr lang="en-GB" sz="1800" dirty="0"/>
              <a:t>Conversion between strings and bytes: </a:t>
            </a:r>
          </a:p>
          <a:p>
            <a:pPr marL="1371600" lvl="3" indent="0">
              <a:buNone/>
            </a:pPr>
            <a:r>
              <a:rPr lang="en-GB" sz="1800" b="0" i="1" dirty="0" err="1"/>
              <a:t>string</a:t>
            </a:r>
            <a:r>
              <a:rPr lang="en-GB" sz="1800" dirty="0" err="1">
                <a:latin typeface="Courier New" panose="02070309020205020404" pitchFamily="49" charset="0"/>
              </a:rPr>
              <a:t>.encode</a:t>
            </a:r>
            <a:r>
              <a:rPr lang="en-GB" sz="1800" dirty="0">
                <a:latin typeface="Courier New" panose="02070309020205020404" pitchFamily="49" charset="0"/>
              </a:rPr>
              <a:t>() 		</a:t>
            </a:r>
            <a:r>
              <a:rPr lang="en-GB" sz="1800" b="0" i="1" dirty="0" err="1"/>
              <a:t>bytes</a:t>
            </a:r>
            <a:r>
              <a:rPr lang="en-GB" sz="1800" dirty="0" err="1">
                <a:latin typeface="Courier New" panose="02070309020205020404" pitchFamily="49" charset="0"/>
              </a:rPr>
              <a:t>.decode</a:t>
            </a:r>
            <a:r>
              <a:rPr lang="en-GB" sz="1800" dirty="0">
                <a:latin typeface="Courier New" panose="02070309020205020404" pitchFamily="49" charset="0"/>
              </a:rPr>
              <a:t>()</a:t>
            </a:r>
          </a:p>
        </p:txBody>
      </p:sp>
      <p:sp>
        <p:nvSpPr>
          <p:cNvPr id="5122" name="Rectangle 2"/>
          <p:cNvSpPr>
            <a:spLocks noGrp="1" noChangeArrowheads="1"/>
          </p:cNvSpPr>
          <p:nvPr>
            <p:ph type="title"/>
          </p:nvPr>
        </p:nvSpPr>
        <p:spPr>
          <a:xfrm>
            <a:off x="1056103" y="325231"/>
            <a:ext cx="11517818" cy="805001"/>
          </a:xfrm>
        </p:spPr>
        <p:txBody>
          <a:bodyPr/>
          <a:lstStyle/>
          <a:p>
            <a:pPr eaLnBrk="1" hangingPunct="1"/>
            <a:r>
              <a:rPr lang="en-GB" dirty="0"/>
              <a:t>Python 3 strings</a:t>
            </a:r>
          </a:p>
        </p:txBody>
      </p:sp>
      <p:sp>
        <p:nvSpPr>
          <p:cNvPr id="5125" name="Text Box 6"/>
          <p:cNvSpPr txBox="1">
            <a:spLocks noChangeArrowheads="1"/>
          </p:cNvSpPr>
          <p:nvPr/>
        </p:nvSpPr>
        <p:spPr bwMode="auto">
          <a:xfrm>
            <a:off x="1354486" y="5212971"/>
            <a:ext cx="5441950" cy="3762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err="1">
                <a:latin typeface="Courier New" panose="02070309020205020404" pitchFamily="49" charset="0"/>
              </a:rPr>
              <a:t>chars_as_bytes</a:t>
            </a:r>
            <a:r>
              <a:rPr lang="en-GB" sz="1800" dirty="0">
                <a:latin typeface="Courier New" panose="02070309020205020404" pitchFamily="49" charset="0"/>
              </a:rPr>
              <a:t> = </a:t>
            </a:r>
            <a:r>
              <a:rPr lang="en-GB" sz="1800" dirty="0" err="1">
                <a:latin typeface="Courier New" panose="02070309020205020404" pitchFamily="49" charset="0"/>
              </a:rPr>
              <a:t>b"single</a:t>
            </a:r>
            <a:r>
              <a:rPr lang="en-GB" sz="1800" dirty="0">
                <a:latin typeface="Courier New" panose="02070309020205020404" pitchFamily="49" charset="0"/>
              </a:rPr>
              <a:t>-byte string"</a:t>
            </a:r>
          </a:p>
        </p:txBody>
      </p:sp>
      <p:sp>
        <p:nvSpPr>
          <p:cNvPr id="5126" name="Text Box 7"/>
          <p:cNvSpPr txBox="1">
            <a:spLocks noChangeArrowheads="1"/>
          </p:cNvSpPr>
          <p:nvPr/>
        </p:nvSpPr>
        <p:spPr bwMode="auto">
          <a:xfrm>
            <a:off x="1370361" y="3040588"/>
            <a:ext cx="5410200" cy="156966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rPr>
              <a:t>&gt;&gt;&gt; euro="\u20ac"</a:t>
            </a:r>
          </a:p>
          <a:p>
            <a:pPr>
              <a:spcBef>
                <a:spcPct val="0"/>
              </a:spcBef>
            </a:pPr>
            <a:r>
              <a:rPr lang="en-GB" sz="1600" dirty="0">
                <a:latin typeface="Courier New" panose="02070309020205020404" pitchFamily="49" charset="0"/>
              </a:rPr>
              <a:t>&gt;&gt;&gt; euro</a:t>
            </a:r>
          </a:p>
          <a:p>
            <a:pPr>
              <a:spcBef>
                <a:spcPct val="0"/>
              </a:spcBef>
            </a:pPr>
            <a:r>
              <a:rPr lang="en-GB" sz="1600" dirty="0">
                <a:latin typeface="Courier New" panose="02070309020205020404" pitchFamily="49" charset="0"/>
              </a:rPr>
              <a:t>'€'</a:t>
            </a:r>
          </a:p>
          <a:p>
            <a:pPr>
              <a:spcBef>
                <a:spcPct val="0"/>
              </a:spcBef>
            </a:pPr>
            <a:r>
              <a:rPr lang="en-GB" sz="1600" dirty="0">
                <a:latin typeface="Courier New" panose="02070309020205020404" pitchFamily="49" charset="0"/>
              </a:rPr>
              <a:t>&gt;&gt;&gt; euro="\N{euro sign}"</a:t>
            </a:r>
          </a:p>
          <a:p>
            <a:pPr>
              <a:spcBef>
                <a:spcPct val="0"/>
              </a:spcBef>
            </a:pPr>
            <a:r>
              <a:rPr lang="en-GB" sz="1600" dirty="0">
                <a:latin typeface="Courier New" panose="02070309020205020404" pitchFamily="49" charset="0"/>
              </a:rPr>
              <a:t>&gt;&gt;&gt; print(euro)</a:t>
            </a:r>
          </a:p>
          <a:p>
            <a:pPr>
              <a:spcBef>
                <a:spcPct val="0"/>
              </a:spcBef>
            </a:pPr>
            <a:r>
              <a:rPr lang="en-GB" sz="1600" dirty="0">
                <a:latin typeface="Courier New" panose="02070309020205020404" pitchFamily="49" charset="0"/>
              </a:rPr>
              <a:t>€</a:t>
            </a:r>
          </a:p>
        </p:txBody>
      </p:sp>
      <p:cxnSp>
        <p:nvCxnSpPr>
          <p:cNvPr id="3" name="Straight Arrow Connector 2">
            <a:extLst>
              <a:ext uri="{FF2B5EF4-FFF2-40B4-BE49-F238E27FC236}">
                <a16:creationId xmlns:a16="http://schemas.microsoft.com/office/drawing/2014/main" id="{C704E9AD-14C3-435B-8735-E60631867324}"/>
              </a:ext>
            </a:extLst>
          </p:cNvPr>
          <p:cNvCxnSpPr/>
          <p:nvPr/>
        </p:nvCxnSpPr>
        <p:spPr>
          <a:xfrm>
            <a:off x="4204250" y="6256416"/>
            <a:ext cx="895078"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2" name="Slide Number Placeholder 1">
            <a:extLst>
              <a:ext uri="{FF2B5EF4-FFF2-40B4-BE49-F238E27FC236}">
                <a16:creationId xmlns:a16="http://schemas.microsoft.com/office/drawing/2014/main" id="{B87B1C22-7916-42AA-E463-2C1DB310E745}"/>
              </a:ext>
            </a:extLst>
          </p:cNvPr>
          <p:cNvSpPr>
            <a:spLocks noGrp="1"/>
          </p:cNvSpPr>
          <p:nvPr>
            <p:ph type="sldNum" sz="quarter" idx="4"/>
          </p:nvPr>
        </p:nvSpPr>
        <p:spPr/>
        <p:txBody>
          <a:bodyPr/>
          <a:lstStyle/>
          <a:p>
            <a:fld id="{EF892D59-8F09-EF4B-AD6D-DA609442F868}" type="slidenum">
              <a:rPr lang="en-GB" smtClean="0"/>
              <a:pPr/>
              <a:t>3</a:t>
            </a:fld>
            <a:endParaRPr lang="en-GB" dirty="0"/>
          </a:p>
        </p:txBody>
      </p:sp>
    </p:spTree>
    <p:extLst>
      <p:ext uri="{BB962C8B-B14F-4D97-AF65-F5344CB8AC3E}">
        <p14:creationId xmlns:p14="http://schemas.microsoft.com/office/powerpoint/2010/main" val="4032885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sz="half" idx="4294967295"/>
          </p:nvPr>
        </p:nvSpPr>
        <p:spPr>
          <a:xfrm>
            <a:off x="392950" y="1366344"/>
            <a:ext cx="9427344" cy="4929598"/>
          </a:xfrm>
        </p:spPr>
        <p:txBody>
          <a:bodyPr/>
          <a:lstStyle/>
          <a:p>
            <a:r>
              <a:rPr lang="en-GB" b="1" dirty="0">
                <a:latin typeface="Montserrat"/>
              </a:rPr>
              <a:t>One of the most commonly used functions:</a:t>
            </a:r>
          </a:p>
          <a:p>
            <a:pPr marL="457200" lvl="1" indent="-228600">
              <a:buFont typeface="Arial" panose="020B0604020202020204" pitchFamily="34" charset="0"/>
              <a:buChar char="•"/>
            </a:pPr>
            <a:r>
              <a:rPr lang="en-GB" sz="1800" dirty="0"/>
              <a:t>Used for displaying a comma separated list of objects.</a:t>
            </a:r>
          </a:p>
          <a:p>
            <a:pPr marL="457200" lvl="1" indent="-228600">
              <a:buFont typeface="Arial" panose="020B0604020202020204" pitchFamily="34" charset="0"/>
              <a:buChar char="•"/>
            </a:pPr>
            <a:r>
              <a:rPr lang="en-GB" sz="1800" dirty="0">
                <a:latin typeface="Montserrat"/>
              </a:rPr>
              <a:t>Objects are </a:t>
            </a:r>
            <a:r>
              <a:rPr lang="en-GB" sz="1800" i="1" dirty="0">
                <a:latin typeface="Montserrat"/>
              </a:rPr>
              <a:t>stringified.</a:t>
            </a:r>
          </a:p>
          <a:p>
            <a:pPr lvl="1"/>
            <a:endParaRPr lang="en-GB" sz="1800" dirty="0"/>
          </a:p>
          <a:p>
            <a:pPr lvl="1"/>
            <a:endParaRPr lang="en-GB" sz="1800" dirty="0"/>
          </a:p>
          <a:p>
            <a:pPr marL="228600" lvl="1" indent="-228600">
              <a:buNone/>
            </a:pPr>
            <a:r>
              <a:rPr lang="en-GB" b="1" dirty="0"/>
              <a:t>Has several named arguments, s</a:t>
            </a:r>
            <a:r>
              <a:rPr lang="en-GB" b="1" dirty="0">
                <a:latin typeface="Montserrat"/>
              </a:rPr>
              <a:t>pecified in any order</a:t>
            </a:r>
          </a:p>
          <a:p>
            <a:pPr marL="542925" lvl="4" indent="-271463">
              <a:buFont typeface="Arial" panose="020B0604020202020204" pitchFamily="34" charset="0"/>
              <a:buChar char="•"/>
            </a:pPr>
            <a:r>
              <a:rPr lang="en-GB" b="1" dirty="0">
                <a:latin typeface="Courier New"/>
                <a:cs typeface="Courier New"/>
              </a:rPr>
              <a:t>end=</a:t>
            </a:r>
            <a:r>
              <a:rPr lang="en-GB" dirty="0">
                <a:latin typeface="Montserrat"/>
              </a:rPr>
              <a:t> </a:t>
            </a:r>
            <a:r>
              <a:rPr lang="en-GB" i="1" dirty="0">
                <a:latin typeface="Montserrat"/>
              </a:rPr>
              <a:t>characters to be appended, default is '\n' (newline).</a:t>
            </a:r>
          </a:p>
          <a:p>
            <a:pPr marL="542925" lvl="4" indent="-271463">
              <a:buFont typeface="Arial" panose="020B0604020202020204" pitchFamily="34" charset="0"/>
              <a:buChar char="•"/>
            </a:pPr>
            <a:r>
              <a:rPr lang="en-GB" b="1" dirty="0">
                <a:latin typeface="Courier New"/>
                <a:cs typeface="Courier New"/>
              </a:rPr>
              <a:t>file=</a:t>
            </a:r>
            <a:r>
              <a:rPr lang="en-GB" dirty="0">
                <a:latin typeface="Montserrat"/>
              </a:rPr>
              <a:t> </a:t>
            </a:r>
            <a:r>
              <a:rPr lang="en-GB" i="1" dirty="0">
                <a:latin typeface="Montserrat"/>
              </a:rPr>
              <a:t>file object to be written to, default is </a:t>
            </a:r>
            <a:r>
              <a:rPr lang="en-GB" i="1" dirty="0" err="1">
                <a:latin typeface="Montserrat"/>
              </a:rPr>
              <a:t>sys.stdout</a:t>
            </a:r>
            <a:r>
              <a:rPr lang="en-GB" i="1" dirty="0">
                <a:latin typeface="Montserrat"/>
              </a:rPr>
              <a:t>.</a:t>
            </a:r>
          </a:p>
          <a:p>
            <a:pPr marL="542925" lvl="4" indent="-271463">
              <a:buFont typeface="Arial" panose="020B0604020202020204" pitchFamily="34" charset="0"/>
              <a:buChar char="•"/>
            </a:pPr>
            <a:r>
              <a:rPr lang="en-GB" b="1" dirty="0" err="1">
                <a:latin typeface="Courier New"/>
                <a:cs typeface="Courier New"/>
              </a:rPr>
              <a:t>sep</a:t>
            </a:r>
            <a:r>
              <a:rPr lang="en-GB" b="1" dirty="0">
                <a:latin typeface="Courier New"/>
                <a:cs typeface="Courier New"/>
              </a:rPr>
              <a:t>=</a:t>
            </a:r>
            <a:r>
              <a:rPr lang="en-GB" dirty="0">
                <a:latin typeface="Montserrat"/>
              </a:rPr>
              <a:t> </a:t>
            </a:r>
            <a:r>
              <a:rPr lang="en-GB" i="1" dirty="0">
                <a:latin typeface="Montserrat"/>
              </a:rPr>
              <a:t>separator used between list items, default is a space.</a:t>
            </a:r>
          </a:p>
          <a:p>
            <a:pPr marL="542925" lvl="4" indent="-271463">
              <a:buFont typeface="Arial" panose="020B0604020202020204" pitchFamily="34" charset="0"/>
              <a:buChar char="•"/>
            </a:pPr>
            <a:r>
              <a:rPr lang="en-GB" b="1" dirty="0">
                <a:latin typeface="Courier New" panose="02070309020205020404" pitchFamily="49" charset="0"/>
                <a:cs typeface="Courier New" panose="02070309020205020404" pitchFamily="49" charset="0"/>
              </a:rPr>
              <a:t>flush</a:t>
            </a:r>
            <a:r>
              <a:rPr lang="en-GB" dirty="0">
                <a:latin typeface="Courier New" panose="02070309020205020404" pitchFamily="49" charset="0"/>
                <a:cs typeface="Courier New" panose="02070309020205020404" pitchFamily="49" charset="0"/>
              </a:rPr>
              <a:t>=</a:t>
            </a:r>
            <a:r>
              <a:rPr lang="en-GB" i="1" dirty="0"/>
              <a:t>to flush or not to flush (Boolean), default is False (3.3).</a:t>
            </a:r>
          </a:p>
        </p:txBody>
      </p:sp>
      <p:sp>
        <p:nvSpPr>
          <p:cNvPr id="6146" name="Rectangle 2"/>
          <p:cNvSpPr>
            <a:spLocks noGrp="1" noChangeArrowheads="1"/>
          </p:cNvSpPr>
          <p:nvPr>
            <p:ph type="title"/>
          </p:nvPr>
        </p:nvSpPr>
        <p:spPr>
          <a:xfrm>
            <a:off x="949020" y="369056"/>
            <a:ext cx="11517818" cy="805001"/>
          </a:xfrm>
        </p:spPr>
        <p:txBody>
          <a:bodyPr/>
          <a:lstStyle/>
          <a:p>
            <a:pPr eaLnBrk="1" hangingPunct="1"/>
            <a:r>
              <a:rPr lang="en-GB" dirty="0"/>
              <a:t>The print function</a:t>
            </a:r>
          </a:p>
        </p:txBody>
      </p:sp>
      <p:sp>
        <p:nvSpPr>
          <p:cNvPr id="6148" name="Text Box 4"/>
          <p:cNvSpPr txBox="1">
            <a:spLocks noChangeArrowheads="1"/>
          </p:cNvSpPr>
          <p:nvPr/>
        </p:nvSpPr>
        <p:spPr bwMode="auto">
          <a:xfrm>
            <a:off x="883633" y="2583817"/>
            <a:ext cx="3862387" cy="37623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print(</a:t>
            </a:r>
            <a:r>
              <a:rPr lang="en-GB" sz="1800" i="1" dirty="0"/>
              <a:t>object1</a:t>
            </a:r>
            <a:r>
              <a:rPr lang="en-GB" sz="1800" dirty="0">
                <a:latin typeface="Courier New" panose="02070309020205020404" pitchFamily="49" charset="0"/>
              </a:rPr>
              <a:t>, </a:t>
            </a:r>
            <a:r>
              <a:rPr lang="en-GB" sz="1800" i="1" dirty="0"/>
              <a:t>object2</a:t>
            </a:r>
            <a:r>
              <a:rPr lang="en-GB" sz="1800" dirty="0">
                <a:latin typeface="Courier New" panose="02070309020205020404" pitchFamily="49" charset="0"/>
              </a:rPr>
              <a:t>, … )</a:t>
            </a:r>
          </a:p>
        </p:txBody>
      </p:sp>
      <p:sp>
        <p:nvSpPr>
          <p:cNvPr id="6149" name="Text Box 5"/>
          <p:cNvSpPr txBox="1">
            <a:spLocks noChangeArrowheads="1"/>
          </p:cNvSpPr>
          <p:nvPr/>
        </p:nvSpPr>
        <p:spPr bwMode="auto">
          <a:xfrm>
            <a:off x="920145" y="5205821"/>
            <a:ext cx="7651750"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print("The answer is", 42, "always", </a:t>
            </a:r>
            <a:r>
              <a:rPr lang="en-US" sz="1800" dirty="0" err="1">
                <a:latin typeface="Courier New" panose="02070309020205020404" pitchFamily="49" charset="0"/>
              </a:rPr>
              <a:t>sep</a:t>
            </a:r>
            <a:r>
              <a:rPr lang="en-US" sz="1800" dirty="0">
                <a:latin typeface="Courier New" panose="02070309020205020404" pitchFamily="49" charset="0"/>
              </a:rPr>
              <a:t>=': ', end='')</a:t>
            </a:r>
          </a:p>
          <a:p>
            <a:pPr>
              <a:spcBef>
                <a:spcPct val="0"/>
              </a:spcBef>
            </a:pPr>
            <a:r>
              <a:rPr lang="en-US" sz="1800" dirty="0">
                <a:latin typeface="Courier New" panose="02070309020205020404" pitchFamily="49" charset="0"/>
              </a:rPr>
              <a:t>print("(I think)")</a:t>
            </a:r>
            <a:endParaRPr lang="en-GB" sz="1800" dirty="0">
              <a:latin typeface="Courier New" panose="02070309020205020404" pitchFamily="49" charset="0"/>
            </a:endParaRPr>
          </a:p>
        </p:txBody>
      </p:sp>
      <p:sp>
        <p:nvSpPr>
          <p:cNvPr id="6150" name="Text Box 6"/>
          <p:cNvSpPr txBox="1">
            <a:spLocks noChangeArrowheads="1"/>
          </p:cNvSpPr>
          <p:nvPr/>
        </p:nvSpPr>
        <p:spPr bwMode="auto">
          <a:xfrm>
            <a:off x="5470544" y="5683658"/>
            <a:ext cx="4349750" cy="3460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600" dirty="0">
                <a:latin typeface="Courier New" panose="02070309020205020404" pitchFamily="49" charset="0"/>
              </a:rPr>
              <a:t>The answer is: 42: always(I think)</a:t>
            </a:r>
            <a:endParaRPr lang="en-GB" sz="1600" dirty="0">
              <a:latin typeface="Courier New" panose="02070309020205020404" pitchFamily="49" charset="0"/>
            </a:endParaRPr>
          </a:p>
        </p:txBody>
      </p:sp>
      <p:sp>
        <p:nvSpPr>
          <p:cNvPr id="2" name="Slide Number Placeholder 1">
            <a:extLst>
              <a:ext uri="{FF2B5EF4-FFF2-40B4-BE49-F238E27FC236}">
                <a16:creationId xmlns:a16="http://schemas.microsoft.com/office/drawing/2014/main" id="{3B07EE09-DC39-9DCB-4EF5-5BAA0FB6998A}"/>
              </a:ext>
            </a:extLst>
          </p:cNvPr>
          <p:cNvSpPr>
            <a:spLocks noGrp="1"/>
          </p:cNvSpPr>
          <p:nvPr>
            <p:ph type="sldNum" sz="quarter" idx="4"/>
          </p:nvPr>
        </p:nvSpPr>
        <p:spPr/>
        <p:txBody>
          <a:bodyPr/>
          <a:lstStyle/>
          <a:p>
            <a:fld id="{EF892D59-8F09-EF4B-AD6D-DA609442F868}" type="slidenum">
              <a:rPr lang="en-GB" smtClean="0"/>
              <a:pPr/>
              <a:t>4</a:t>
            </a:fld>
            <a:endParaRPr lang="en-GB" dirty="0"/>
          </a:p>
        </p:txBody>
      </p:sp>
    </p:spTree>
    <p:extLst>
      <p:ext uri="{BB962C8B-B14F-4D97-AF65-F5344CB8AC3E}">
        <p14:creationId xmlns:p14="http://schemas.microsoft.com/office/powerpoint/2010/main" val="1068359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013739" y="363803"/>
            <a:ext cx="11517818" cy="805001"/>
          </a:xfrm>
        </p:spPr>
        <p:txBody>
          <a:bodyPr/>
          <a:lstStyle/>
          <a:p>
            <a:r>
              <a:rPr lang="en-GB" dirty="0"/>
              <a:t>Escaping a character</a:t>
            </a:r>
          </a:p>
        </p:txBody>
      </p:sp>
      <p:sp>
        <p:nvSpPr>
          <p:cNvPr id="7171" name="Rectangle 3"/>
          <p:cNvSpPr>
            <a:spLocks noGrp="1" noChangeArrowheads="1"/>
          </p:cNvSpPr>
          <p:nvPr>
            <p:ph idx="1"/>
          </p:nvPr>
        </p:nvSpPr>
        <p:spPr>
          <a:xfrm>
            <a:off x="636462" y="1199148"/>
            <a:ext cx="11516239" cy="4955354"/>
          </a:xfrm>
        </p:spPr>
        <p:txBody>
          <a:bodyPr/>
          <a:lstStyle/>
          <a:p>
            <a:pPr>
              <a:spcBef>
                <a:spcPts val="600"/>
              </a:spcBef>
            </a:pPr>
            <a:r>
              <a:rPr lang="en-GB" b="1" dirty="0"/>
              <a:t>Adds a meaning to a normal character</a:t>
            </a:r>
          </a:p>
          <a:p>
            <a:pPr marL="457200" lvl="1" indent="-228600">
              <a:spcBef>
                <a:spcPts val="600"/>
              </a:spcBef>
              <a:buFont typeface="Arial" panose="020B0604020202020204" pitchFamily="34" charset="0"/>
              <a:buChar char="•"/>
            </a:pPr>
            <a:r>
              <a:rPr lang="en-GB" sz="1800" dirty="0"/>
              <a:t>\n becomes a new-line</a:t>
            </a:r>
          </a:p>
          <a:p>
            <a:pPr marL="457200" lvl="1" indent="-228600">
              <a:spcBef>
                <a:spcPts val="600"/>
              </a:spcBef>
              <a:buFont typeface="Arial" panose="020B0604020202020204" pitchFamily="34" charset="0"/>
              <a:buChar char="•"/>
            </a:pPr>
            <a:r>
              <a:rPr lang="en-GB" sz="1800" dirty="0"/>
              <a:t>\t becomes a tab</a:t>
            </a:r>
          </a:p>
          <a:p>
            <a:pPr marL="457200" lvl="1" indent="-228600">
              <a:spcBef>
                <a:spcPts val="600"/>
              </a:spcBef>
              <a:buFont typeface="Arial" panose="020B0604020202020204" pitchFamily="34" charset="0"/>
              <a:buChar char="•"/>
            </a:pPr>
            <a:r>
              <a:rPr lang="en-GB" sz="1800" dirty="0"/>
              <a:t>and so on</a:t>
            </a:r>
          </a:p>
          <a:p>
            <a:pPr>
              <a:spcBef>
                <a:spcPts val="600"/>
              </a:spcBef>
            </a:pPr>
            <a:r>
              <a:rPr lang="en-GB" b="1" dirty="0"/>
              <a:t>Removes a meaning from a special character</a:t>
            </a:r>
          </a:p>
          <a:p>
            <a:pPr marL="457200" lvl="1" indent="-228600">
              <a:spcBef>
                <a:spcPts val="600"/>
              </a:spcBef>
              <a:buFont typeface="Arial" panose="020B0604020202020204" pitchFamily="34" charset="0"/>
              <a:buChar char="•"/>
            </a:pPr>
            <a:r>
              <a:rPr lang="en-GB" sz="1800" dirty="0"/>
              <a:t>\\ removes the special meaning of \</a:t>
            </a:r>
          </a:p>
          <a:p>
            <a:pPr marL="457200" lvl="1" indent="-228600">
              <a:spcBef>
                <a:spcPts val="600"/>
              </a:spcBef>
              <a:buFont typeface="Arial" panose="020B0604020202020204" pitchFamily="34" charset="0"/>
              <a:buChar char="•"/>
            </a:pPr>
            <a:r>
              <a:rPr lang="en-GB" sz="1800" dirty="0"/>
              <a:t>\' removes the special meaning of '</a:t>
            </a:r>
          </a:p>
          <a:p>
            <a:pPr marL="457200" lvl="1" indent="-228600">
              <a:spcBef>
                <a:spcPts val="600"/>
              </a:spcBef>
              <a:buFont typeface="Arial" panose="020B0604020202020204" pitchFamily="34" charset="0"/>
              <a:buChar char="•"/>
            </a:pPr>
            <a:r>
              <a:rPr lang="en-GB" sz="1800" dirty="0"/>
              <a:t>\" removes the special meaning of "</a:t>
            </a:r>
          </a:p>
          <a:p>
            <a:pPr>
              <a:spcBef>
                <a:spcPts val="600"/>
              </a:spcBef>
            </a:pPr>
            <a:r>
              <a:rPr lang="en-GB" b="1" dirty="0"/>
              <a:t>Raw strings do not treat \ as a special character</a:t>
            </a:r>
          </a:p>
        </p:txBody>
      </p:sp>
      <p:grpSp>
        <p:nvGrpSpPr>
          <p:cNvPr id="7172" name="Group 8"/>
          <p:cNvGrpSpPr>
            <a:grpSpLocks/>
          </p:cNvGrpSpPr>
          <p:nvPr/>
        </p:nvGrpSpPr>
        <p:grpSpPr bwMode="auto">
          <a:xfrm>
            <a:off x="1313947" y="5355883"/>
            <a:ext cx="6899275" cy="1166813"/>
            <a:chOff x="396" y="3298"/>
            <a:chExt cx="4346" cy="735"/>
          </a:xfrm>
        </p:grpSpPr>
        <p:sp>
          <p:nvSpPr>
            <p:cNvPr id="7173" name="Text Box 4"/>
            <p:cNvSpPr txBox="1">
              <a:spLocks noChangeArrowheads="1"/>
            </p:cNvSpPr>
            <p:nvPr/>
          </p:nvSpPr>
          <p:spPr bwMode="auto">
            <a:xfrm>
              <a:off x="396" y="3298"/>
              <a:ext cx="3546" cy="41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pt-BR" sz="1800" dirty="0">
                  <a:latin typeface="Courier New" panose="02070309020205020404" pitchFamily="49" charset="0"/>
                </a:rPr>
                <a:t>print(  '\r\n \1\2\3')</a:t>
              </a:r>
            </a:p>
            <a:p>
              <a:pPr>
                <a:spcBef>
                  <a:spcPct val="0"/>
                </a:spcBef>
              </a:pPr>
              <a:r>
                <a:rPr lang="pt-BR" sz="1800" dirty="0">
                  <a:latin typeface="Courier New" panose="02070309020205020404" pitchFamily="49" charset="0"/>
                </a:rPr>
                <a:t>print( </a:t>
              </a:r>
              <a:r>
                <a:rPr lang="pt-BR" sz="1800" b="1" dirty="0">
                  <a:latin typeface="Courier New" panose="02070309020205020404" pitchFamily="49" charset="0"/>
                </a:rPr>
                <a:t>r</a:t>
              </a:r>
              <a:r>
                <a:rPr lang="pt-BR" sz="1800" dirty="0">
                  <a:latin typeface="Courier New" panose="02070309020205020404" pitchFamily="49" charset="0"/>
                </a:rPr>
                <a:t>'\r\n \1\2\3')</a:t>
              </a:r>
            </a:p>
          </p:txBody>
        </p:sp>
        <p:sp>
          <p:nvSpPr>
            <p:cNvPr id="7174" name="Text Box 5"/>
            <p:cNvSpPr txBox="1">
              <a:spLocks noChangeArrowheads="1"/>
            </p:cNvSpPr>
            <p:nvPr/>
          </p:nvSpPr>
          <p:spPr bwMode="auto">
            <a:xfrm>
              <a:off x="2651" y="3450"/>
              <a:ext cx="2091" cy="583"/>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 ☺☻♥</a:t>
              </a:r>
            </a:p>
            <a:p>
              <a:pPr>
                <a:spcBef>
                  <a:spcPct val="0"/>
                </a:spcBef>
              </a:pPr>
              <a:r>
                <a:rPr lang="en-GB" sz="1800" dirty="0">
                  <a:latin typeface="Courier New" panose="02070309020205020404" pitchFamily="49" charset="0"/>
                </a:rPr>
                <a:t>\r\n \1\2\3</a:t>
              </a:r>
            </a:p>
          </p:txBody>
        </p:sp>
        <p:sp>
          <p:nvSpPr>
            <p:cNvPr id="7175" name="Line 6"/>
            <p:cNvSpPr>
              <a:spLocks noChangeShapeType="1"/>
            </p:cNvSpPr>
            <p:nvPr/>
          </p:nvSpPr>
          <p:spPr bwMode="auto">
            <a:xfrm>
              <a:off x="2261" y="3438"/>
              <a:ext cx="331" cy="183"/>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en-GB"/>
            </a:p>
          </p:txBody>
        </p:sp>
        <p:sp>
          <p:nvSpPr>
            <p:cNvPr id="7176" name="Line 7"/>
            <p:cNvSpPr>
              <a:spLocks noChangeShapeType="1"/>
            </p:cNvSpPr>
            <p:nvPr/>
          </p:nvSpPr>
          <p:spPr bwMode="auto">
            <a:xfrm>
              <a:off x="2148" y="3656"/>
              <a:ext cx="466" cy="269"/>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en-GB"/>
            </a:p>
          </p:txBody>
        </p:sp>
      </p:grpSp>
      <p:sp>
        <p:nvSpPr>
          <p:cNvPr id="2" name="Slide Number Placeholder 1">
            <a:extLst>
              <a:ext uri="{FF2B5EF4-FFF2-40B4-BE49-F238E27FC236}">
                <a16:creationId xmlns:a16="http://schemas.microsoft.com/office/drawing/2014/main" id="{2096BBB5-2CE1-B1DB-32E4-6B5CC74518F2}"/>
              </a:ext>
            </a:extLst>
          </p:cNvPr>
          <p:cNvSpPr>
            <a:spLocks noGrp="1"/>
          </p:cNvSpPr>
          <p:nvPr>
            <p:ph type="sldNum" sz="quarter" idx="4"/>
          </p:nvPr>
        </p:nvSpPr>
        <p:spPr/>
        <p:txBody>
          <a:bodyPr/>
          <a:lstStyle/>
          <a:p>
            <a:fld id="{EF892D59-8F09-EF4B-AD6D-DA609442F868}" type="slidenum">
              <a:rPr lang="en-GB" smtClean="0"/>
              <a:pPr/>
              <a:t>5</a:t>
            </a:fld>
            <a:endParaRPr lang="en-GB" dirty="0"/>
          </a:p>
        </p:txBody>
      </p:sp>
    </p:spTree>
    <p:extLst>
      <p:ext uri="{BB962C8B-B14F-4D97-AF65-F5344CB8AC3E}">
        <p14:creationId xmlns:p14="http://schemas.microsoft.com/office/powerpoint/2010/main" val="783079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32990" y="280498"/>
            <a:ext cx="11517818" cy="805001"/>
          </a:xfrm>
        </p:spPr>
        <p:txBody>
          <a:bodyPr/>
          <a:lstStyle/>
          <a:p>
            <a:pPr eaLnBrk="1" hangingPunct="1"/>
            <a:r>
              <a:rPr lang="en-GB" dirty="0"/>
              <a:t>String concatenation</a:t>
            </a:r>
          </a:p>
        </p:txBody>
      </p:sp>
      <p:sp>
        <p:nvSpPr>
          <p:cNvPr id="8195" name="Rectangle 3"/>
          <p:cNvSpPr>
            <a:spLocks noGrp="1" noChangeArrowheads="1"/>
          </p:cNvSpPr>
          <p:nvPr>
            <p:ph idx="1"/>
          </p:nvPr>
        </p:nvSpPr>
        <p:spPr>
          <a:xfrm>
            <a:off x="437525" y="1096593"/>
            <a:ext cx="11516239" cy="4955354"/>
          </a:xfrm>
        </p:spPr>
        <p:txBody>
          <a:bodyPr>
            <a:normAutofit/>
          </a:bodyPr>
          <a:lstStyle/>
          <a:p>
            <a:pPr marL="450850" indent="-269875">
              <a:spcBef>
                <a:spcPts val="600"/>
              </a:spcBef>
              <a:buFont typeface="Arial" panose="020B0604020202020204" pitchFamily="34" charset="0"/>
              <a:buChar char="•"/>
            </a:pPr>
            <a:r>
              <a:rPr lang="en-GB" sz="1800" dirty="0"/>
              <a:t>Adjacent literals are concatenated.</a:t>
            </a:r>
          </a:p>
          <a:p>
            <a:pPr marL="450850" lvl="2" indent="-269875">
              <a:spcBef>
                <a:spcPts val="600"/>
              </a:spcBef>
              <a:buFont typeface="Arial" panose="020B0604020202020204" pitchFamily="34" charset="0"/>
              <a:buChar char="•"/>
            </a:pPr>
            <a:endParaRPr lang="en-GB" dirty="0"/>
          </a:p>
          <a:p>
            <a:pPr marL="450850" lvl="2" indent="-269875">
              <a:spcBef>
                <a:spcPts val="600"/>
              </a:spcBef>
              <a:buFont typeface="Arial" panose="020B0604020202020204" pitchFamily="34" charset="0"/>
              <a:buChar char="•"/>
            </a:pPr>
            <a:endParaRPr lang="en-GB" dirty="0"/>
          </a:p>
          <a:p>
            <a:pPr marL="450850" lvl="1" indent="-269875">
              <a:spcBef>
                <a:spcPts val="600"/>
              </a:spcBef>
              <a:buFont typeface="Arial" panose="020B0604020202020204" pitchFamily="34" charset="0"/>
              <a:buChar char="•"/>
            </a:pPr>
            <a:endParaRPr lang="en-GB" dirty="0"/>
          </a:p>
          <a:p>
            <a:pPr marL="450850" indent="-269875">
              <a:spcBef>
                <a:spcPts val="600"/>
              </a:spcBef>
              <a:buFont typeface="Arial" panose="020B0604020202020204" pitchFamily="34" charset="0"/>
              <a:buChar char="•"/>
            </a:pPr>
            <a:endParaRPr lang="en-GB" sz="700" dirty="0"/>
          </a:p>
          <a:p>
            <a:pPr marL="450850" indent="-269875">
              <a:spcBef>
                <a:spcPts val="600"/>
              </a:spcBef>
              <a:buFont typeface="Arial" panose="020B0604020202020204" pitchFamily="34" charset="0"/>
              <a:buChar char="•"/>
            </a:pPr>
            <a:r>
              <a:rPr lang="en-GB" sz="1800" dirty="0"/>
              <a:t>But that does not work with variables.</a:t>
            </a:r>
          </a:p>
          <a:p>
            <a:pPr marL="450850" indent="-269875">
              <a:spcBef>
                <a:spcPts val="600"/>
              </a:spcBef>
              <a:buFont typeface="Arial" panose="020B0604020202020204" pitchFamily="34" charset="0"/>
              <a:buChar char="•"/>
            </a:pPr>
            <a:r>
              <a:rPr lang="en-GB" sz="1800" dirty="0"/>
              <a:t>Use the overloaded + operator instead.</a:t>
            </a:r>
          </a:p>
          <a:p>
            <a:pPr>
              <a:spcBef>
                <a:spcPts val="600"/>
              </a:spcBef>
            </a:pPr>
            <a:endParaRPr lang="en-GB" dirty="0"/>
          </a:p>
          <a:p>
            <a:pPr>
              <a:spcBef>
                <a:spcPts val="600"/>
              </a:spcBef>
            </a:pPr>
            <a:endParaRPr lang="en-GB" sz="100" dirty="0"/>
          </a:p>
          <a:p>
            <a:pPr marL="450850" indent="-269875">
              <a:spcBef>
                <a:spcPts val="600"/>
              </a:spcBef>
              <a:buFont typeface="Arial" panose="020B0604020202020204" pitchFamily="34" charset="0"/>
              <a:buChar char="•"/>
            </a:pPr>
            <a:r>
              <a:rPr lang="en-GB" sz="1800" dirty="0"/>
              <a:t>But remember that strings are </a:t>
            </a:r>
            <a:r>
              <a:rPr lang="en-GB" sz="1800" dirty="0">
                <a:solidFill>
                  <a:srgbClr val="FF0000"/>
                </a:solidFill>
              </a:rPr>
              <a:t>immutable.</a:t>
            </a:r>
          </a:p>
        </p:txBody>
      </p:sp>
      <p:sp>
        <p:nvSpPr>
          <p:cNvPr id="8197" name="Text Box 6"/>
          <p:cNvSpPr txBox="1">
            <a:spLocks noChangeArrowheads="1"/>
          </p:cNvSpPr>
          <p:nvPr/>
        </p:nvSpPr>
        <p:spPr bwMode="auto">
          <a:xfrm>
            <a:off x="831768" y="4062954"/>
            <a:ext cx="4828291" cy="40011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&gt;&gt;&gt; </a:t>
            </a:r>
            <a:r>
              <a:rPr lang="en-GB" sz="1800" b="1" dirty="0">
                <a:latin typeface="Courier New" panose="02070309020205020404" pitchFamily="49" charset="0"/>
              </a:rPr>
              <a:t>name = first </a:t>
            </a:r>
            <a:r>
              <a:rPr lang="en-GB" sz="2000" b="1" dirty="0">
                <a:latin typeface="Courier New" panose="02070309020205020404" pitchFamily="49" charset="0"/>
              </a:rPr>
              <a:t>+</a:t>
            </a:r>
            <a:r>
              <a:rPr lang="en-GB" sz="1800" b="1" dirty="0">
                <a:latin typeface="Courier New" panose="02070309020205020404" pitchFamily="49" charset="0"/>
              </a:rPr>
              <a:t> '</a:t>
            </a:r>
            <a:r>
              <a:rPr lang="en-GB" sz="1800" b="1" dirty="0" err="1">
                <a:latin typeface="Courier New" panose="02070309020205020404" pitchFamily="49" charset="0"/>
              </a:rPr>
              <a:t>bloggs</a:t>
            </a:r>
            <a:r>
              <a:rPr lang="en-GB" sz="1800" b="1" dirty="0">
                <a:latin typeface="Courier New" panose="02070309020205020404" pitchFamily="49" charset="0"/>
              </a:rPr>
              <a:t>'</a:t>
            </a:r>
          </a:p>
        </p:txBody>
      </p:sp>
      <p:grpSp>
        <p:nvGrpSpPr>
          <p:cNvPr id="8198" name="Group 9"/>
          <p:cNvGrpSpPr>
            <a:grpSpLocks/>
          </p:cNvGrpSpPr>
          <p:nvPr/>
        </p:nvGrpSpPr>
        <p:grpSpPr bwMode="auto">
          <a:xfrm>
            <a:off x="845804" y="1481543"/>
            <a:ext cx="6074074" cy="1487279"/>
            <a:chOff x="708" y="956"/>
            <a:chExt cx="4568" cy="929"/>
          </a:xfrm>
          <a:solidFill>
            <a:schemeClr val="tx2">
              <a:lumMod val="20000"/>
              <a:lumOff val="80000"/>
            </a:schemeClr>
          </a:solidFill>
          <a:effectLst>
            <a:outerShdw blurRad="50800" dist="38100" dir="2700000" algn="tl" rotWithShape="0">
              <a:prstClr val="black">
                <a:alpha val="40000"/>
              </a:prstClr>
            </a:outerShdw>
          </a:effectLst>
        </p:grpSpPr>
        <p:sp>
          <p:nvSpPr>
            <p:cNvPr id="8199" name="Text Box 5"/>
            <p:cNvSpPr txBox="1">
              <a:spLocks noChangeArrowheads="1"/>
            </p:cNvSpPr>
            <p:nvPr/>
          </p:nvSpPr>
          <p:spPr bwMode="auto">
            <a:xfrm>
              <a:off x="708" y="956"/>
              <a:ext cx="3610" cy="929"/>
            </a:xfrm>
            <a:prstGeom prst="rect">
              <a:avLst/>
            </a:prstGeom>
            <a:grpFill/>
            <a:ln w="9525">
              <a:solidFill>
                <a:schemeClr val="tx1"/>
              </a:solidFill>
              <a:miter lim="800000"/>
              <a:headEnd/>
              <a:tailEnd/>
            </a:ln>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&gt;&gt;&gt; </a:t>
              </a:r>
              <a:r>
                <a:rPr lang="en-US" sz="1800" b="1" dirty="0">
                  <a:latin typeface="Courier New" panose="02070309020205020404" pitchFamily="49" charset="0"/>
                </a:rPr>
                <a:t>name = '</a:t>
              </a:r>
              <a:r>
                <a:rPr lang="en-US" sz="1800" b="1" dirty="0" err="1">
                  <a:latin typeface="Courier New" panose="02070309020205020404" pitchFamily="49" charset="0"/>
                </a:rPr>
                <a:t>fred</a:t>
              </a:r>
              <a:r>
                <a:rPr lang="en-US" sz="1800" b="1" dirty="0">
                  <a:latin typeface="Courier New" panose="02070309020205020404" pitchFamily="49" charset="0"/>
                </a:rPr>
                <a:t>' '</a:t>
              </a:r>
              <a:r>
                <a:rPr lang="en-US" sz="1800" b="1" dirty="0" err="1">
                  <a:latin typeface="Courier New" panose="02070309020205020404" pitchFamily="49" charset="0"/>
                </a:rPr>
                <a:t>bloggs</a:t>
              </a:r>
              <a:r>
                <a:rPr lang="en-US" sz="1800" b="1" dirty="0">
                  <a:latin typeface="Courier New" panose="02070309020205020404" pitchFamily="49" charset="0"/>
                </a:rPr>
                <a:t>'</a:t>
              </a:r>
            </a:p>
            <a:p>
              <a:pPr>
                <a:spcBef>
                  <a:spcPct val="0"/>
                </a:spcBef>
              </a:pPr>
              <a:r>
                <a:rPr lang="en-US" sz="1800" dirty="0">
                  <a:latin typeface="Courier New" panose="02070309020205020404" pitchFamily="49" charset="0"/>
                </a:rPr>
                <a:t>&gt;&gt;&gt; </a:t>
              </a:r>
              <a:r>
                <a:rPr lang="en-US" sz="1800" b="1" dirty="0">
                  <a:latin typeface="Courier New" panose="02070309020205020404" pitchFamily="49" charset="0"/>
                </a:rPr>
                <a:t>name</a:t>
              </a:r>
            </a:p>
            <a:p>
              <a:pPr>
                <a:spcBef>
                  <a:spcPct val="0"/>
                </a:spcBef>
              </a:pPr>
              <a:r>
                <a:rPr lang="en-US" sz="1800" dirty="0">
                  <a:latin typeface="Courier New" panose="02070309020205020404" pitchFamily="49" charset="0"/>
                </a:rPr>
                <a:t>'</a:t>
              </a:r>
              <a:r>
                <a:rPr lang="en-US" sz="1800" dirty="0" err="1">
                  <a:latin typeface="Courier New" panose="02070309020205020404" pitchFamily="49" charset="0"/>
                </a:rPr>
                <a:t>fredbloggs</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&gt;&gt;&gt; </a:t>
              </a:r>
              <a:r>
                <a:rPr lang="en-US" sz="1800" b="1" dirty="0">
                  <a:latin typeface="Courier New" panose="02070309020205020404" pitchFamily="49" charset="0"/>
                </a:rPr>
                <a:t>name = '</a:t>
              </a:r>
              <a:r>
                <a:rPr lang="en-US" sz="1800" b="1" dirty="0" err="1">
                  <a:latin typeface="Courier New" panose="02070309020205020404" pitchFamily="49" charset="0"/>
                </a:rPr>
                <a:t>fred</a:t>
              </a:r>
              <a:r>
                <a:rPr lang="en-US" sz="1800" b="1" dirty="0">
                  <a:latin typeface="Courier New" panose="02070309020205020404" pitchFamily="49" charset="0"/>
                </a:rPr>
                <a:t>' \</a:t>
              </a:r>
            </a:p>
            <a:p>
              <a:pPr>
                <a:spcBef>
                  <a:spcPct val="0"/>
                </a:spcBef>
              </a:pPr>
              <a:r>
                <a:rPr lang="en-US" sz="1800" dirty="0">
                  <a:latin typeface="Courier New" panose="02070309020205020404" pitchFamily="49" charset="0"/>
                </a:rPr>
                <a:t>... </a:t>
              </a:r>
              <a:r>
                <a:rPr lang="en-US" sz="1800" b="1" dirty="0">
                  <a:latin typeface="Courier New" panose="02070309020205020404" pitchFamily="49" charset="0"/>
                </a:rPr>
                <a:t>'</a:t>
              </a:r>
              <a:r>
                <a:rPr lang="en-US" sz="1800" b="1" dirty="0" err="1">
                  <a:latin typeface="Courier New" panose="02070309020205020404" pitchFamily="49" charset="0"/>
                </a:rPr>
                <a:t>bloggs</a:t>
              </a:r>
              <a:r>
                <a:rPr lang="en-US" sz="1800" b="1" dirty="0">
                  <a:latin typeface="Courier New" panose="02070309020205020404" pitchFamily="49" charset="0"/>
                </a:rPr>
                <a:t>'</a:t>
              </a:r>
              <a:endParaRPr lang="en-GB" sz="1800" b="1" dirty="0">
                <a:latin typeface="Courier New" panose="02070309020205020404" pitchFamily="49" charset="0"/>
              </a:endParaRPr>
            </a:p>
          </p:txBody>
        </p:sp>
        <p:sp>
          <p:nvSpPr>
            <p:cNvPr id="8200" name="Text Box 7"/>
            <p:cNvSpPr txBox="1">
              <a:spLocks noChangeArrowheads="1"/>
            </p:cNvSpPr>
            <p:nvPr/>
          </p:nvSpPr>
          <p:spPr bwMode="auto">
            <a:xfrm>
              <a:off x="4024" y="1489"/>
              <a:ext cx="1252" cy="211"/>
            </a:xfrm>
            <a:prstGeom prst="rect">
              <a:avLst/>
            </a:prstGeom>
            <a:solidFill>
              <a:schemeClr val="bg1"/>
            </a:solidFill>
            <a:ln w="9525">
              <a:solidFill>
                <a:schemeClr val="tx1"/>
              </a:solidFill>
              <a:miter lim="800000"/>
              <a:headEnd/>
              <a:tailEnd/>
            </a:ln>
          </p:spPr>
          <p:txBody>
            <a:bodyPr wrap="non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latin typeface="Arial"/>
                  <a:cs typeface="Arial"/>
                </a:rPr>
                <a:t>line continuation</a:t>
              </a:r>
            </a:p>
          </p:txBody>
        </p:sp>
        <p:sp>
          <p:nvSpPr>
            <p:cNvPr id="8201" name="Line 8"/>
            <p:cNvSpPr>
              <a:spLocks noChangeShapeType="1"/>
            </p:cNvSpPr>
            <p:nvPr/>
          </p:nvSpPr>
          <p:spPr bwMode="auto">
            <a:xfrm flipH="1">
              <a:off x="2821" y="1607"/>
              <a:ext cx="1188" cy="0"/>
            </a:xfrm>
            <a:prstGeom prst="line">
              <a:avLst/>
            </a:prstGeom>
            <a:grpFill/>
            <a:ln w="9525">
              <a:solidFill>
                <a:schemeClr val="tx1"/>
              </a:solidFill>
              <a:round/>
              <a:headEnd/>
              <a:tailEnd type="triangle" w="med" len="med"/>
            </a:ln>
          </p:spPr>
          <p:txBody>
            <a:bodyPr>
              <a:spAutoFit/>
            </a:bodyPr>
            <a:lstStyle/>
            <a:p>
              <a:endParaRPr lang="en-GB" u="sng"/>
            </a:p>
          </p:txBody>
        </p:sp>
      </p:grpSp>
      <p:sp>
        <p:nvSpPr>
          <p:cNvPr id="2" name="TextBox 1"/>
          <p:cNvSpPr txBox="1"/>
          <p:nvPr/>
        </p:nvSpPr>
        <p:spPr>
          <a:xfrm>
            <a:off x="842514" y="5144651"/>
            <a:ext cx="4818974" cy="923330"/>
          </a:xfrm>
          <a:prstGeom prst="rect">
            <a:avLst/>
          </a:prstGeom>
          <a:solidFill>
            <a:schemeClr val="tx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r>
              <a:rPr lang="en-GB" dirty="0">
                <a:latin typeface="Courier New" pitchFamily="49" charset="0"/>
                <a:cs typeface="Courier New" pitchFamily="49" charset="0"/>
              </a:rPr>
              <a:t>s = ""</a:t>
            </a:r>
          </a:p>
          <a:p>
            <a:r>
              <a:rPr lang="en-GB" dirty="0">
                <a:latin typeface="Courier New" pitchFamily="49" charset="0"/>
                <a:cs typeface="Courier New" pitchFamily="49" charset="0"/>
              </a:rPr>
              <a:t>for item in </a:t>
            </a:r>
            <a:r>
              <a:rPr lang="en-GB" dirty="0" err="1">
                <a:latin typeface="Courier New" pitchFamily="49" charset="0"/>
                <a:cs typeface="Courier New" pitchFamily="49" charset="0"/>
              </a:rPr>
              <a:t>alist</a:t>
            </a:r>
            <a:r>
              <a:rPr lang="en-GB" dirty="0">
                <a:latin typeface="Courier New" pitchFamily="49" charset="0"/>
                <a:cs typeface="Courier New" pitchFamily="49" charset="0"/>
              </a:rPr>
              <a:t>:</a:t>
            </a:r>
          </a:p>
          <a:p>
            <a:r>
              <a:rPr lang="en-GB" dirty="0">
                <a:latin typeface="Courier New" pitchFamily="49" charset="0"/>
                <a:cs typeface="Courier New" pitchFamily="49" charset="0"/>
              </a:rPr>
              <a:t>    s = s </a:t>
            </a:r>
            <a:r>
              <a:rPr lang="en-GB" dirty="0">
                <a:solidFill>
                  <a:srgbClr val="FF0000"/>
                </a:solidFill>
                <a:latin typeface="Courier New" pitchFamily="49" charset="0"/>
                <a:cs typeface="Courier New" pitchFamily="49" charset="0"/>
              </a:rPr>
              <a:t>+</a:t>
            </a:r>
            <a:r>
              <a:rPr lang="en-GB" dirty="0">
                <a:latin typeface="Courier New" pitchFamily="49" charset="0"/>
                <a:cs typeface="Courier New" pitchFamily="49" charset="0"/>
              </a:rPr>
              <a:t> </a:t>
            </a:r>
            <a:r>
              <a:rPr lang="en-GB" dirty="0" err="1">
                <a:latin typeface="Courier New" pitchFamily="49" charset="0"/>
                <a:cs typeface="Courier New" pitchFamily="49" charset="0"/>
              </a:rPr>
              <a:t>str</a:t>
            </a:r>
            <a:r>
              <a:rPr lang="en-GB" dirty="0">
                <a:latin typeface="Courier New" pitchFamily="49" charset="0"/>
                <a:cs typeface="Courier New" pitchFamily="49" charset="0"/>
              </a:rPr>
              <a:t>(item) </a:t>
            </a:r>
            <a:r>
              <a:rPr lang="en-GB" dirty="0">
                <a:solidFill>
                  <a:srgbClr val="FF0000"/>
                </a:solidFill>
                <a:latin typeface="Courier New" pitchFamily="49" charset="0"/>
                <a:cs typeface="Courier New" pitchFamily="49" charset="0"/>
              </a:rPr>
              <a:t>+</a:t>
            </a:r>
            <a:r>
              <a:rPr lang="en-GB" dirty="0">
                <a:latin typeface="Courier New" pitchFamily="49" charset="0"/>
                <a:cs typeface="Courier New" pitchFamily="49" charset="0"/>
              </a:rPr>
              <a:t> " "</a:t>
            </a:r>
          </a:p>
        </p:txBody>
      </p:sp>
      <p:sp>
        <p:nvSpPr>
          <p:cNvPr id="4" name="TextBox 3"/>
          <p:cNvSpPr txBox="1"/>
          <p:nvPr/>
        </p:nvSpPr>
        <p:spPr>
          <a:xfrm>
            <a:off x="6404627" y="5381284"/>
            <a:ext cx="2501209" cy="707886"/>
          </a:xfrm>
          <a:prstGeom prst="rect">
            <a:avLst/>
          </a:prstGeom>
          <a:noFill/>
        </p:spPr>
        <p:txBody>
          <a:bodyPr wrap="square" rtlCol="0">
            <a:spAutoFit/>
          </a:bodyPr>
          <a:lstStyle/>
          <a:p>
            <a:r>
              <a:rPr lang="en-GB" sz="2000" dirty="0">
                <a:cs typeface="Courier New" pitchFamily="49" charset="0"/>
              </a:rPr>
              <a:t>Very inefficient code</a:t>
            </a:r>
          </a:p>
        </p:txBody>
      </p:sp>
      <p:pic>
        <p:nvPicPr>
          <p:cNvPr id="6" name="Graphic 5" descr="Stopwatch 33%">
            <a:extLst>
              <a:ext uri="{FF2B5EF4-FFF2-40B4-BE49-F238E27FC236}">
                <a16:creationId xmlns:a16="http://schemas.microsoft.com/office/drawing/2014/main" id="{EC34AE2C-1BFE-4E85-A9E6-4E5C8BA913F1}"/>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14194" y="5309223"/>
            <a:ext cx="758758" cy="758758"/>
          </a:xfrm>
          <a:prstGeom prst="rect">
            <a:avLst/>
          </a:prstGeom>
        </p:spPr>
      </p:pic>
      <p:sp>
        <p:nvSpPr>
          <p:cNvPr id="7" name="TextBox 6">
            <a:extLst>
              <a:ext uri="{FF2B5EF4-FFF2-40B4-BE49-F238E27FC236}">
                <a16:creationId xmlns:a16="http://schemas.microsoft.com/office/drawing/2014/main" id="{17AB9778-A16E-4B53-A1D3-5496B223BC91}"/>
              </a:ext>
            </a:extLst>
          </p:cNvPr>
          <p:cNvSpPr txBox="1"/>
          <p:nvPr/>
        </p:nvSpPr>
        <p:spPr>
          <a:xfrm>
            <a:off x="2438423" y="6110358"/>
            <a:ext cx="3451844" cy="307777"/>
          </a:xfrm>
          <a:prstGeom prst="rect">
            <a:avLst/>
          </a:prstGeom>
          <a:noFill/>
        </p:spPr>
        <p:txBody>
          <a:bodyPr wrap="square" rtlCol="0">
            <a:spAutoFit/>
          </a:bodyPr>
          <a:lstStyle/>
          <a:p>
            <a:r>
              <a:rPr lang="en-GB" sz="1400" dirty="0">
                <a:latin typeface="Courier New" pitchFamily="49" charset="0"/>
                <a:cs typeface="Courier New" pitchFamily="49" charset="0"/>
              </a:rPr>
              <a:t>Use join() str method instead</a:t>
            </a:r>
          </a:p>
        </p:txBody>
      </p:sp>
      <p:sp>
        <p:nvSpPr>
          <p:cNvPr id="3" name="Slide Number Placeholder 2">
            <a:extLst>
              <a:ext uri="{FF2B5EF4-FFF2-40B4-BE49-F238E27FC236}">
                <a16:creationId xmlns:a16="http://schemas.microsoft.com/office/drawing/2014/main" id="{E1E4F5FA-F841-4E75-37D2-D007AEC4B18E}"/>
              </a:ext>
            </a:extLst>
          </p:cNvPr>
          <p:cNvSpPr>
            <a:spLocks noGrp="1"/>
          </p:cNvSpPr>
          <p:nvPr>
            <p:ph type="sldNum" sz="quarter" idx="4"/>
          </p:nvPr>
        </p:nvSpPr>
        <p:spPr/>
        <p:txBody>
          <a:bodyPr/>
          <a:lstStyle/>
          <a:p>
            <a:fld id="{EF892D59-8F09-EF4B-AD6D-DA609442F868}" type="slidenum">
              <a:rPr lang="en-GB" smtClean="0"/>
              <a:pPr/>
              <a:t>6</a:t>
            </a:fld>
            <a:endParaRPr lang="en-GB" dirty="0"/>
          </a:p>
        </p:txBody>
      </p:sp>
    </p:spTree>
    <p:extLst>
      <p:ext uri="{BB962C8B-B14F-4D97-AF65-F5344CB8AC3E}">
        <p14:creationId xmlns:p14="http://schemas.microsoft.com/office/powerpoint/2010/main" val="1253758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36738" y="281454"/>
            <a:ext cx="11517818" cy="805001"/>
          </a:xfrm>
        </p:spPr>
        <p:txBody>
          <a:bodyPr/>
          <a:lstStyle/>
          <a:p>
            <a:pPr eaLnBrk="1" hangingPunct="1"/>
            <a:r>
              <a:rPr lang="en-GB" dirty="0"/>
              <a:t>"Quotes"</a:t>
            </a:r>
          </a:p>
        </p:txBody>
      </p:sp>
      <p:sp>
        <p:nvSpPr>
          <p:cNvPr id="9219" name="Rectangle 3"/>
          <p:cNvSpPr>
            <a:spLocks noGrp="1" noChangeArrowheads="1"/>
          </p:cNvSpPr>
          <p:nvPr>
            <p:ph idx="1"/>
          </p:nvPr>
        </p:nvSpPr>
        <p:spPr/>
        <p:txBody>
          <a:bodyPr/>
          <a:lstStyle/>
          <a:p>
            <a:r>
              <a:rPr lang="en-GB" b="1" dirty="0"/>
              <a:t>Single and double quotes have the same effect</a:t>
            </a:r>
          </a:p>
          <a:p>
            <a:pPr marL="457200" lvl="1" indent="-228600">
              <a:buFont typeface="Arial" panose="020B0604020202020204" pitchFamily="34" charset="0"/>
              <a:buChar char="•"/>
            </a:pPr>
            <a:r>
              <a:rPr lang="en-GB" sz="1800" dirty="0">
                <a:latin typeface="Montserrat"/>
              </a:rPr>
              <a:t>Use " when you have embedded ', and vice versa.</a:t>
            </a:r>
          </a:p>
          <a:p>
            <a:endParaRPr lang="en-GB" b="1" dirty="0">
              <a:latin typeface="Montserrat"/>
            </a:endParaRPr>
          </a:p>
          <a:p>
            <a:endParaRPr lang="en-GB" b="1" dirty="0">
              <a:latin typeface="Montserrat"/>
            </a:endParaRPr>
          </a:p>
          <a:p>
            <a:r>
              <a:rPr lang="en-GB" b="1" dirty="0">
                <a:latin typeface="Montserrat"/>
              </a:rPr>
              <a:t>With embedded quotes or new-lines, use triple quotes</a:t>
            </a:r>
            <a:endParaRPr lang="en-GB" dirty="0"/>
          </a:p>
        </p:txBody>
      </p:sp>
      <p:sp>
        <p:nvSpPr>
          <p:cNvPr id="9224" name="Text Box 4"/>
          <p:cNvSpPr txBox="1">
            <a:spLocks noChangeArrowheads="1"/>
          </p:cNvSpPr>
          <p:nvPr/>
        </p:nvSpPr>
        <p:spPr bwMode="auto">
          <a:xfrm>
            <a:off x="802728" y="2170651"/>
            <a:ext cx="3094037" cy="3762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print('hello\</a:t>
            </a:r>
            <a:r>
              <a:rPr lang="en-GB" sz="1800" dirty="0" err="1">
                <a:latin typeface="Courier New" panose="02070309020205020404" pitchFamily="49" charset="0"/>
              </a:rPr>
              <a:t>nworld</a:t>
            </a:r>
            <a:r>
              <a:rPr lang="en-GB" sz="1800" dirty="0">
                <a:latin typeface="Courier New" panose="02070309020205020404" pitchFamily="49" charset="0"/>
              </a:rPr>
              <a:t>')</a:t>
            </a:r>
          </a:p>
        </p:txBody>
      </p:sp>
      <p:sp>
        <p:nvSpPr>
          <p:cNvPr id="9225" name="Text Box 5"/>
          <p:cNvSpPr txBox="1">
            <a:spLocks noChangeArrowheads="1"/>
          </p:cNvSpPr>
          <p:nvPr/>
        </p:nvSpPr>
        <p:spPr bwMode="auto">
          <a:xfrm>
            <a:off x="4930228" y="2192876"/>
            <a:ext cx="3094037" cy="3762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print("hello\</a:t>
            </a:r>
            <a:r>
              <a:rPr lang="en-GB" sz="1800" dirty="0" err="1">
                <a:latin typeface="Courier New" panose="02070309020205020404" pitchFamily="49" charset="0"/>
              </a:rPr>
              <a:t>nworld</a:t>
            </a:r>
            <a:r>
              <a:rPr lang="en-GB" sz="1800" dirty="0">
                <a:latin typeface="Courier New" panose="02070309020205020404" pitchFamily="49" charset="0"/>
              </a:rPr>
              <a:t>")</a:t>
            </a:r>
          </a:p>
        </p:txBody>
      </p:sp>
      <p:sp>
        <p:nvSpPr>
          <p:cNvPr id="9226" name="Rectangle 6"/>
          <p:cNvSpPr>
            <a:spLocks noChangeArrowheads="1"/>
          </p:cNvSpPr>
          <p:nvPr/>
        </p:nvSpPr>
        <p:spPr bwMode="auto">
          <a:xfrm>
            <a:off x="4198390" y="2134138"/>
            <a:ext cx="584200" cy="461963"/>
          </a:xfrm>
          <a:prstGeom prst="rect">
            <a:avLst/>
          </a:prstGeom>
          <a:solidFill>
            <a:srgbClr val="FFFFFF"/>
          </a:solidFill>
          <a:ln>
            <a:noFill/>
          </a:ln>
          <a:effectLst/>
          <a:extLs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a:spcBef>
                <a:spcPct val="0"/>
              </a:spcBef>
            </a:pPr>
            <a:r>
              <a:rPr lang="en-GB" sz="2400" b="1" dirty="0"/>
              <a:t>⇔ </a:t>
            </a:r>
          </a:p>
        </p:txBody>
      </p:sp>
      <p:sp>
        <p:nvSpPr>
          <p:cNvPr id="9221" name="Text Box 7"/>
          <p:cNvSpPr txBox="1">
            <a:spLocks noChangeArrowheads="1"/>
          </p:cNvSpPr>
          <p:nvPr/>
        </p:nvSpPr>
        <p:spPr bwMode="auto">
          <a:xfrm>
            <a:off x="798748" y="3362154"/>
            <a:ext cx="8469313" cy="16287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t> </a:t>
            </a:r>
            <a:r>
              <a:rPr lang="en-GB" sz="1600" dirty="0">
                <a:latin typeface="Courier New" panose="02070309020205020404" pitchFamily="49" charset="0"/>
              </a:rPr>
              <a:t>&gt;&gt;&gt; html = </a:t>
            </a:r>
            <a:r>
              <a:rPr lang="en-GB" sz="1800" b="1" dirty="0">
                <a:latin typeface="Courier New" panose="02070309020205020404" pitchFamily="49" charset="0"/>
              </a:rPr>
              <a:t>"""</a:t>
            </a:r>
          </a:p>
          <a:p>
            <a:pPr>
              <a:spcBef>
                <a:spcPct val="0"/>
              </a:spcBef>
            </a:pPr>
            <a:r>
              <a:rPr lang="en-GB" sz="1600" dirty="0">
                <a:latin typeface="Courier New" panose="02070309020205020404" pitchFamily="49" charset="0"/>
              </a:rPr>
              <a:t>&lt;</a:t>
            </a:r>
            <a:r>
              <a:rPr lang="en-GB" sz="1600" dirty="0" err="1">
                <a:latin typeface="Courier New" panose="02070309020205020404" pitchFamily="49" charset="0"/>
              </a:rPr>
              <a:t>tr</a:t>
            </a:r>
            <a:r>
              <a:rPr lang="en-GB" sz="1600" dirty="0">
                <a:latin typeface="Courier New" panose="02070309020205020404" pitchFamily="49" charset="0"/>
              </a:rPr>
              <a:t>&gt;</a:t>
            </a:r>
          </a:p>
          <a:p>
            <a:pPr>
              <a:spcBef>
                <a:spcPct val="0"/>
              </a:spcBef>
            </a:pPr>
            <a:r>
              <a:rPr lang="en-GB" sz="1600" dirty="0">
                <a:latin typeface="Courier New" panose="02070309020205020404" pitchFamily="49" charset="0"/>
              </a:rPr>
              <a:t>      &lt;td&gt;&lt;font </a:t>
            </a:r>
            <a:r>
              <a:rPr lang="en-GB" sz="1600" dirty="0" err="1">
                <a:latin typeface="Courier New" panose="02070309020205020404" pitchFamily="49" charset="0"/>
              </a:rPr>
              <a:t>color</a:t>
            </a:r>
            <a:r>
              <a:rPr lang="en-GB" sz="1600" dirty="0">
                <a:latin typeface="Courier New" panose="02070309020205020404" pitchFamily="49" charset="0"/>
              </a:rPr>
              <a:t>="#690000"&gt;&lt;b&gt;Username :&lt;/b&gt;&lt;/font&gt;&lt;/td&gt;</a:t>
            </a:r>
          </a:p>
          <a:p>
            <a:pPr>
              <a:spcBef>
                <a:spcPct val="0"/>
              </a:spcBef>
            </a:pPr>
            <a:r>
              <a:rPr lang="en-GB" sz="1600" dirty="0">
                <a:latin typeface="Courier New" panose="02070309020205020404" pitchFamily="49" charset="0"/>
              </a:rPr>
              <a:t>      &lt;td&gt;&lt;input type='textbox' name='username'&gt;&lt;/td&gt;</a:t>
            </a:r>
          </a:p>
          <a:p>
            <a:pPr>
              <a:spcBef>
                <a:spcPct val="0"/>
              </a:spcBef>
            </a:pPr>
            <a:r>
              <a:rPr lang="en-GB" sz="1600" dirty="0">
                <a:latin typeface="Courier New" panose="02070309020205020404" pitchFamily="49" charset="0"/>
              </a:rPr>
              <a:t>&lt;/</a:t>
            </a:r>
            <a:r>
              <a:rPr lang="en-GB" sz="1600" dirty="0" err="1">
                <a:latin typeface="Courier New" panose="02070309020205020404" pitchFamily="49" charset="0"/>
              </a:rPr>
              <a:t>tr</a:t>
            </a:r>
            <a:r>
              <a:rPr lang="en-GB" sz="1600" dirty="0">
                <a:latin typeface="Courier New" panose="02070309020205020404" pitchFamily="49" charset="0"/>
              </a:rPr>
              <a:t>&gt;</a:t>
            </a:r>
          </a:p>
          <a:p>
            <a:pPr>
              <a:spcBef>
                <a:spcPct val="0"/>
              </a:spcBef>
            </a:pPr>
            <a:r>
              <a:rPr lang="en-GB" sz="1800" b="1" dirty="0">
                <a:latin typeface="Courier New" panose="02070309020205020404" pitchFamily="49" charset="0"/>
              </a:rPr>
              <a:t>"""</a:t>
            </a:r>
          </a:p>
        </p:txBody>
      </p:sp>
      <p:sp>
        <p:nvSpPr>
          <p:cNvPr id="9222" name="Text Box 8"/>
          <p:cNvSpPr txBox="1">
            <a:spLocks noChangeArrowheads="1"/>
          </p:cNvSpPr>
          <p:nvPr/>
        </p:nvSpPr>
        <p:spPr bwMode="auto">
          <a:xfrm>
            <a:off x="798956" y="5255717"/>
            <a:ext cx="8505825" cy="59055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rPr>
              <a:t>'\n&lt;</a:t>
            </a:r>
            <a:r>
              <a:rPr lang="en-GB" sz="1600" dirty="0" err="1">
                <a:latin typeface="Courier New" panose="02070309020205020404" pitchFamily="49" charset="0"/>
              </a:rPr>
              <a:t>tr</a:t>
            </a:r>
            <a:r>
              <a:rPr lang="en-GB" sz="1600" dirty="0">
                <a:latin typeface="Courier New" panose="02070309020205020404" pitchFamily="49" charset="0"/>
              </a:rPr>
              <a:t>&gt;\n\t&lt;td&gt;&lt;font </a:t>
            </a:r>
            <a:r>
              <a:rPr lang="en-GB" sz="1600" dirty="0" err="1">
                <a:latin typeface="Courier New" panose="02070309020205020404" pitchFamily="49" charset="0"/>
              </a:rPr>
              <a:t>color</a:t>
            </a:r>
            <a:r>
              <a:rPr lang="en-GB" sz="1600" dirty="0">
                <a:latin typeface="Courier New" panose="02070309020205020404" pitchFamily="49" charset="0"/>
              </a:rPr>
              <a:t>="#690000"&gt;&lt;b&gt;Username :&lt;/b&gt;&lt;/font&gt;&lt;/td&gt;\n</a:t>
            </a:r>
          </a:p>
          <a:p>
            <a:pPr>
              <a:spcBef>
                <a:spcPct val="0"/>
              </a:spcBef>
            </a:pPr>
            <a:r>
              <a:rPr lang="en-GB" sz="1600" dirty="0">
                <a:latin typeface="Courier New" panose="02070309020205020404" pitchFamily="49" charset="0"/>
              </a:rPr>
              <a:t>\t&lt;td&gt;&lt;input type=\'textbox\' name=\'username\'&gt;&lt;/td&gt;\n&lt;/</a:t>
            </a:r>
            <a:r>
              <a:rPr lang="en-GB" sz="1600" dirty="0" err="1">
                <a:latin typeface="Courier New" panose="02070309020205020404" pitchFamily="49" charset="0"/>
              </a:rPr>
              <a:t>tr</a:t>
            </a:r>
            <a:r>
              <a:rPr lang="en-GB" sz="1600" dirty="0">
                <a:latin typeface="Courier New" panose="02070309020205020404" pitchFamily="49" charset="0"/>
              </a:rPr>
              <a:t>&gt;\n'</a:t>
            </a:r>
          </a:p>
        </p:txBody>
      </p:sp>
      <p:sp>
        <p:nvSpPr>
          <p:cNvPr id="9223" name="Text Box 9"/>
          <p:cNvSpPr txBox="1">
            <a:spLocks noChangeArrowheads="1"/>
          </p:cNvSpPr>
          <p:nvPr/>
        </p:nvSpPr>
        <p:spPr bwMode="auto">
          <a:xfrm>
            <a:off x="7763031" y="5919653"/>
            <a:ext cx="1651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i="1"/>
              <a:t>wrapped around</a:t>
            </a:r>
          </a:p>
        </p:txBody>
      </p:sp>
      <p:sp>
        <p:nvSpPr>
          <p:cNvPr id="2" name="Slide Number Placeholder 1">
            <a:extLst>
              <a:ext uri="{FF2B5EF4-FFF2-40B4-BE49-F238E27FC236}">
                <a16:creationId xmlns:a16="http://schemas.microsoft.com/office/drawing/2014/main" id="{44C5DEBB-E1CF-AB2D-38E5-7FA937DBBA5C}"/>
              </a:ext>
            </a:extLst>
          </p:cNvPr>
          <p:cNvSpPr>
            <a:spLocks noGrp="1"/>
          </p:cNvSpPr>
          <p:nvPr>
            <p:ph type="sldNum" sz="quarter" idx="4"/>
          </p:nvPr>
        </p:nvSpPr>
        <p:spPr/>
        <p:txBody>
          <a:bodyPr/>
          <a:lstStyle/>
          <a:p>
            <a:fld id="{EF892D59-8F09-EF4B-AD6D-DA609442F868}" type="slidenum">
              <a:rPr lang="en-GB" smtClean="0"/>
              <a:pPr/>
              <a:t>7</a:t>
            </a:fld>
            <a:endParaRPr lang="en-GB" dirty="0"/>
          </a:p>
        </p:txBody>
      </p:sp>
    </p:spTree>
    <p:extLst>
      <p:ext uri="{BB962C8B-B14F-4D97-AF65-F5344CB8AC3E}">
        <p14:creationId xmlns:p14="http://schemas.microsoft.com/office/powerpoint/2010/main" val="2809446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75238" y="320743"/>
            <a:ext cx="11517818" cy="805001"/>
          </a:xfrm>
        </p:spPr>
        <p:txBody>
          <a:bodyPr/>
          <a:lstStyle/>
          <a:p>
            <a:pPr eaLnBrk="1" hangingPunct="1"/>
            <a:r>
              <a:rPr lang="en-GB" dirty="0"/>
              <a:t>String methods</a:t>
            </a:r>
          </a:p>
        </p:txBody>
      </p:sp>
      <p:sp>
        <p:nvSpPr>
          <p:cNvPr id="10243" name="Rectangle 3"/>
          <p:cNvSpPr>
            <a:spLocks noGrp="1" noChangeArrowheads="1"/>
          </p:cNvSpPr>
          <p:nvPr>
            <p:ph idx="1"/>
          </p:nvPr>
        </p:nvSpPr>
        <p:spPr/>
        <p:txBody>
          <a:bodyPr/>
          <a:lstStyle/>
          <a:p>
            <a:r>
              <a:rPr lang="en-GB" b="1" dirty="0"/>
              <a:t>The </a:t>
            </a:r>
            <a:r>
              <a:rPr lang="en-GB" b="1" dirty="0">
                <a:latin typeface="Courier New" panose="02070309020205020404" pitchFamily="49" charset="0"/>
              </a:rPr>
              <a:t>string</a:t>
            </a:r>
            <a:r>
              <a:rPr lang="en-GB" b="1" dirty="0"/>
              <a:t> module is now mostly replaced by methods</a:t>
            </a:r>
          </a:p>
          <a:p>
            <a:pPr marL="450850" indent="-265113">
              <a:buFont typeface="Arial" panose="020B0604020202020204" pitchFamily="34" charset="0"/>
              <a:buChar char="•"/>
            </a:pPr>
            <a:r>
              <a:rPr lang="en-GB" sz="1800" dirty="0"/>
              <a:t>Some useful string functions and methods:</a:t>
            </a:r>
          </a:p>
          <a:p>
            <a:endParaRPr lang="en-GB" dirty="0"/>
          </a:p>
          <a:p>
            <a:pPr lvl="1"/>
            <a:endParaRPr lang="en-GB" dirty="0"/>
          </a:p>
          <a:p>
            <a:pPr lvl="1"/>
            <a:endParaRPr lang="en-GB" dirty="0"/>
          </a:p>
          <a:p>
            <a:pPr lvl="2"/>
            <a:endParaRPr lang="en-GB" dirty="0"/>
          </a:p>
          <a:p>
            <a:pPr lvl="1"/>
            <a:endParaRPr lang="en-GB" dirty="0"/>
          </a:p>
          <a:p>
            <a:pPr lvl="1"/>
            <a:endParaRPr lang="en-GB" dirty="0"/>
          </a:p>
          <a:p>
            <a:pPr lvl="1"/>
            <a:endParaRPr lang="en-GB" dirty="0"/>
          </a:p>
          <a:p>
            <a:pPr marL="450850" indent="-265113">
              <a:buFont typeface="Arial" panose="020B0604020202020204" pitchFamily="34" charset="0"/>
              <a:buChar char="•"/>
            </a:pPr>
            <a:r>
              <a:rPr lang="en-GB" sz="1800" dirty="0"/>
              <a:t>Overloaded * operator:</a:t>
            </a:r>
          </a:p>
        </p:txBody>
      </p:sp>
      <p:sp>
        <p:nvSpPr>
          <p:cNvPr id="10244" name="Text Box 5"/>
          <p:cNvSpPr txBox="1">
            <a:spLocks noChangeArrowheads="1"/>
          </p:cNvSpPr>
          <p:nvPr/>
        </p:nvSpPr>
        <p:spPr bwMode="auto">
          <a:xfrm>
            <a:off x="811775" y="5301625"/>
            <a:ext cx="4173537" cy="37623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pl-PL" sz="1800" dirty="0">
                <a:latin typeface="Courier New" panose="02070309020205020404" pitchFamily="49" charset="0"/>
              </a:rPr>
              <a:t>&gt;&gt;&gt; 'Spam ' * 4</a:t>
            </a:r>
          </a:p>
        </p:txBody>
      </p:sp>
      <p:sp>
        <p:nvSpPr>
          <p:cNvPr id="10245" name="Text Box 6"/>
          <p:cNvSpPr txBox="1">
            <a:spLocks noChangeArrowheads="1"/>
          </p:cNvSpPr>
          <p:nvPr/>
        </p:nvSpPr>
        <p:spPr bwMode="auto">
          <a:xfrm>
            <a:off x="4014365" y="5610228"/>
            <a:ext cx="2882900" cy="3460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pl-PL" sz="1600" dirty="0">
                <a:latin typeface="Courier New" panose="02070309020205020404" pitchFamily="49" charset="0"/>
              </a:rPr>
              <a:t>'Spam Spam Spam Spam '</a:t>
            </a:r>
            <a:endParaRPr lang="en-GB" sz="1600" dirty="0">
              <a:latin typeface="Courier New" panose="02070309020205020404" pitchFamily="49" charset="0"/>
            </a:endParaRPr>
          </a:p>
        </p:txBody>
      </p:sp>
      <p:sp>
        <p:nvSpPr>
          <p:cNvPr id="10246" name="Text Box 7"/>
          <p:cNvSpPr txBox="1">
            <a:spLocks noChangeArrowheads="1"/>
          </p:cNvSpPr>
          <p:nvPr/>
        </p:nvSpPr>
        <p:spPr bwMode="auto">
          <a:xfrm>
            <a:off x="7423944" y="5585950"/>
            <a:ext cx="3360738" cy="336550"/>
          </a:xfrm>
          <a:prstGeom prst="rect">
            <a:avLst/>
          </a:prstGeom>
          <a:solidFill>
            <a:schemeClr val="bg1"/>
          </a:solid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Mandatory Monty Python reference</a:t>
            </a:r>
          </a:p>
        </p:txBody>
      </p:sp>
      <p:sp>
        <p:nvSpPr>
          <p:cNvPr id="10247" name="Line 8"/>
          <p:cNvSpPr>
            <a:spLocks noChangeShapeType="1"/>
          </p:cNvSpPr>
          <p:nvPr/>
        </p:nvSpPr>
        <p:spPr bwMode="auto">
          <a:xfrm flipH="1">
            <a:off x="7023100" y="5783266"/>
            <a:ext cx="400844"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sp>
        <p:nvSpPr>
          <p:cNvPr id="10248" name="Text Box 4"/>
          <p:cNvSpPr txBox="1">
            <a:spLocks noChangeArrowheads="1"/>
          </p:cNvSpPr>
          <p:nvPr/>
        </p:nvSpPr>
        <p:spPr bwMode="auto">
          <a:xfrm>
            <a:off x="811775" y="2194976"/>
            <a:ext cx="8342086" cy="2308324"/>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t>String to a number	</a:t>
            </a:r>
            <a:r>
              <a:rPr lang="en-GB" sz="1800" dirty="0" err="1">
                <a:latin typeface="Courier New" panose="02070309020205020404" pitchFamily="49" charset="0"/>
              </a:rPr>
              <a:t>int</a:t>
            </a:r>
            <a:r>
              <a:rPr lang="en-GB" sz="1800" dirty="0">
                <a:latin typeface="Courier New" panose="02070309020205020404" pitchFamily="49" charset="0"/>
              </a:rPr>
              <a:t>		</a:t>
            </a:r>
            <a:r>
              <a:rPr lang="en-GB" sz="1800" dirty="0" err="1">
                <a:latin typeface="Courier New" panose="02070309020205020404" pitchFamily="49" charset="0"/>
              </a:rPr>
              <a:t>int</a:t>
            </a:r>
            <a:r>
              <a:rPr lang="en-GB" sz="1800" dirty="0">
                <a:latin typeface="Courier New" panose="02070309020205020404" pitchFamily="49" charset="0"/>
              </a:rPr>
              <a:t>("42")</a:t>
            </a:r>
          </a:p>
          <a:p>
            <a:pPr>
              <a:spcBef>
                <a:spcPct val="0"/>
              </a:spcBef>
            </a:pPr>
            <a:r>
              <a:rPr lang="en-GB" sz="1800" dirty="0"/>
              <a:t>Object to a string		</a:t>
            </a:r>
            <a:r>
              <a:rPr lang="en-GB" sz="1800" dirty="0" err="1">
                <a:latin typeface="Courier New" panose="02070309020205020404" pitchFamily="49" charset="0"/>
              </a:rPr>
              <a:t>str</a:t>
            </a:r>
            <a:r>
              <a:rPr lang="en-GB" sz="1800" dirty="0">
                <a:latin typeface="Courier New" panose="02070309020205020404" pitchFamily="49" charset="0"/>
              </a:rPr>
              <a:t>		</a:t>
            </a:r>
            <a:r>
              <a:rPr lang="en-GB" sz="1800" dirty="0" err="1">
                <a:latin typeface="Courier New" panose="02070309020205020404" pitchFamily="49" charset="0"/>
              </a:rPr>
              <a:t>str</a:t>
            </a:r>
            <a:r>
              <a:rPr lang="en-GB" sz="1800" dirty="0">
                <a:latin typeface="Courier New" panose="02070309020205020404" pitchFamily="49" charset="0"/>
              </a:rPr>
              <a:t>(42)</a:t>
            </a:r>
          </a:p>
          <a:p>
            <a:pPr>
              <a:spcBef>
                <a:spcPct val="0"/>
              </a:spcBef>
            </a:pPr>
            <a:r>
              <a:rPr lang="en-GB" sz="1800" dirty="0"/>
              <a:t>Number of characters 	</a:t>
            </a:r>
            <a:r>
              <a:rPr lang="en-GB" sz="1800" dirty="0" err="1">
                <a:latin typeface="Courier New" panose="02070309020205020404" pitchFamily="49" charset="0"/>
              </a:rPr>
              <a:t>len</a:t>
            </a:r>
            <a:r>
              <a:rPr lang="en-GB" sz="1800" dirty="0">
                <a:latin typeface="Courier New" panose="02070309020205020404" pitchFamily="49" charset="0"/>
              </a:rPr>
              <a:t>		</a:t>
            </a:r>
            <a:r>
              <a:rPr lang="en-GB" sz="1800" dirty="0" err="1">
                <a:latin typeface="Courier New" panose="02070309020205020404" pitchFamily="49" charset="0"/>
              </a:rPr>
              <a:t>len</a:t>
            </a:r>
            <a:r>
              <a:rPr lang="en-GB" sz="1800" dirty="0">
                <a:latin typeface="Courier New" panose="02070309020205020404" pitchFamily="49" charset="0"/>
              </a:rPr>
              <a:t>(name)</a:t>
            </a:r>
          </a:p>
          <a:p>
            <a:pPr>
              <a:spcBef>
                <a:spcPct val="0"/>
              </a:spcBef>
            </a:pPr>
            <a:r>
              <a:rPr lang="en-GB" sz="1800" dirty="0"/>
              <a:t>Convert to lower case</a:t>
            </a:r>
            <a:r>
              <a:rPr lang="en-GB" sz="1800" dirty="0">
                <a:latin typeface="Courier New" panose="02070309020205020404" pitchFamily="49" charset="0"/>
              </a:rPr>
              <a:t>	lower		</a:t>
            </a:r>
            <a:r>
              <a:rPr lang="en-GB" sz="1800" i="1" dirty="0" err="1">
                <a:latin typeface="Courier New" panose="02070309020205020404" pitchFamily="49" charset="0"/>
              </a:rPr>
              <a:t>str</a:t>
            </a:r>
            <a:r>
              <a:rPr lang="en-GB" sz="1800" dirty="0" err="1">
                <a:latin typeface="Courier New" panose="02070309020205020404" pitchFamily="49" charset="0"/>
              </a:rPr>
              <a:t>.lower</a:t>
            </a:r>
            <a:r>
              <a:rPr lang="en-GB" sz="1800" dirty="0">
                <a:latin typeface="Courier New" panose="02070309020205020404" pitchFamily="49" charset="0"/>
              </a:rPr>
              <a:t>()</a:t>
            </a:r>
          </a:p>
          <a:p>
            <a:pPr>
              <a:spcBef>
                <a:spcPct val="0"/>
              </a:spcBef>
            </a:pPr>
            <a:r>
              <a:rPr lang="en-GB" sz="1800" dirty="0"/>
              <a:t>Replace a sub-string	</a:t>
            </a:r>
            <a:r>
              <a:rPr lang="en-GB" sz="1800" dirty="0">
                <a:latin typeface="Courier New" panose="02070309020205020404" pitchFamily="49" charset="0"/>
              </a:rPr>
              <a:t>replace	</a:t>
            </a:r>
            <a:r>
              <a:rPr lang="en-GB" sz="1800" i="1" dirty="0" err="1">
                <a:latin typeface="Courier New" panose="02070309020205020404" pitchFamily="49" charset="0"/>
              </a:rPr>
              <a:t>str</a:t>
            </a:r>
            <a:r>
              <a:rPr lang="en-GB" sz="1800" dirty="0" err="1">
                <a:latin typeface="Courier New" panose="02070309020205020404" pitchFamily="49" charset="0"/>
              </a:rPr>
              <a:t>.replace</a:t>
            </a:r>
            <a:r>
              <a:rPr lang="en-GB" sz="1800" dirty="0">
                <a:latin typeface="Courier New" panose="02070309020205020404" pitchFamily="49" charset="0"/>
              </a:rPr>
              <a:t>('old', 'new')</a:t>
            </a:r>
          </a:p>
          <a:p>
            <a:pPr>
              <a:spcBef>
                <a:spcPct val="0"/>
              </a:spcBef>
            </a:pPr>
            <a:r>
              <a:rPr lang="en-GB" sz="1800" dirty="0"/>
              <a:t>Remove trailing chars	</a:t>
            </a:r>
            <a:r>
              <a:rPr lang="en-GB" sz="1800" dirty="0" err="1">
                <a:latin typeface="Courier New" panose="02070309020205020404" pitchFamily="49" charset="0"/>
              </a:rPr>
              <a:t>rstrip</a:t>
            </a:r>
            <a:r>
              <a:rPr lang="en-GB" sz="1800" dirty="0">
                <a:latin typeface="Courier New" panose="02070309020205020404" pitchFamily="49" charset="0"/>
              </a:rPr>
              <a:t>		</a:t>
            </a:r>
            <a:r>
              <a:rPr lang="en-GB" sz="1800" i="1" dirty="0" err="1">
                <a:latin typeface="Courier New" panose="02070309020205020404" pitchFamily="49" charset="0"/>
              </a:rPr>
              <a:t>str</a:t>
            </a:r>
            <a:r>
              <a:rPr lang="en-GB" sz="1800" dirty="0" err="1">
                <a:latin typeface="Courier New" panose="02070309020205020404" pitchFamily="49" charset="0"/>
              </a:rPr>
              <a:t>.rstrip</a:t>
            </a:r>
            <a:r>
              <a:rPr lang="en-GB" sz="1800" dirty="0">
                <a:latin typeface="Courier New" panose="02070309020205020404" pitchFamily="49" charset="0"/>
              </a:rPr>
              <a:t>()</a:t>
            </a:r>
            <a:endParaRPr lang="en-GB" sz="1800" dirty="0"/>
          </a:p>
          <a:p>
            <a:pPr>
              <a:spcBef>
                <a:spcPct val="0"/>
              </a:spcBef>
            </a:pPr>
            <a:r>
              <a:rPr lang="en-GB" sz="1800" dirty="0"/>
              <a:t>Search for a sub-string</a:t>
            </a:r>
            <a:r>
              <a:rPr lang="en-GB" sz="1800" dirty="0">
                <a:latin typeface="Courier New" panose="02070309020205020404" pitchFamily="49" charset="0"/>
              </a:rPr>
              <a:t>	find		</a:t>
            </a:r>
            <a:r>
              <a:rPr lang="en-GB" sz="1800" i="1" dirty="0" err="1">
                <a:latin typeface="Courier New" panose="02070309020205020404" pitchFamily="49" charset="0"/>
              </a:rPr>
              <a:t>str</a:t>
            </a:r>
            <a:r>
              <a:rPr lang="en-GB" sz="1800" dirty="0" err="1">
                <a:latin typeface="Courier New" panose="02070309020205020404" pitchFamily="49" charset="0"/>
              </a:rPr>
              <a:t>.find</a:t>
            </a:r>
            <a:r>
              <a:rPr lang="en-GB" sz="1800" dirty="0">
                <a:latin typeface="Courier New" panose="02070309020205020404" pitchFamily="49" charset="0"/>
              </a:rPr>
              <a:t>('cheese')</a:t>
            </a:r>
          </a:p>
          <a:p>
            <a:pPr>
              <a:spcBef>
                <a:spcPct val="0"/>
              </a:spcBef>
            </a:pPr>
            <a:r>
              <a:rPr lang="en-GB" sz="1800" dirty="0"/>
              <a:t>(returns the offset)</a:t>
            </a:r>
          </a:p>
        </p:txBody>
      </p:sp>
      <p:sp>
        <p:nvSpPr>
          <p:cNvPr id="2" name="Slide Number Placeholder 1">
            <a:extLst>
              <a:ext uri="{FF2B5EF4-FFF2-40B4-BE49-F238E27FC236}">
                <a16:creationId xmlns:a16="http://schemas.microsoft.com/office/drawing/2014/main" id="{836FC2AA-ACD8-BB4A-18D6-A4F944FF7027}"/>
              </a:ext>
            </a:extLst>
          </p:cNvPr>
          <p:cNvSpPr>
            <a:spLocks noGrp="1"/>
          </p:cNvSpPr>
          <p:nvPr>
            <p:ph type="sldNum" sz="quarter" idx="4"/>
          </p:nvPr>
        </p:nvSpPr>
        <p:spPr/>
        <p:txBody>
          <a:bodyPr/>
          <a:lstStyle/>
          <a:p>
            <a:fld id="{EF892D59-8F09-EF4B-AD6D-DA609442F868}" type="slidenum">
              <a:rPr lang="en-GB" smtClean="0"/>
              <a:pPr/>
              <a:t>8</a:t>
            </a:fld>
            <a:endParaRPr lang="en-GB" dirty="0"/>
          </a:p>
        </p:txBody>
      </p:sp>
    </p:spTree>
    <p:extLst>
      <p:ext uri="{BB962C8B-B14F-4D97-AF65-F5344CB8AC3E}">
        <p14:creationId xmlns:p14="http://schemas.microsoft.com/office/powerpoint/2010/main" val="3308034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984863" y="359925"/>
            <a:ext cx="11517818" cy="805001"/>
          </a:xfrm>
        </p:spPr>
        <p:txBody>
          <a:bodyPr/>
          <a:lstStyle/>
          <a:p>
            <a:pPr eaLnBrk="1" hangingPunct="1"/>
            <a:r>
              <a:rPr lang="en-GB" dirty="0"/>
              <a:t>String tests</a:t>
            </a:r>
          </a:p>
        </p:txBody>
      </p:sp>
      <p:sp>
        <p:nvSpPr>
          <p:cNvPr id="11267" name="Rectangle 3"/>
          <p:cNvSpPr>
            <a:spLocks noGrp="1" noChangeArrowheads="1"/>
          </p:cNvSpPr>
          <p:nvPr>
            <p:ph idx="1"/>
          </p:nvPr>
        </p:nvSpPr>
        <p:spPr>
          <a:xfrm>
            <a:off x="466401" y="1031783"/>
            <a:ext cx="11516239" cy="4955354"/>
          </a:xfrm>
        </p:spPr>
        <p:txBody>
          <a:bodyPr/>
          <a:lstStyle/>
          <a:p>
            <a:pPr>
              <a:defRPr/>
            </a:pPr>
            <a:r>
              <a:rPr lang="en-GB" b="1" dirty="0"/>
              <a:t>Remember the </a:t>
            </a:r>
            <a:r>
              <a:rPr lang="en-GB" b="1" dirty="0">
                <a:solidFill>
                  <a:schemeClr val="accent1">
                    <a:lumMod val="50000"/>
                  </a:schemeClr>
                </a:solidFill>
                <a:latin typeface="Courier New" panose="02070309020205020404" pitchFamily="49" charset="0"/>
                <a:cs typeface="Courier New" panose="02070309020205020404" pitchFamily="49" charset="0"/>
              </a:rPr>
              <a:t>in</a:t>
            </a:r>
            <a:r>
              <a:rPr lang="en-GB" b="1" dirty="0"/>
              <a:t> operator</a:t>
            </a:r>
          </a:p>
          <a:p>
            <a:pPr lvl="2">
              <a:defRPr/>
            </a:pPr>
            <a:endParaRPr lang="en-GB" b="1" dirty="0"/>
          </a:p>
          <a:p>
            <a:pPr lvl="2">
              <a:defRPr/>
            </a:pPr>
            <a:endParaRPr lang="en-GB" sz="1200" b="1" dirty="0"/>
          </a:p>
          <a:p>
            <a:pPr>
              <a:defRPr/>
            </a:pPr>
            <a:r>
              <a:rPr lang="en-GB" b="1" dirty="0"/>
              <a:t>Testing a string type can often be done with a method:</a:t>
            </a:r>
          </a:p>
          <a:p>
            <a:pPr marL="457200" lvl="1" indent="-228600">
              <a:buFont typeface="Arial" panose="020B0604020202020204" pitchFamily="34" charset="0"/>
              <a:buChar char="•"/>
              <a:defRPr/>
            </a:pPr>
            <a:r>
              <a:rPr lang="en-GB" sz="1800" dirty="0"/>
              <a:t>Regular Expressions can also be used, but can be slow.</a:t>
            </a:r>
          </a:p>
        </p:txBody>
      </p:sp>
      <p:sp>
        <p:nvSpPr>
          <p:cNvPr id="11268" name="Text Box 4"/>
          <p:cNvSpPr txBox="1">
            <a:spLocks noChangeArrowheads="1"/>
          </p:cNvSpPr>
          <p:nvPr/>
        </p:nvSpPr>
        <p:spPr bwMode="auto">
          <a:xfrm>
            <a:off x="2786063" y="2379663"/>
            <a:ext cx="1841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endParaRPr lang="en-US" sz="1600"/>
          </a:p>
        </p:txBody>
      </p:sp>
      <p:sp>
        <p:nvSpPr>
          <p:cNvPr id="11269" name="Text Box 5"/>
          <p:cNvSpPr txBox="1">
            <a:spLocks noChangeArrowheads="1"/>
          </p:cNvSpPr>
          <p:nvPr/>
        </p:nvSpPr>
        <p:spPr bwMode="auto">
          <a:xfrm>
            <a:off x="808221" y="2904705"/>
            <a:ext cx="1160463" cy="3554413"/>
          </a:xfrm>
          <a:prstGeom prst="rect">
            <a:avLst/>
          </a:prstGeom>
          <a:solidFill>
            <a:schemeClr val="bg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ts val="600"/>
              </a:spcBef>
            </a:pPr>
            <a:r>
              <a:rPr lang="en-GB" sz="1800" dirty="0"/>
              <a:t>count	</a:t>
            </a:r>
          </a:p>
          <a:p>
            <a:pPr>
              <a:spcBef>
                <a:spcPts val="600"/>
              </a:spcBef>
            </a:pPr>
            <a:r>
              <a:rPr lang="en-GB" sz="1800" dirty="0" err="1"/>
              <a:t>endswith</a:t>
            </a:r>
            <a:endParaRPr lang="en-GB" sz="1800" dirty="0"/>
          </a:p>
          <a:p>
            <a:pPr>
              <a:spcBef>
                <a:spcPts val="600"/>
              </a:spcBef>
            </a:pPr>
            <a:r>
              <a:rPr lang="en-GB" sz="1800" dirty="0" err="1"/>
              <a:t>isalnum</a:t>
            </a:r>
            <a:endParaRPr lang="en-GB" sz="1800" dirty="0"/>
          </a:p>
          <a:p>
            <a:pPr>
              <a:spcBef>
                <a:spcPts val="600"/>
              </a:spcBef>
            </a:pPr>
            <a:r>
              <a:rPr lang="en-GB" sz="1800" dirty="0" err="1"/>
              <a:t>isalpha</a:t>
            </a:r>
            <a:endParaRPr lang="en-GB" sz="1800" dirty="0"/>
          </a:p>
          <a:p>
            <a:pPr>
              <a:spcBef>
                <a:spcPts val="600"/>
              </a:spcBef>
            </a:pPr>
            <a:r>
              <a:rPr lang="en-GB" sz="1800" dirty="0" err="1"/>
              <a:t>isdigit</a:t>
            </a:r>
            <a:endParaRPr lang="en-GB" sz="1800" dirty="0"/>
          </a:p>
          <a:p>
            <a:pPr>
              <a:spcBef>
                <a:spcPts val="600"/>
              </a:spcBef>
            </a:pPr>
            <a:r>
              <a:rPr lang="en-GB" sz="1800" dirty="0" err="1"/>
              <a:t>islower</a:t>
            </a:r>
            <a:endParaRPr lang="en-GB" sz="1800" dirty="0"/>
          </a:p>
          <a:p>
            <a:pPr>
              <a:spcBef>
                <a:spcPts val="600"/>
              </a:spcBef>
            </a:pPr>
            <a:r>
              <a:rPr lang="en-GB" sz="1800" dirty="0" err="1"/>
              <a:t>isspace</a:t>
            </a:r>
            <a:endParaRPr lang="en-GB" sz="1800" dirty="0"/>
          </a:p>
          <a:p>
            <a:pPr>
              <a:spcBef>
                <a:spcPts val="600"/>
              </a:spcBef>
            </a:pPr>
            <a:r>
              <a:rPr lang="en-GB" sz="1800" dirty="0" err="1"/>
              <a:t>istitle</a:t>
            </a:r>
            <a:endParaRPr lang="en-GB" sz="1800" dirty="0"/>
          </a:p>
          <a:p>
            <a:pPr>
              <a:spcBef>
                <a:spcPts val="600"/>
              </a:spcBef>
            </a:pPr>
            <a:r>
              <a:rPr lang="en-GB" sz="1800" dirty="0" err="1"/>
              <a:t>isupper</a:t>
            </a:r>
            <a:endParaRPr lang="en-GB" sz="1800" dirty="0"/>
          </a:p>
          <a:p>
            <a:pPr>
              <a:spcBef>
                <a:spcPts val="600"/>
              </a:spcBef>
            </a:pPr>
            <a:r>
              <a:rPr lang="en-GB" sz="1800" dirty="0" err="1"/>
              <a:t>startswith</a:t>
            </a:r>
            <a:endParaRPr lang="en-GB" sz="1800" dirty="0"/>
          </a:p>
        </p:txBody>
      </p:sp>
      <p:sp>
        <p:nvSpPr>
          <p:cNvPr id="11270" name="Text Box 6"/>
          <p:cNvSpPr txBox="1">
            <a:spLocks noChangeArrowheads="1"/>
          </p:cNvSpPr>
          <p:nvPr/>
        </p:nvSpPr>
        <p:spPr bwMode="auto">
          <a:xfrm>
            <a:off x="2212038" y="2907505"/>
            <a:ext cx="4787900" cy="3078163"/>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text = 'hello world'</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print(</a:t>
            </a:r>
            <a:r>
              <a:rPr lang="en-GB" sz="1800" dirty="0" err="1">
                <a:latin typeface="Courier New" panose="02070309020205020404" pitchFamily="49" charset="0"/>
              </a:rPr>
              <a:t>text.count</a:t>
            </a:r>
            <a:r>
              <a:rPr lang="en-GB" sz="1800" dirty="0">
                <a:latin typeface="Courier New" panose="02070309020205020404" pitchFamily="49" charset="0"/>
              </a:rPr>
              <a:t>('o'))</a:t>
            </a:r>
            <a:endParaRPr lang="en-GB" dirty="0">
              <a:latin typeface="Courier New" panose="02070309020205020404" pitchFamily="49" charset="0"/>
            </a:endParaRP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if </a:t>
            </a:r>
            <a:r>
              <a:rPr lang="en-GB" sz="1800" dirty="0" err="1">
                <a:latin typeface="Courier New" panose="02070309020205020404" pitchFamily="49" charset="0"/>
              </a:rPr>
              <a:t>text.startswith</a:t>
            </a:r>
            <a:r>
              <a:rPr lang="en-GB" sz="1800" dirty="0">
                <a:latin typeface="Courier New" panose="02070309020205020404" pitchFamily="49" charset="0"/>
              </a:rPr>
              <a:t>('hell'):</a:t>
            </a:r>
          </a:p>
          <a:p>
            <a:pPr>
              <a:spcBef>
                <a:spcPct val="0"/>
              </a:spcBef>
            </a:pPr>
            <a:r>
              <a:rPr lang="en-GB" sz="1800" dirty="0">
                <a:latin typeface="Courier New" panose="02070309020205020404" pitchFamily="49" charset="0"/>
              </a:rPr>
              <a:t>    print("It's hell in there")</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if </a:t>
            </a:r>
            <a:r>
              <a:rPr lang="en-GB" sz="1800" dirty="0" err="1">
                <a:latin typeface="Courier New" panose="02070309020205020404" pitchFamily="49" charset="0"/>
              </a:rPr>
              <a:t>text.isalpha</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print('string is all alpha')</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text = ' \t\r\n'</a:t>
            </a:r>
          </a:p>
          <a:p>
            <a:pPr>
              <a:spcBef>
                <a:spcPct val="0"/>
              </a:spcBef>
            </a:pPr>
            <a:r>
              <a:rPr lang="en-GB" sz="1800" dirty="0">
                <a:latin typeface="Courier New" panose="02070309020205020404" pitchFamily="49" charset="0"/>
              </a:rPr>
              <a:t>if </a:t>
            </a:r>
            <a:r>
              <a:rPr lang="en-GB" sz="1800" dirty="0" err="1">
                <a:latin typeface="Courier New" panose="02070309020205020404" pitchFamily="49" charset="0"/>
              </a:rPr>
              <a:t>text.isspace</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print('string is whitespace')</a:t>
            </a:r>
          </a:p>
        </p:txBody>
      </p:sp>
      <p:sp>
        <p:nvSpPr>
          <p:cNvPr id="11271" name="Text Box 7"/>
          <p:cNvSpPr txBox="1">
            <a:spLocks noChangeArrowheads="1"/>
          </p:cNvSpPr>
          <p:nvPr/>
        </p:nvSpPr>
        <p:spPr bwMode="auto">
          <a:xfrm>
            <a:off x="6922096" y="5559976"/>
            <a:ext cx="2640012" cy="830263"/>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600" dirty="0">
                <a:latin typeface="Courier New" panose="02070309020205020404" pitchFamily="49" charset="0"/>
              </a:rPr>
              <a:t>2</a:t>
            </a:r>
          </a:p>
          <a:p>
            <a:pPr>
              <a:spcBef>
                <a:spcPct val="0"/>
              </a:spcBef>
            </a:pPr>
            <a:r>
              <a:rPr lang="en-US" sz="1600" dirty="0">
                <a:latin typeface="Courier New" panose="02070309020205020404" pitchFamily="49" charset="0"/>
              </a:rPr>
              <a:t>It's hell in there</a:t>
            </a:r>
          </a:p>
          <a:p>
            <a:pPr>
              <a:spcBef>
                <a:spcPct val="0"/>
              </a:spcBef>
            </a:pPr>
            <a:r>
              <a:rPr lang="en-US" sz="1600" dirty="0">
                <a:latin typeface="Courier New" panose="02070309020205020404" pitchFamily="49" charset="0"/>
              </a:rPr>
              <a:t>string is whitespace</a:t>
            </a:r>
            <a:endParaRPr lang="en-GB" sz="1600" dirty="0">
              <a:latin typeface="Courier New" panose="02070309020205020404" pitchFamily="49" charset="0"/>
            </a:endParaRPr>
          </a:p>
        </p:txBody>
      </p:sp>
      <p:sp>
        <p:nvSpPr>
          <p:cNvPr id="9" name="Text Box 6"/>
          <p:cNvSpPr txBox="1">
            <a:spLocks noChangeArrowheads="1"/>
          </p:cNvSpPr>
          <p:nvPr/>
        </p:nvSpPr>
        <p:spPr bwMode="auto">
          <a:xfrm>
            <a:off x="804048" y="1488902"/>
            <a:ext cx="4787900" cy="36988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p>
            <a:pPr>
              <a:spcBef>
                <a:spcPct val="0"/>
              </a:spcBef>
              <a:defRPr/>
            </a:pPr>
            <a:r>
              <a:rPr lang="en-GB" dirty="0">
                <a:latin typeface="Courier New" panose="02070309020205020404" pitchFamily="49" charset="0"/>
              </a:rPr>
              <a:t>if </a:t>
            </a:r>
            <a:r>
              <a:rPr lang="en-GB" i="1" dirty="0" err="1"/>
              <a:t>substr</a:t>
            </a:r>
            <a:r>
              <a:rPr lang="en-GB" dirty="0">
                <a:latin typeface="Courier New" panose="02070309020205020404" pitchFamily="49" charset="0"/>
              </a:rPr>
              <a:t> </a:t>
            </a:r>
            <a:r>
              <a:rPr lang="en-GB" b="1" dirty="0">
                <a:latin typeface="Courier New" panose="02070309020205020404" pitchFamily="49" charset="0"/>
              </a:rPr>
              <a:t>in</a:t>
            </a:r>
            <a:r>
              <a:rPr lang="en-GB" dirty="0">
                <a:latin typeface="Courier New" panose="02070309020205020404" pitchFamily="49" charset="0"/>
              </a:rPr>
              <a:t> </a:t>
            </a:r>
            <a:r>
              <a:rPr lang="en-GB" i="1" dirty="0"/>
              <a:t>string</a:t>
            </a:r>
            <a:r>
              <a:rPr lang="en-GB" dirty="0">
                <a:latin typeface="Courier New" panose="02070309020205020404" pitchFamily="49" charset="0"/>
              </a:rPr>
              <a:t>:</a:t>
            </a:r>
          </a:p>
        </p:txBody>
      </p:sp>
      <p:sp>
        <p:nvSpPr>
          <p:cNvPr id="2" name="Slide Number Placeholder 1">
            <a:extLst>
              <a:ext uri="{FF2B5EF4-FFF2-40B4-BE49-F238E27FC236}">
                <a16:creationId xmlns:a16="http://schemas.microsoft.com/office/drawing/2014/main" id="{DF1E09A7-7D07-6B60-56E9-03265CF6E84E}"/>
              </a:ext>
            </a:extLst>
          </p:cNvPr>
          <p:cNvSpPr>
            <a:spLocks noGrp="1"/>
          </p:cNvSpPr>
          <p:nvPr>
            <p:ph type="sldNum" sz="quarter" idx="4"/>
          </p:nvPr>
        </p:nvSpPr>
        <p:spPr/>
        <p:txBody>
          <a:bodyPr/>
          <a:lstStyle/>
          <a:p>
            <a:fld id="{EF892D59-8F09-EF4B-AD6D-DA609442F868}" type="slidenum">
              <a:rPr lang="en-GB" smtClean="0"/>
              <a:pPr/>
              <a:t>9</a:t>
            </a:fld>
            <a:endParaRPr lang="en-GB" dirty="0"/>
          </a:p>
        </p:txBody>
      </p:sp>
    </p:spTree>
    <p:extLst>
      <p:ext uri="{BB962C8B-B14F-4D97-AF65-F5344CB8AC3E}">
        <p14:creationId xmlns:p14="http://schemas.microsoft.com/office/powerpoint/2010/main" val="1775349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6"/>
          <p:cNvSpPr>
            <a:spLocks noGrp="1" noChangeArrowheads="1"/>
          </p:cNvSpPr>
          <p:nvPr>
            <p:ph type="body" idx="4294967295"/>
          </p:nvPr>
        </p:nvSpPr>
        <p:spPr>
          <a:xfrm>
            <a:off x="476205" y="1088015"/>
            <a:ext cx="8786813" cy="5729287"/>
          </a:xfrm>
        </p:spPr>
        <p:txBody>
          <a:bodyPr>
            <a:normAutofit/>
          </a:bodyPr>
          <a:lstStyle/>
          <a:p>
            <a:r>
              <a:rPr lang="en-GB" b="1" dirty="0"/>
              <a:t>Call the format method on a string</a:t>
            </a:r>
          </a:p>
          <a:p>
            <a:pPr marL="457200" lvl="1" indent="-228600">
              <a:buFont typeface="Arial" panose="020B0604020202020204" pitchFamily="34" charset="0"/>
              <a:buChar char="•"/>
            </a:pPr>
            <a:endParaRPr lang="en-GB" sz="1800" i="1" dirty="0">
              <a:latin typeface="Montserrat"/>
            </a:endParaRPr>
          </a:p>
          <a:p>
            <a:pPr marL="457200" lvl="1" indent="-228600">
              <a:buFont typeface="Arial" panose="020B0604020202020204" pitchFamily="34" charset="0"/>
              <a:buChar char="•"/>
            </a:pPr>
            <a:r>
              <a:rPr lang="en-GB" sz="1800" i="1" dirty="0">
                <a:latin typeface="Montserrat"/>
              </a:rPr>
              <a:t>string - </a:t>
            </a:r>
            <a:r>
              <a:rPr lang="en-GB" sz="1800" dirty="0">
                <a:latin typeface="Montserrat"/>
              </a:rPr>
              <a:t>contains text and the format of values to be substituted in.</a:t>
            </a:r>
            <a:endParaRPr lang="en-GB" sz="1800" dirty="0"/>
          </a:p>
          <a:p>
            <a:pPr marL="457200" lvl="1" indent="-228600">
              <a:buFont typeface="Arial" panose="020B0604020202020204" pitchFamily="34" charset="0"/>
              <a:buChar char="•"/>
            </a:pPr>
            <a:r>
              <a:rPr lang="en-GB" sz="1800" i="1" dirty="0" err="1">
                <a:latin typeface="Montserrat"/>
              </a:rPr>
              <a:t>field_values</a:t>
            </a:r>
            <a:r>
              <a:rPr lang="en-GB" sz="1800" i="1" dirty="0">
                <a:latin typeface="Montserrat"/>
              </a:rPr>
              <a:t> - </a:t>
            </a:r>
            <a:r>
              <a:rPr lang="en-GB" sz="1800" dirty="0">
                <a:latin typeface="Montserrat"/>
              </a:rPr>
              <a:t>the parameters to be evaluated in string.</a:t>
            </a:r>
          </a:p>
          <a:p>
            <a:pPr marL="457200" lvl="1" indent="-228600">
              <a:buFont typeface="Arial" panose="020B0604020202020204" pitchFamily="34" charset="0"/>
              <a:buChar char="•"/>
            </a:pPr>
            <a:endParaRPr lang="en-GB" sz="1800" dirty="0">
              <a:latin typeface="Montserrat"/>
            </a:endParaRPr>
          </a:p>
          <a:p>
            <a:pPr marL="228600" lvl="1" indent="-228600">
              <a:buNone/>
            </a:pPr>
            <a:r>
              <a:rPr lang="en-GB" b="1" dirty="0">
                <a:latin typeface="Montserrat"/>
              </a:rPr>
              <a:t>String format specifications are all optional, and of the form:</a:t>
            </a:r>
          </a:p>
          <a:p>
            <a:pPr lvl="4"/>
            <a:endParaRPr lang="en-GB" dirty="0"/>
          </a:p>
          <a:p>
            <a:pPr lvl="2"/>
            <a:endParaRPr lang="en-GB" dirty="0"/>
          </a:p>
          <a:p>
            <a:pPr lvl="3"/>
            <a:endParaRPr lang="en-GB" dirty="0"/>
          </a:p>
          <a:p>
            <a:pPr marL="1371600" lvl="3" indent="0">
              <a:buNone/>
            </a:pPr>
            <a:endParaRPr lang="en-GB" dirty="0"/>
          </a:p>
          <a:p>
            <a:pPr lvl="3"/>
            <a:endParaRPr lang="en-GB" dirty="0"/>
          </a:p>
          <a:p>
            <a:pPr lvl="3"/>
            <a:endParaRPr lang="en-GB" dirty="0"/>
          </a:p>
          <a:p>
            <a:r>
              <a:rPr lang="en-GB" b="1" dirty="0"/>
              <a:t>We can also specify index numbers or key names</a:t>
            </a:r>
          </a:p>
        </p:txBody>
      </p:sp>
      <p:sp>
        <p:nvSpPr>
          <p:cNvPr id="12290" name="Rectangle 2"/>
          <p:cNvSpPr>
            <a:spLocks noGrp="1" noChangeArrowheads="1"/>
          </p:cNvSpPr>
          <p:nvPr>
            <p:ph type="title"/>
          </p:nvPr>
        </p:nvSpPr>
        <p:spPr>
          <a:xfrm>
            <a:off x="1119044" y="297475"/>
            <a:ext cx="11517818" cy="805001"/>
          </a:xfrm>
        </p:spPr>
        <p:txBody>
          <a:bodyPr/>
          <a:lstStyle/>
          <a:p>
            <a:pPr eaLnBrk="1" hangingPunct="1"/>
            <a:r>
              <a:rPr lang="en-GB" dirty="0"/>
              <a:t>String formatting</a:t>
            </a:r>
          </a:p>
        </p:txBody>
      </p:sp>
      <p:grpSp>
        <p:nvGrpSpPr>
          <p:cNvPr id="12295" name="Group 27"/>
          <p:cNvGrpSpPr>
            <a:grpSpLocks/>
          </p:cNvGrpSpPr>
          <p:nvPr/>
        </p:nvGrpSpPr>
        <p:grpSpPr bwMode="auto">
          <a:xfrm>
            <a:off x="842755" y="3952659"/>
            <a:ext cx="7789862" cy="442913"/>
            <a:chOff x="533" y="2476"/>
            <a:chExt cx="4907" cy="279"/>
          </a:xfrm>
          <a:effectLst>
            <a:outerShdw blurRad="50800" dist="38100" dir="2700000" algn="tl" rotWithShape="0">
              <a:prstClr val="black">
                <a:alpha val="40000"/>
              </a:prstClr>
            </a:outerShdw>
          </a:effectLst>
        </p:grpSpPr>
        <p:sp>
          <p:nvSpPr>
            <p:cNvPr id="12299" name="Text Box 10"/>
            <p:cNvSpPr txBox="1">
              <a:spLocks noChangeArrowheads="1"/>
            </p:cNvSpPr>
            <p:nvPr/>
          </p:nvSpPr>
          <p:spPr bwMode="auto">
            <a:xfrm>
              <a:off x="533" y="2476"/>
              <a:ext cx="4907" cy="237"/>
            </a:xfrm>
            <a:prstGeom prst="rect">
              <a:avLst/>
            </a:prstGeom>
            <a:solidFill>
              <a:schemeClr val="tx2">
                <a:lumMod val="20000"/>
                <a:lumOff val="80000"/>
              </a:schemeClr>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a:t>
              </a:r>
              <a:r>
                <a:rPr lang="en-GB" sz="1800" i="1" dirty="0">
                  <a:latin typeface="Courier New" panose="02070309020205020404" pitchFamily="49" charset="0"/>
                </a:rPr>
                <a:t>text</a:t>
              </a:r>
              <a:r>
                <a:rPr lang="en-GB" sz="1800" dirty="0">
                  <a:latin typeface="Courier New" panose="02070309020205020404" pitchFamily="49" charset="0"/>
                </a:rPr>
                <a:t>{0:5.3f}</a:t>
              </a:r>
              <a:r>
                <a:rPr lang="en-GB" sz="1800" i="1" dirty="0">
                  <a:latin typeface="Courier New" panose="02070309020205020404" pitchFamily="49" charset="0"/>
                </a:rPr>
                <a:t>text</a:t>
              </a:r>
              <a:r>
                <a:rPr lang="en-GB" sz="1800" dirty="0">
                  <a:latin typeface="Courier New" panose="02070309020205020404" pitchFamily="49" charset="0"/>
                </a:rPr>
                <a:t>{1:3.d}</a:t>
              </a:r>
              <a:r>
                <a:rPr lang="en-GB" sz="1800" i="1" dirty="0">
                  <a:latin typeface="Courier New" panose="02070309020205020404" pitchFamily="49" charset="0"/>
                </a:rPr>
                <a:t>text</a:t>
              </a:r>
              <a:r>
                <a:rPr lang="en-GB" sz="1800" dirty="0">
                  <a:latin typeface="Courier New" panose="02070309020205020404" pitchFamily="49" charset="0"/>
                </a:rPr>
                <a:t>{2}"</a:t>
              </a:r>
              <a:r>
                <a:rPr lang="en-GB" sz="1800" b="1" dirty="0">
                  <a:latin typeface="Courier New" panose="02070309020205020404" pitchFamily="49" charset="0"/>
                </a:rPr>
                <a:t>.</a:t>
              </a:r>
              <a:r>
                <a:rPr lang="en-GB" sz="1800" dirty="0">
                  <a:latin typeface="Courier New" panose="02070309020205020404" pitchFamily="49" charset="0"/>
                </a:rPr>
                <a:t>format(var1,var2,var3)</a:t>
              </a:r>
            </a:p>
          </p:txBody>
        </p:sp>
        <p:cxnSp>
          <p:nvCxnSpPr>
            <p:cNvPr id="12306" name="AutoShape 19"/>
            <p:cNvCxnSpPr>
              <a:cxnSpLocks noChangeShapeType="1"/>
            </p:cNvCxnSpPr>
            <p:nvPr/>
          </p:nvCxnSpPr>
          <p:spPr bwMode="auto">
            <a:xfrm rot="5400000" flipH="1">
              <a:off x="2755" y="1284"/>
              <a:ext cx="8" cy="2865"/>
            </a:xfrm>
            <a:prstGeom prst="curvedConnector3">
              <a:avLst>
                <a:gd name="adj1" fmla="val -2880890"/>
              </a:avLst>
            </a:prstGeom>
            <a:noFill/>
            <a:ln w="9525">
              <a:solidFill>
                <a:srgbClr val="FF0000"/>
              </a:solidFill>
              <a:round/>
              <a:headEnd/>
              <a:tailEnd type="triangle" w="med" len="med"/>
            </a:ln>
            <a:extLst>
              <a:ext uri="{909E8E84-426E-40dd-AFC4-6F175D3DCCD1}">
                <a14:hiddenFill xmlns:a14="http://schemas.microsoft.com/office/drawing/2010/main" xmlns="">
                  <a:noFill/>
                </a14:hiddenFill>
              </a:ext>
            </a:extLst>
          </p:spPr>
        </p:cxnSp>
        <p:cxnSp>
          <p:nvCxnSpPr>
            <p:cNvPr id="12307" name="AutoShape 20"/>
            <p:cNvCxnSpPr>
              <a:cxnSpLocks noChangeShapeType="1"/>
            </p:cNvCxnSpPr>
            <p:nvPr/>
          </p:nvCxnSpPr>
          <p:spPr bwMode="auto">
            <a:xfrm rot="5400000" flipH="1">
              <a:off x="3492" y="1609"/>
              <a:ext cx="10" cy="2282"/>
            </a:xfrm>
            <a:prstGeom prst="curvedConnector3">
              <a:avLst>
                <a:gd name="adj1" fmla="val -3174935"/>
              </a:avLst>
            </a:prstGeom>
            <a:noFill/>
            <a:ln w="9525">
              <a:solidFill>
                <a:srgbClr val="0070C0"/>
              </a:solidFill>
              <a:round/>
              <a:headEnd/>
              <a:tailEnd type="triangle" w="med" len="med"/>
            </a:ln>
            <a:extLst>
              <a:ext uri="{909E8E84-426E-40dd-AFC4-6F175D3DCCD1}">
                <a14:hiddenFill xmlns:a14="http://schemas.microsoft.com/office/drawing/2010/main" xmlns="">
                  <a:noFill/>
                </a14:hiddenFill>
              </a:ext>
            </a:extLst>
          </p:spPr>
        </p:cxnSp>
        <p:cxnSp>
          <p:nvCxnSpPr>
            <p:cNvPr id="12308" name="AutoShape 21"/>
            <p:cNvCxnSpPr>
              <a:cxnSpLocks noChangeShapeType="1"/>
            </p:cNvCxnSpPr>
            <p:nvPr/>
          </p:nvCxnSpPr>
          <p:spPr bwMode="auto">
            <a:xfrm rot="5400000" flipH="1">
              <a:off x="4080" y="1771"/>
              <a:ext cx="2" cy="1950"/>
            </a:xfrm>
            <a:prstGeom prst="curvedConnector3">
              <a:avLst>
                <a:gd name="adj1" fmla="val -20939181"/>
              </a:avLst>
            </a:prstGeom>
            <a:noFill/>
            <a:ln w="9525">
              <a:solidFill>
                <a:srgbClr val="00B050"/>
              </a:solidFill>
              <a:round/>
              <a:headEnd/>
              <a:tailEnd type="triangle" w="med" len="med"/>
            </a:ln>
            <a:extLst>
              <a:ext uri="{909E8E84-426E-40dd-AFC4-6F175D3DCCD1}">
                <a14:hiddenFill xmlns:a14="http://schemas.microsoft.com/office/drawing/2010/main" xmlns="">
                  <a:noFill/>
                </a14:hiddenFill>
              </a:ext>
            </a:extLst>
          </p:spPr>
        </p:cxnSp>
      </p:grpSp>
      <p:sp>
        <p:nvSpPr>
          <p:cNvPr id="12294" name="Text Box 9"/>
          <p:cNvSpPr txBox="1">
            <a:spLocks noChangeArrowheads="1"/>
          </p:cNvSpPr>
          <p:nvPr/>
        </p:nvSpPr>
        <p:spPr bwMode="auto">
          <a:xfrm>
            <a:off x="3260725" y="3138489"/>
            <a:ext cx="184150"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endParaRPr lang="en-US"/>
          </a:p>
        </p:txBody>
      </p:sp>
      <p:sp>
        <p:nvSpPr>
          <p:cNvPr id="12296" name="Text Box 25"/>
          <p:cNvSpPr txBox="1">
            <a:spLocks noChangeArrowheads="1"/>
          </p:cNvSpPr>
          <p:nvPr/>
        </p:nvSpPr>
        <p:spPr bwMode="auto">
          <a:xfrm>
            <a:off x="855247" y="6021805"/>
            <a:ext cx="7772400" cy="37623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a:t>
            </a:r>
            <a:r>
              <a:rPr lang="en-GB" sz="1800" i="1" dirty="0">
                <a:latin typeface="Courier New" panose="02070309020205020404" pitchFamily="49" charset="0"/>
              </a:rPr>
              <a:t>text</a:t>
            </a:r>
            <a:r>
              <a:rPr lang="en-GB" sz="1800" dirty="0">
                <a:latin typeface="Courier New" panose="02070309020205020404" pitchFamily="49" charset="0"/>
              </a:rPr>
              <a:t>{0[index]}</a:t>
            </a:r>
            <a:r>
              <a:rPr lang="en-GB" sz="1800" i="1" dirty="0">
                <a:latin typeface="Courier New" panose="02070309020205020404" pitchFamily="49" charset="0"/>
              </a:rPr>
              <a:t>text</a:t>
            </a:r>
            <a:r>
              <a:rPr lang="en-GB" sz="1800" dirty="0">
                <a:latin typeface="Courier New" panose="02070309020205020404" pitchFamily="49" charset="0"/>
              </a:rPr>
              <a:t>{1[key]}".format(list, dictionary)</a:t>
            </a:r>
          </a:p>
        </p:txBody>
      </p:sp>
      <p:sp>
        <p:nvSpPr>
          <p:cNvPr id="12297" name="Text Box 26"/>
          <p:cNvSpPr txBox="1">
            <a:spLocks noChangeArrowheads="1"/>
          </p:cNvSpPr>
          <p:nvPr/>
        </p:nvSpPr>
        <p:spPr bwMode="auto">
          <a:xfrm>
            <a:off x="859879" y="3260518"/>
            <a:ext cx="6032500" cy="403225"/>
          </a:xfrm>
          <a:prstGeom prst="rect">
            <a:avLst/>
          </a:prstGeom>
          <a:solidFill>
            <a:schemeClr val="bg2">
              <a:lumMod val="40000"/>
              <a:lumOff val="6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lnSpc>
                <a:spcPct val="110000"/>
              </a:lnSpc>
              <a:spcBef>
                <a:spcPct val="15000"/>
              </a:spcBef>
              <a:spcAft>
                <a:spcPct val="10000"/>
              </a:spcAft>
              <a:buClr>
                <a:schemeClr val="bg2"/>
              </a:buClr>
            </a:pPr>
            <a:r>
              <a:rPr lang="en-GB" sz="1800" b="1" dirty="0">
                <a:latin typeface="Courier New" panose="02070309020205020404" pitchFamily="49" charset="0"/>
              </a:rPr>
              <a:t>{</a:t>
            </a:r>
            <a:r>
              <a:rPr lang="en-GB" sz="1800" dirty="0">
                <a:latin typeface="Courier New" panose="02070309020205020404" pitchFamily="49" charset="0"/>
              </a:rPr>
              <a:t> </a:t>
            </a:r>
            <a:r>
              <a:rPr lang="en-GB" sz="1800" i="1" dirty="0"/>
              <a:t>position</a:t>
            </a:r>
            <a:r>
              <a:rPr lang="en-GB" sz="1800" dirty="0">
                <a:latin typeface="Courier New" panose="02070309020205020404" pitchFamily="49" charset="0"/>
              </a:rPr>
              <a:t> : </a:t>
            </a:r>
            <a:r>
              <a:rPr lang="en-GB" sz="1800" i="1" dirty="0"/>
              <a:t>fill align sign # 0 width</a:t>
            </a:r>
            <a:r>
              <a:rPr lang="en-GB" sz="1800" dirty="0">
                <a:latin typeface="Courier New" panose="02070309020205020404" pitchFamily="49" charset="0"/>
              </a:rPr>
              <a:t> . </a:t>
            </a:r>
            <a:r>
              <a:rPr lang="en-GB" sz="1800" i="1" dirty="0"/>
              <a:t>precision type </a:t>
            </a:r>
            <a:r>
              <a:rPr lang="en-GB" sz="1800" b="1" dirty="0">
                <a:latin typeface="Courier New" panose="02070309020205020404" pitchFamily="49" charset="0"/>
              </a:rPr>
              <a:t>}</a:t>
            </a:r>
          </a:p>
        </p:txBody>
      </p:sp>
      <p:sp>
        <p:nvSpPr>
          <p:cNvPr id="12298" name="Text Box 35"/>
          <p:cNvSpPr txBox="1">
            <a:spLocks noChangeArrowheads="1"/>
          </p:cNvSpPr>
          <p:nvPr/>
        </p:nvSpPr>
        <p:spPr bwMode="auto">
          <a:xfrm>
            <a:off x="1801307" y="4982418"/>
            <a:ext cx="3752950"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i="1" dirty="0"/>
              <a:t>positions are optional if sequential (3.1)</a:t>
            </a:r>
          </a:p>
        </p:txBody>
      </p:sp>
      <p:cxnSp>
        <p:nvCxnSpPr>
          <p:cNvPr id="7" name="Straight Connector 6">
            <a:extLst>
              <a:ext uri="{FF2B5EF4-FFF2-40B4-BE49-F238E27FC236}">
                <a16:creationId xmlns:a16="http://schemas.microsoft.com/office/drawing/2014/main" id="{456A2582-E42B-4247-AB00-C789289F11EE}"/>
              </a:ext>
            </a:extLst>
          </p:cNvPr>
          <p:cNvCxnSpPr>
            <a:cxnSpLocks/>
          </p:cNvCxnSpPr>
          <p:nvPr/>
        </p:nvCxnSpPr>
        <p:spPr>
          <a:xfrm>
            <a:off x="1671846" y="4279915"/>
            <a:ext cx="932650" cy="3170"/>
          </a:xfrm>
          <a:prstGeom prst="line">
            <a:avLst/>
          </a:prstGeom>
          <a:ln w="38100">
            <a:solidFill>
              <a:srgbClr val="FF0000"/>
            </a:solidFill>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C04EDCA6-C3E6-4F1F-82DD-56DCAB4A79F9}"/>
              </a:ext>
            </a:extLst>
          </p:cNvPr>
          <p:cNvCxnSpPr>
            <a:cxnSpLocks/>
          </p:cNvCxnSpPr>
          <p:nvPr/>
        </p:nvCxnSpPr>
        <p:spPr>
          <a:xfrm>
            <a:off x="6346064" y="4270519"/>
            <a:ext cx="531889" cy="3170"/>
          </a:xfrm>
          <a:prstGeom prst="line">
            <a:avLst/>
          </a:prstGeom>
          <a:ln w="38100">
            <a:solidFill>
              <a:srgbClr val="FF0000"/>
            </a:solidFill>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72C675F6-35B5-4F88-ABF5-8EF32215CA49}"/>
              </a:ext>
            </a:extLst>
          </p:cNvPr>
          <p:cNvCxnSpPr>
            <a:cxnSpLocks/>
          </p:cNvCxnSpPr>
          <p:nvPr/>
        </p:nvCxnSpPr>
        <p:spPr>
          <a:xfrm>
            <a:off x="7118482" y="4273689"/>
            <a:ext cx="531889" cy="317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2BFCF399-39EC-4DF5-9318-1016B6FC2AF1}"/>
              </a:ext>
            </a:extLst>
          </p:cNvPr>
          <p:cNvCxnSpPr>
            <a:cxnSpLocks/>
          </p:cNvCxnSpPr>
          <p:nvPr/>
        </p:nvCxnSpPr>
        <p:spPr>
          <a:xfrm>
            <a:off x="7830884" y="4275974"/>
            <a:ext cx="531889" cy="3170"/>
          </a:xfrm>
          <a:prstGeom prst="line">
            <a:avLst/>
          </a:prstGeom>
          <a:ln w="38100">
            <a:solidFill>
              <a:srgbClr val="00B050"/>
            </a:solidFill>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99DE0392-33D8-4F45-8FDC-D485B40401C0}"/>
              </a:ext>
            </a:extLst>
          </p:cNvPr>
          <p:cNvCxnSpPr>
            <a:cxnSpLocks/>
          </p:cNvCxnSpPr>
          <p:nvPr/>
        </p:nvCxnSpPr>
        <p:spPr>
          <a:xfrm>
            <a:off x="3303833" y="4269248"/>
            <a:ext cx="815901" cy="102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4C9980D-09B1-456C-9916-6B00BC8515C2}"/>
              </a:ext>
            </a:extLst>
          </p:cNvPr>
          <p:cNvCxnSpPr>
            <a:cxnSpLocks/>
          </p:cNvCxnSpPr>
          <p:nvPr/>
        </p:nvCxnSpPr>
        <p:spPr>
          <a:xfrm>
            <a:off x="4869612" y="4278891"/>
            <a:ext cx="291153" cy="347"/>
          </a:xfrm>
          <a:prstGeom prst="line">
            <a:avLst/>
          </a:prstGeom>
          <a:ln w="38100">
            <a:solidFill>
              <a:srgbClr val="00B050"/>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EF0B0BB3-F857-672A-A0EC-7AB563D4979C}"/>
              </a:ext>
            </a:extLst>
          </p:cNvPr>
          <p:cNvSpPr txBox="1"/>
          <p:nvPr/>
        </p:nvSpPr>
        <p:spPr>
          <a:xfrm>
            <a:off x="936539" y="1444017"/>
            <a:ext cx="3984885" cy="307777"/>
          </a:xfrm>
          <a:prstGeom prst="rect">
            <a:avLst/>
          </a:prstGeom>
          <a:noFill/>
          <a:ln>
            <a:solidFill>
              <a:srgbClr val="004050"/>
            </a:solid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GB" sz="2000" i="1" dirty="0">
                <a:solidFill>
                  <a:srgbClr val="004050"/>
                </a:solidFill>
                <a:latin typeface="Montserrat"/>
              </a:rPr>
              <a:t>"</a:t>
            </a:r>
            <a:r>
              <a:rPr lang="en-GB" sz="2000" i="1" dirty="0" err="1">
                <a:solidFill>
                  <a:srgbClr val="004050"/>
                </a:solidFill>
                <a:latin typeface="Montserrat"/>
              </a:rPr>
              <a:t>string"</a:t>
            </a:r>
            <a:r>
              <a:rPr lang="en-GB" sz="2000" dirty="0" err="1">
                <a:solidFill>
                  <a:srgbClr val="004050"/>
                </a:solidFill>
                <a:latin typeface="Montserrat"/>
              </a:rPr>
              <a:t>.</a:t>
            </a:r>
            <a:r>
              <a:rPr lang="en-GB" sz="2000" dirty="0" err="1">
                <a:solidFill>
                  <a:srgbClr val="004050"/>
                </a:solidFill>
                <a:latin typeface="Courier New"/>
              </a:rPr>
              <a:t>format</a:t>
            </a:r>
            <a:r>
              <a:rPr lang="en-GB" sz="2000" dirty="0">
                <a:solidFill>
                  <a:srgbClr val="004050"/>
                </a:solidFill>
                <a:latin typeface="Courier New"/>
              </a:rPr>
              <a:t>(</a:t>
            </a:r>
            <a:r>
              <a:rPr lang="en-GB" sz="2000" i="1" dirty="0" err="1">
                <a:solidFill>
                  <a:srgbClr val="004050"/>
                </a:solidFill>
                <a:latin typeface="Montserrat"/>
              </a:rPr>
              <a:t>field_values</a:t>
            </a:r>
            <a:r>
              <a:rPr lang="en-GB" sz="2000" dirty="0">
                <a:solidFill>
                  <a:srgbClr val="004050"/>
                </a:solidFill>
                <a:latin typeface="Courier New"/>
              </a:rPr>
              <a:t>)</a:t>
            </a:r>
            <a:endParaRPr lang="en-GB" dirty="0"/>
          </a:p>
        </p:txBody>
      </p:sp>
      <p:sp>
        <p:nvSpPr>
          <p:cNvPr id="3" name="Slide Number Placeholder 2">
            <a:extLst>
              <a:ext uri="{FF2B5EF4-FFF2-40B4-BE49-F238E27FC236}">
                <a16:creationId xmlns:a16="http://schemas.microsoft.com/office/drawing/2014/main" id="{2B231B26-E035-7D73-B121-10366FD250F8}"/>
              </a:ext>
            </a:extLst>
          </p:cNvPr>
          <p:cNvSpPr>
            <a:spLocks noGrp="1"/>
          </p:cNvSpPr>
          <p:nvPr>
            <p:ph type="sldNum" sz="quarter" idx="4"/>
          </p:nvPr>
        </p:nvSpPr>
        <p:spPr/>
        <p:txBody>
          <a:bodyPr/>
          <a:lstStyle/>
          <a:p>
            <a:fld id="{EF892D59-8F09-EF4B-AD6D-DA609442F868}" type="slidenum">
              <a:rPr lang="en-GB" smtClean="0"/>
              <a:pPr/>
              <a:t>10</a:t>
            </a:fld>
            <a:endParaRPr lang="en-GB" dirty="0"/>
          </a:p>
        </p:txBody>
      </p:sp>
    </p:spTree>
    <p:extLst>
      <p:ext uri="{BB962C8B-B14F-4D97-AF65-F5344CB8AC3E}">
        <p14:creationId xmlns:p14="http://schemas.microsoft.com/office/powerpoint/2010/main" val="2594198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75238" y="348697"/>
            <a:ext cx="11517818" cy="805001"/>
          </a:xfrm>
        </p:spPr>
        <p:txBody>
          <a:bodyPr/>
          <a:lstStyle/>
          <a:p>
            <a:pPr eaLnBrk="1" hangingPunct="1"/>
            <a:r>
              <a:rPr lang="en-US" dirty="0"/>
              <a:t>String formatting example</a:t>
            </a:r>
          </a:p>
        </p:txBody>
      </p:sp>
      <p:sp>
        <p:nvSpPr>
          <p:cNvPr id="13315" name="Rectangle 3"/>
          <p:cNvSpPr>
            <a:spLocks noGrp="1" noChangeArrowheads="1"/>
          </p:cNvSpPr>
          <p:nvPr>
            <p:ph idx="1"/>
          </p:nvPr>
        </p:nvSpPr>
        <p:spPr>
          <a:xfrm>
            <a:off x="837471" y="1259885"/>
            <a:ext cx="11516239" cy="4955354"/>
          </a:xfrm>
        </p:spPr>
        <p:txBody>
          <a:bodyPr/>
          <a:lstStyle/>
          <a:p>
            <a:r>
              <a:rPr lang="en-US" b="1" dirty="0">
                <a:latin typeface="Montserrat"/>
              </a:rPr>
              <a:t>Common conversion specifiers: </a:t>
            </a:r>
            <a:endParaRPr lang="en-US" b="1" dirty="0"/>
          </a:p>
          <a:p>
            <a:pPr marL="457200" lvl="1" indent="-228600">
              <a:buFont typeface="Arial" panose="020B0604020202020204" pitchFamily="34" charset="0"/>
              <a:buChar char="•"/>
            </a:pPr>
            <a:r>
              <a:rPr lang="en-US" sz="1800" dirty="0">
                <a:latin typeface="Courier New" panose="02070309020205020404" pitchFamily="49" charset="0"/>
                <a:cs typeface="Courier New" panose="02070309020205020404" pitchFamily="49" charset="0"/>
              </a:rPr>
              <a:t>{d} </a:t>
            </a:r>
            <a:r>
              <a:rPr lang="en-US" sz="1800" dirty="0"/>
              <a:t>Treats the argument as an integer number.</a:t>
            </a:r>
          </a:p>
          <a:p>
            <a:pPr marL="457200" lvl="1" indent="-228600">
              <a:buFont typeface="Arial" panose="020B0604020202020204" pitchFamily="34" charset="0"/>
              <a:buChar char="•"/>
            </a:pPr>
            <a:r>
              <a:rPr lang="en-US" sz="1800" dirty="0">
                <a:latin typeface="Courier New" panose="02070309020205020404" pitchFamily="49" charset="0"/>
                <a:cs typeface="Courier New" panose="02070309020205020404" pitchFamily="49" charset="0"/>
              </a:rPr>
              <a:t>{s} </a:t>
            </a:r>
            <a:r>
              <a:rPr lang="en-US" sz="1800" dirty="0"/>
              <a:t>Treats the argument as a string.</a:t>
            </a:r>
          </a:p>
          <a:p>
            <a:pPr marL="457200" lvl="1" indent="-228600">
              <a:buFont typeface="Arial" panose="020B0604020202020204" pitchFamily="34" charset="0"/>
              <a:buChar char="•"/>
            </a:pPr>
            <a:r>
              <a:rPr lang="en-US" sz="1800" dirty="0">
                <a:latin typeface="Courier New" panose="02070309020205020404" pitchFamily="49" charset="0"/>
                <a:cs typeface="Courier New" panose="02070309020205020404" pitchFamily="49" charset="0"/>
              </a:rPr>
              <a:t>{f} </a:t>
            </a:r>
            <a:r>
              <a:rPr lang="en-US" sz="1800" dirty="0"/>
              <a:t>Treats the argument as a float (and rounds).</a:t>
            </a:r>
          </a:p>
          <a:p>
            <a:pPr lvl="1"/>
            <a:endParaRPr lang="en-US" dirty="0"/>
          </a:p>
          <a:p>
            <a:pPr lvl="1"/>
            <a:endParaRPr lang="en-US" dirty="0"/>
          </a:p>
        </p:txBody>
      </p:sp>
      <p:sp>
        <p:nvSpPr>
          <p:cNvPr id="13316" name="Text Box 4"/>
          <p:cNvSpPr txBox="1">
            <a:spLocks noChangeArrowheads="1"/>
          </p:cNvSpPr>
          <p:nvPr/>
        </p:nvSpPr>
        <p:spPr bwMode="auto">
          <a:xfrm>
            <a:off x="837471" y="2905880"/>
            <a:ext cx="9456424" cy="2595582"/>
          </a:xfrm>
          <a:prstGeom prst="rect">
            <a:avLst/>
          </a:prstGeom>
          <a:solidFill>
            <a:schemeClr val="tx2">
              <a:lumMod val="20000"/>
              <a:lumOff val="80000"/>
            </a:schemeClr>
          </a:solidFill>
          <a:ln w="12700">
            <a:solidFill>
              <a:srgbClr val="000000"/>
            </a:solidFill>
            <a:miter lim="800000"/>
            <a:headEnd/>
            <a:tailEnd/>
          </a:ln>
          <a:effectLst>
            <a:outerShdw blurRad="50800" dist="38100" dir="2700000" algn="tl" rotWithShape="0">
              <a:prstClr val="black">
                <a:alpha val="40000"/>
              </a:prstClr>
            </a:outerShdw>
          </a:effectLst>
        </p:spPr>
        <p:txBody>
          <a:bodyPr wrap="square" lIns="95250" tIns="50800" rIns="95250" bIns="5080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 Distance of planets to Sun in gigametres(Gm).</a:t>
            </a:r>
          </a:p>
          <a:p>
            <a:pPr>
              <a:spcBef>
                <a:spcPct val="0"/>
              </a:spcBef>
            </a:pPr>
            <a:r>
              <a:rPr lang="en-GB" sz="1800" dirty="0">
                <a:latin typeface="Courier New" panose="02070309020205020404" pitchFamily="49" charset="0"/>
                <a:cs typeface="Courier New" panose="02070309020205020404" pitchFamily="49" charset="0"/>
              </a:rPr>
              <a:t>planets = {'Mercury': 57.91,</a:t>
            </a:r>
          </a:p>
          <a:p>
            <a:pPr>
              <a:spcBef>
                <a:spcPct val="0"/>
              </a:spcBef>
            </a:pPr>
            <a:r>
              <a:rPr lang="en-GB" sz="1800" dirty="0">
                <a:latin typeface="Courier New" panose="02070309020205020404" pitchFamily="49" charset="0"/>
                <a:cs typeface="Courier New" panose="02070309020205020404" pitchFamily="49" charset="0"/>
              </a:rPr>
              <a:t>           'Venus': 108.2,</a:t>
            </a:r>
          </a:p>
          <a:p>
            <a:pPr>
              <a:spcBef>
                <a:spcPct val="0"/>
              </a:spcBef>
            </a:pPr>
            <a:r>
              <a:rPr lang="en-GB" sz="1800" dirty="0">
                <a:latin typeface="Courier New" panose="02070309020205020404" pitchFamily="49" charset="0"/>
                <a:cs typeface="Courier New" panose="02070309020205020404" pitchFamily="49" charset="0"/>
              </a:rPr>
              <a:t>           'Earth': 149.597870,</a:t>
            </a:r>
          </a:p>
          <a:p>
            <a:pPr>
              <a:spcBef>
                <a:spcPct val="0"/>
              </a:spcBef>
            </a:pPr>
            <a:r>
              <a:rPr lang="en-GB" sz="1800" dirty="0">
                <a:latin typeface="Courier New" panose="02070309020205020404" pitchFamily="49" charset="0"/>
                <a:cs typeface="Courier New" panose="02070309020205020404" pitchFamily="49" charset="0"/>
              </a:rPr>
              <a:t>           'Mars': 227.94</a:t>
            </a:r>
          </a:p>
          <a:p>
            <a:pPr>
              <a:spcBef>
                <a:spcPct val="0"/>
              </a:spcBef>
            </a:pPr>
            <a:r>
              <a:rPr lang="en-GB" sz="1800" dirty="0">
                <a:latin typeface="Courier New" panose="02070309020205020404" pitchFamily="49" charset="0"/>
                <a:cs typeface="Courier New" panose="02070309020205020404" pitchFamily="49" charset="0"/>
              </a:rPr>
              <a:t>}</a:t>
            </a:r>
          </a:p>
          <a:p>
            <a:pPr>
              <a:spcBef>
                <a:spcPct val="0"/>
              </a:spcBef>
            </a:pPr>
            <a:endParaRPr lang="en-GB" sz="1800" dirty="0">
              <a:latin typeface="Courier New" panose="02070309020205020404" pitchFamily="49" charset="0"/>
              <a:cs typeface="Courier New" panose="02070309020205020404" pitchFamily="49" charset="0"/>
            </a:endParaRPr>
          </a:p>
          <a:p>
            <a:pPr>
              <a:spcBef>
                <a:spcPct val="0"/>
              </a:spcBef>
            </a:pPr>
            <a:r>
              <a:rPr lang="en-GB" sz="1800" dirty="0">
                <a:latin typeface="Courier New" panose="02070309020205020404" pitchFamily="49" charset="0"/>
                <a:cs typeface="Courier New" panose="02070309020205020404" pitchFamily="49" charset="0"/>
              </a:rPr>
              <a:t>for </a:t>
            </a:r>
            <a:r>
              <a:rPr lang="en-GB" sz="1800" dirty="0" err="1">
                <a:latin typeface="Courier New" panose="02070309020205020404" pitchFamily="49" charset="0"/>
                <a:cs typeface="Courier New" panose="02070309020205020404" pitchFamily="49" charset="0"/>
              </a:rPr>
              <a:t>i</a:t>
            </a:r>
            <a:r>
              <a:rPr lang="en-GB" sz="1800" dirty="0">
                <a:latin typeface="Courier New" panose="02070309020205020404" pitchFamily="49" charset="0"/>
                <a:cs typeface="Courier New" panose="02070309020205020404" pitchFamily="49" charset="0"/>
              </a:rPr>
              <a:t>, key in enumerate(</a:t>
            </a:r>
            <a:r>
              <a:rPr lang="en-GB" sz="1800" dirty="0" err="1">
                <a:latin typeface="Courier New" panose="02070309020205020404" pitchFamily="49" charset="0"/>
                <a:cs typeface="Courier New" panose="02070309020205020404" pitchFamily="49" charset="0"/>
              </a:rPr>
              <a:t>planets.keys</a:t>
            </a:r>
            <a:r>
              <a:rPr lang="en-GB" sz="1800" dirty="0">
                <a:latin typeface="Courier New" panose="02070309020205020404" pitchFamily="49" charset="0"/>
                <a:cs typeface="Courier New" panose="02070309020205020404" pitchFamily="49" charset="0"/>
              </a:rPr>
              <a:t>(), 1):</a:t>
            </a:r>
          </a:p>
          <a:p>
            <a:pPr>
              <a:spcBef>
                <a:spcPct val="0"/>
              </a:spcBef>
            </a:pPr>
            <a:r>
              <a:rPr lang="en-GB" sz="1800" dirty="0">
                <a:latin typeface="Courier New"/>
                <a:cs typeface="Courier New"/>
              </a:rPr>
              <a:t>    print("{:2d} {:&lt;10s} {:06.2f} </a:t>
            </a:r>
            <a:r>
              <a:rPr lang="en-GB" sz="1800" dirty="0" err="1">
                <a:latin typeface="Courier New"/>
                <a:cs typeface="Courier New"/>
              </a:rPr>
              <a:t>Gm".format</a:t>
            </a:r>
            <a:r>
              <a:rPr lang="en-GB" sz="1800" dirty="0">
                <a:latin typeface="Courier New"/>
                <a:cs typeface="Courier New"/>
              </a:rPr>
              <a:t>(</a:t>
            </a:r>
            <a:r>
              <a:rPr lang="en-GB" sz="1800" dirty="0" err="1">
                <a:latin typeface="Courier New"/>
                <a:cs typeface="Courier New"/>
              </a:rPr>
              <a:t>i</a:t>
            </a:r>
            <a:r>
              <a:rPr lang="en-GB" sz="1800" dirty="0">
                <a:latin typeface="Courier New"/>
                <a:cs typeface="Courier New"/>
              </a:rPr>
              <a:t>, key, planets[key]))</a:t>
            </a:r>
          </a:p>
        </p:txBody>
      </p:sp>
      <p:sp>
        <p:nvSpPr>
          <p:cNvPr id="13317" name="Text Box 5"/>
          <p:cNvSpPr txBox="1">
            <a:spLocks noChangeArrowheads="1"/>
          </p:cNvSpPr>
          <p:nvPr/>
        </p:nvSpPr>
        <p:spPr bwMode="auto">
          <a:xfrm>
            <a:off x="6934644" y="5489744"/>
            <a:ext cx="3357009" cy="1200329"/>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 </a:t>
            </a:r>
            <a:r>
              <a:rPr lang="en-GB" sz="1800" dirty="0">
                <a:latin typeface="Courier New" panose="02070309020205020404" pitchFamily="49" charset="0"/>
                <a:cs typeface="Courier New" panose="02070309020205020404" pitchFamily="49" charset="0"/>
              </a:rPr>
              <a:t>1 Earth      149.60 Gm</a:t>
            </a:r>
          </a:p>
          <a:p>
            <a:pPr>
              <a:spcBef>
                <a:spcPct val="0"/>
              </a:spcBef>
            </a:pPr>
            <a:r>
              <a:rPr lang="en-GB" sz="1800" dirty="0">
                <a:latin typeface="Courier New" panose="02070309020205020404" pitchFamily="49" charset="0"/>
                <a:cs typeface="Courier New" panose="02070309020205020404" pitchFamily="49" charset="0"/>
              </a:rPr>
              <a:t> 2 Mercury    057.91 Gm</a:t>
            </a:r>
          </a:p>
          <a:p>
            <a:pPr>
              <a:spcBef>
                <a:spcPct val="0"/>
              </a:spcBef>
            </a:pPr>
            <a:r>
              <a:rPr lang="en-GB" sz="1800" dirty="0">
                <a:latin typeface="Courier New" panose="02070309020205020404" pitchFamily="49" charset="0"/>
                <a:cs typeface="Courier New" panose="02070309020205020404" pitchFamily="49" charset="0"/>
              </a:rPr>
              <a:t> 3 Mars       227.94 Gm</a:t>
            </a:r>
          </a:p>
          <a:p>
            <a:pPr>
              <a:spcBef>
                <a:spcPct val="0"/>
              </a:spcBef>
            </a:pPr>
            <a:r>
              <a:rPr lang="en-GB" sz="1800" dirty="0">
                <a:latin typeface="Courier New" panose="02070309020205020404" pitchFamily="49" charset="0"/>
                <a:cs typeface="Courier New" panose="02070309020205020404" pitchFamily="49" charset="0"/>
              </a:rPr>
              <a:t> 4 Venus      108.20 Gm</a:t>
            </a:r>
          </a:p>
        </p:txBody>
      </p:sp>
      <p:pic>
        <p:nvPicPr>
          <p:cNvPr id="3" name="Picture 2">
            <a:extLst>
              <a:ext uri="{FF2B5EF4-FFF2-40B4-BE49-F238E27FC236}">
                <a16:creationId xmlns:a16="http://schemas.microsoft.com/office/drawing/2014/main" id="{6ECB5170-DE1F-3248-E832-75CE12A14FB9}"/>
              </a:ext>
            </a:extLst>
          </p:cNvPr>
          <p:cNvPicPr>
            <a:picLocks noChangeAspect="1"/>
          </p:cNvPicPr>
          <p:nvPr/>
        </p:nvPicPr>
        <p:blipFill>
          <a:blip r:embed="rId3"/>
          <a:stretch>
            <a:fillRect/>
          </a:stretch>
        </p:blipFill>
        <p:spPr>
          <a:xfrm>
            <a:off x="11032772" y="0"/>
            <a:ext cx="1218796" cy="6858000"/>
          </a:xfrm>
          <a:prstGeom prst="rect">
            <a:avLst/>
          </a:prstGeom>
        </p:spPr>
      </p:pic>
      <p:sp>
        <p:nvSpPr>
          <p:cNvPr id="2" name="Slide Number Placeholder 1">
            <a:extLst>
              <a:ext uri="{FF2B5EF4-FFF2-40B4-BE49-F238E27FC236}">
                <a16:creationId xmlns:a16="http://schemas.microsoft.com/office/drawing/2014/main" id="{50A768E1-385E-EC3B-1682-09FC1AEA588B}"/>
              </a:ext>
            </a:extLst>
          </p:cNvPr>
          <p:cNvSpPr>
            <a:spLocks noGrp="1"/>
          </p:cNvSpPr>
          <p:nvPr>
            <p:ph type="sldNum" sz="quarter" idx="4"/>
          </p:nvPr>
        </p:nvSpPr>
        <p:spPr/>
        <p:txBody>
          <a:bodyPr/>
          <a:lstStyle/>
          <a:p>
            <a:fld id="{EF892D59-8F09-EF4B-AD6D-DA609442F868}" type="slidenum">
              <a:rPr lang="en-GB" smtClean="0"/>
              <a:pPr/>
              <a:t>11</a:t>
            </a:fld>
            <a:endParaRPr lang="en-GB" dirty="0"/>
          </a:p>
        </p:txBody>
      </p:sp>
    </p:spTree>
    <p:extLst>
      <p:ext uri="{BB962C8B-B14F-4D97-AF65-F5344CB8AC3E}">
        <p14:creationId xmlns:p14="http://schemas.microsoft.com/office/powerpoint/2010/main" val="2005280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023365" y="340677"/>
            <a:ext cx="11517818" cy="805001"/>
          </a:xfrm>
        </p:spPr>
        <p:txBody>
          <a:bodyPr/>
          <a:lstStyle/>
          <a:p>
            <a:pPr eaLnBrk="1" hangingPunct="1"/>
            <a:r>
              <a:rPr lang="en-GB" dirty="0"/>
              <a:t>Other string formatting aids</a:t>
            </a:r>
          </a:p>
        </p:txBody>
      </p:sp>
      <p:sp>
        <p:nvSpPr>
          <p:cNvPr id="14339" name="Rectangle 3"/>
          <p:cNvSpPr>
            <a:spLocks noGrp="1" noChangeArrowheads="1"/>
          </p:cNvSpPr>
          <p:nvPr>
            <p:ph idx="1"/>
          </p:nvPr>
        </p:nvSpPr>
        <p:spPr>
          <a:xfrm>
            <a:off x="675761" y="1223877"/>
            <a:ext cx="11516239" cy="4955354"/>
          </a:xfrm>
        </p:spPr>
        <p:txBody>
          <a:bodyPr/>
          <a:lstStyle/>
          <a:p>
            <a:r>
              <a:rPr lang="en-GB" b="1" dirty="0"/>
              <a:t>Often more efficient and easier</a:t>
            </a:r>
          </a:p>
          <a:p>
            <a:pPr marL="457200" lvl="1" indent="-228600">
              <a:buFont typeface="Arial" panose="020B0604020202020204" pitchFamily="34" charset="0"/>
              <a:buChar char="•"/>
            </a:pPr>
            <a:r>
              <a:rPr lang="en-GB" sz="1800" b="0" i="1" dirty="0" err="1">
                <a:latin typeface="Montserrat"/>
              </a:rPr>
              <a:t>string</a:t>
            </a:r>
            <a:r>
              <a:rPr lang="en-GB" sz="1800" dirty="0" err="1">
                <a:latin typeface="Courier New"/>
                <a:cs typeface="Courier New"/>
              </a:rPr>
              <a:t>.capitalize</a:t>
            </a:r>
            <a:r>
              <a:rPr lang="en-GB" sz="1800" dirty="0">
                <a:latin typeface="Courier New"/>
                <a:cs typeface="Courier New"/>
              </a:rPr>
              <a:t>()</a:t>
            </a:r>
          </a:p>
          <a:p>
            <a:pPr marL="457200" lvl="1" indent="-228600">
              <a:buFont typeface="Arial" panose="020B0604020202020204" pitchFamily="34" charset="0"/>
              <a:buChar char="•"/>
            </a:pPr>
            <a:r>
              <a:rPr lang="en-GB" sz="1800" b="0" i="1" dirty="0" err="1">
                <a:latin typeface="Montserrat"/>
              </a:rPr>
              <a:t>string</a:t>
            </a:r>
            <a:r>
              <a:rPr lang="en-GB" sz="1800" dirty="0" err="1">
                <a:latin typeface="Courier New"/>
                <a:cs typeface="Courier New"/>
              </a:rPr>
              <a:t>.lower</a:t>
            </a:r>
            <a:r>
              <a:rPr lang="en-GB" sz="1800" dirty="0">
                <a:latin typeface="Courier New"/>
                <a:cs typeface="Courier New"/>
              </a:rPr>
              <a:t>()/</a:t>
            </a:r>
            <a:r>
              <a:rPr lang="en-GB" sz="1800" b="0" i="1" dirty="0">
                <a:latin typeface="Montserrat"/>
              </a:rPr>
              <a:t> </a:t>
            </a:r>
            <a:r>
              <a:rPr lang="en-GB" sz="1800" b="0" i="1" dirty="0" err="1">
                <a:latin typeface="Montserrat"/>
              </a:rPr>
              <a:t>string</a:t>
            </a:r>
            <a:r>
              <a:rPr lang="en-GB" sz="1800" dirty="0" err="1">
                <a:latin typeface="Courier New"/>
                <a:cs typeface="Courier New"/>
              </a:rPr>
              <a:t>.upper</a:t>
            </a:r>
            <a:r>
              <a:rPr lang="en-GB" sz="1800" dirty="0">
                <a:latin typeface="Courier New"/>
                <a:cs typeface="Courier New"/>
              </a:rPr>
              <a:t>()</a:t>
            </a:r>
          </a:p>
          <a:p>
            <a:pPr marL="457200" lvl="1" indent="-228600">
              <a:buFont typeface="Arial" panose="020B0604020202020204" pitchFamily="34" charset="0"/>
              <a:buChar char="•"/>
            </a:pPr>
            <a:r>
              <a:rPr lang="en-GB" sz="1800" b="0" i="1" dirty="0" err="1">
                <a:latin typeface="Montserrat"/>
              </a:rPr>
              <a:t>string</a:t>
            </a:r>
            <a:r>
              <a:rPr lang="en-GB" sz="1800" dirty="0" err="1">
                <a:latin typeface="Courier New"/>
                <a:cs typeface="Courier New"/>
              </a:rPr>
              <a:t>.center</a:t>
            </a:r>
            <a:r>
              <a:rPr lang="en-GB" sz="1800" dirty="0">
                <a:latin typeface="Courier New"/>
                <a:cs typeface="Courier New"/>
              </a:rPr>
              <a:t>()</a:t>
            </a:r>
          </a:p>
          <a:p>
            <a:pPr marL="457200" lvl="1" indent="-228600">
              <a:buFont typeface="Arial" panose="020B0604020202020204" pitchFamily="34" charset="0"/>
              <a:buChar char="•"/>
            </a:pPr>
            <a:r>
              <a:rPr lang="en-GB" sz="1800" b="0" i="1" dirty="0" err="1">
                <a:latin typeface="Montserrat"/>
              </a:rPr>
              <a:t>string</a:t>
            </a:r>
            <a:r>
              <a:rPr lang="en-GB" sz="1800" dirty="0" err="1">
                <a:latin typeface="Courier New"/>
                <a:cs typeface="Courier New"/>
              </a:rPr>
              <a:t>.ljust</a:t>
            </a:r>
            <a:r>
              <a:rPr lang="en-GB" sz="1800" dirty="0">
                <a:latin typeface="Courier New"/>
                <a:cs typeface="Courier New"/>
              </a:rPr>
              <a:t>()</a:t>
            </a:r>
          </a:p>
          <a:p>
            <a:pPr marL="457200" lvl="1" indent="-228600">
              <a:buFont typeface="Arial" panose="020B0604020202020204" pitchFamily="34" charset="0"/>
              <a:buChar char="•"/>
            </a:pPr>
            <a:r>
              <a:rPr lang="en-GB" sz="1800" b="0" i="1" dirty="0" err="1">
                <a:latin typeface="Montserrat"/>
              </a:rPr>
              <a:t>string</a:t>
            </a:r>
            <a:r>
              <a:rPr lang="en-GB" sz="1800" dirty="0" err="1">
                <a:latin typeface="Courier New"/>
                <a:cs typeface="Courier New"/>
              </a:rPr>
              <a:t>.rjust</a:t>
            </a:r>
            <a:r>
              <a:rPr lang="en-GB" sz="1800" dirty="0">
                <a:latin typeface="Courier New"/>
                <a:cs typeface="Courier New"/>
              </a:rPr>
              <a:t>()</a:t>
            </a:r>
          </a:p>
          <a:p>
            <a:pPr marL="457200" lvl="1" indent="-228600">
              <a:buFont typeface="Arial" panose="020B0604020202020204" pitchFamily="34" charset="0"/>
              <a:buChar char="•"/>
            </a:pPr>
            <a:r>
              <a:rPr lang="en-GB" sz="1800" b="0" i="1" dirty="0" err="1">
                <a:latin typeface="Montserrat"/>
              </a:rPr>
              <a:t>string</a:t>
            </a:r>
            <a:r>
              <a:rPr lang="en-GB" sz="1800" dirty="0" err="1">
                <a:latin typeface="Courier New"/>
                <a:cs typeface="Courier New"/>
              </a:rPr>
              <a:t>.zfill</a:t>
            </a:r>
            <a:r>
              <a:rPr lang="en-GB" sz="1800" dirty="0">
                <a:latin typeface="Courier New"/>
                <a:cs typeface="Courier New"/>
              </a:rPr>
              <a:t>()</a:t>
            </a:r>
          </a:p>
        </p:txBody>
      </p:sp>
      <p:sp>
        <p:nvSpPr>
          <p:cNvPr id="14340" name="Text Box 4"/>
          <p:cNvSpPr txBox="1">
            <a:spLocks noChangeArrowheads="1"/>
          </p:cNvSpPr>
          <p:nvPr/>
        </p:nvSpPr>
        <p:spPr bwMode="auto">
          <a:xfrm>
            <a:off x="816990" y="3991679"/>
            <a:ext cx="5021262" cy="23272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2000" dirty="0">
                <a:latin typeface="Courier New" panose="02070309020205020404" pitchFamily="49" charset="0"/>
              </a:rPr>
              <a:t>text = 'hello'</a:t>
            </a:r>
          </a:p>
          <a:p>
            <a:pPr>
              <a:spcBef>
                <a:spcPct val="0"/>
              </a:spcBef>
            </a:pPr>
            <a:endParaRPr lang="en-GB" sz="600" dirty="0">
              <a:latin typeface="Courier New" panose="02070309020205020404" pitchFamily="49" charset="0"/>
            </a:endParaRPr>
          </a:p>
          <a:p>
            <a:pPr>
              <a:spcBef>
                <a:spcPct val="0"/>
              </a:spcBef>
            </a:pPr>
            <a:r>
              <a:rPr lang="en-GB" sz="2000" dirty="0">
                <a:latin typeface="Courier New" panose="02070309020205020404" pitchFamily="49" charset="0"/>
              </a:rPr>
              <a:t>print(</a:t>
            </a:r>
            <a:r>
              <a:rPr lang="en-GB" sz="2000" dirty="0" err="1">
                <a:latin typeface="Courier New" panose="02070309020205020404" pitchFamily="49" charset="0"/>
              </a:rPr>
              <a:t>text.capitalize</a:t>
            </a:r>
            <a:r>
              <a:rPr lang="en-GB" sz="2000" dirty="0">
                <a:latin typeface="Courier New" panose="02070309020205020404" pitchFamily="49" charset="0"/>
              </a:rPr>
              <a:t>())</a:t>
            </a:r>
          </a:p>
          <a:p>
            <a:pPr>
              <a:spcBef>
                <a:spcPct val="0"/>
              </a:spcBef>
            </a:pPr>
            <a:r>
              <a:rPr lang="en-GB" sz="2000" dirty="0">
                <a:latin typeface="Courier New" panose="02070309020205020404" pitchFamily="49" charset="0"/>
              </a:rPr>
              <a:t>print(</a:t>
            </a:r>
            <a:r>
              <a:rPr lang="en-GB" sz="2000" dirty="0" err="1">
                <a:latin typeface="Courier New" panose="02070309020205020404" pitchFamily="49" charset="0"/>
              </a:rPr>
              <a:t>text.upper</a:t>
            </a:r>
            <a:r>
              <a:rPr lang="en-GB" sz="2000" dirty="0">
                <a:latin typeface="Courier New" panose="02070309020205020404" pitchFamily="49" charset="0"/>
              </a:rPr>
              <a:t>())</a:t>
            </a:r>
          </a:p>
          <a:p>
            <a:pPr>
              <a:spcBef>
                <a:spcPct val="0"/>
              </a:spcBef>
            </a:pPr>
            <a:r>
              <a:rPr lang="en-GB" sz="2000" dirty="0">
                <a:latin typeface="Courier New" panose="02070309020205020404" pitchFamily="49" charset="0"/>
              </a:rPr>
              <a:t>print('&lt;'+</a:t>
            </a:r>
            <a:r>
              <a:rPr lang="en-GB" sz="2000" dirty="0" err="1">
                <a:latin typeface="Courier New" panose="02070309020205020404" pitchFamily="49" charset="0"/>
              </a:rPr>
              <a:t>text.center</a:t>
            </a:r>
            <a:r>
              <a:rPr lang="en-GB" sz="2000" dirty="0">
                <a:latin typeface="Courier New" panose="02070309020205020404" pitchFamily="49" charset="0"/>
              </a:rPr>
              <a:t>(12)+'&gt;')</a:t>
            </a:r>
          </a:p>
          <a:p>
            <a:pPr>
              <a:spcBef>
                <a:spcPct val="0"/>
              </a:spcBef>
            </a:pPr>
            <a:r>
              <a:rPr lang="en-GB" sz="2000" dirty="0">
                <a:latin typeface="Courier New" panose="02070309020205020404" pitchFamily="49" charset="0"/>
              </a:rPr>
              <a:t>print('&lt;'+</a:t>
            </a:r>
            <a:r>
              <a:rPr lang="en-GB" sz="2000" dirty="0" err="1">
                <a:latin typeface="Courier New" panose="02070309020205020404" pitchFamily="49" charset="0"/>
              </a:rPr>
              <a:t>text.ljust</a:t>
            </a:r>
            <a:r>
              <a:rPr lang="en-GB" sz="2000" dirty="0">
                <a:latin typeface="Courier New" panose="02070309020205020404" pitchFamily="49" charset="0"/>
              </a:rPr>
              <a:t>(12)+'&gt;')</a:t>
            </a:r>
          </a:p>
          <a:p>
            <a:pPr>
              <a:spcBef>
                <a:spcPct val="0"/>
              </a:spcBef>
            </a:pPr>
            <a:r>
              <a:rPr lang="en-GB" sz="2000" dirty="0">
                <a:latin typeface="Courier New" panose="02070309020205020404" pitchFamily="49" charset="0"/>
              </a:rPr>
              <a:t>print('&lt;'+</a:t>
            </a:r>
            <a:r>
              <a:rPr lang="en-GB" sz="2000" dirty="0" err="1">
                <a:latin typeface="Courier New" panose="02070309020205020404" pitchFamily="49" charset="0"/>
              </a:rPr>
              <a:t>text.rjust</a:t>
            </a:r>
            <a:r>
              <a:rPr lang="en-GB" sz="2000" dirty="0">
                <a:latin typeface="Courier New" panose="02070309020205020404" pitchFamily="49" charset="0"/>
              </a:rPr>
              <a:t>(12)+'&gt;')</a:t>
            </a:r>
          </a:p>
          <a:p>
            <a:pPr>
              <a:spcBef>
                <a:spcPct val="0"/>
              </a:spcBef>
            </a:pPr>
            <a:r>
              <a:rPr lang="en-GB" sz="2000" dirty="0">
                <a:latin typeface="Courier New" panose="02070309020205020404" pitchFamily="49" charset="0"/>
              </a:rPr>
              <a:t>print('&lt;'+</a:t>
            </a:r>
            <a:r>
              <a:rPr lang="en-GB" sz="2000" dirty="0" err="1">
                <a:latin typeface="Courier New" panose="02070309020205020404" pitchFamily="49" charset="0"/>
              </a:rPr>
              <a:t>text.zfill</a:t>
            </a:r>
            <a:r>
              <a:rPr lang="en-GB" sz="2000" dirty="0">
                <a:latin typeface="Courier New" panose="02070309020205020404" pitchFamily="49" charset="0"/>
              </a:rPr>
              <a:t>(12)+'&gt;')</a:t>
            </a:r>
          </a:p>
        </p:txBody>
      </p:sp>
      <p:sp>
        <p:nvSpPr>
          <p:cNvPr id="14341" name="Text Box 5"/>
          <p:cNvSpPr txBox="1">
            <a:spLocks noChangeArrowheads="1"/>
          </p:cNvSpPr>
          <p:nvPr/>
        </p:nvSpPr>
        <p:spPr bwMode="auto">
          <a:xfrm>
            <a:off x="5693036" y="4806169"/>
            <a:ext cx="3408363" cy="193040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2000" dirty="0">
                <a:latin typeface="Courier New" panose="02070309020205020404" pitchFamily="49" charset="0"/>
              </a:rPr>
              <a:t>Hello</a:t>
            </a:r>
          </a:p>
          <a:p>
            <a:pPr>
              <a:spcBef>
                <a:spcPct val="0"/>
              </a:spcBef>
            </a:pPr>
            <a:r>
              <a:rPr lang="en-GB" sz="2000" dirty="0">
                <a:latin typeface="Courier New" panose="02070309020205020404" pitchFamily="49" charset="0"/>
              </a:rPr>
              <a:t>HELLO</a:t>
            </a:r>
          </a:p>
          <a:p>
            <a:pPr>
              <a:spcBef>
                <a:spcPct val="0"/>
              </a:spcBef>
            </a:pPr>
            <a:r>
              <a:rPr lang="en-GB" sz="2000" dirty="0">
                <a:latin typeface="Courier New" panose="02070309020205020404" pitchFamily="49" charset="0"/>
              </a:rPr>
              <a:t>&lt;   hello    &gt;</a:t>
            </a:r>
          </a:p>
          <a:p>
            <a:pPr>
              <a:spcBef>
                <a:spcPct val="0"/>
              </a:spcBef>
            </a:pPr>
            <a:r>
              <a:rPr lang="en-GB" sz="2000" dirty="0">
                <a:latin typeface="Courier New" panose="02070309020205020404" pitchFamily="49" charset="0"/>
              </a:rPr>
              <a:t>&lt;hello       &gt;</a:t>
            </a:r>
          </a:p>
          <a:p>
            <a:pPr>
              <a:spcBef>
                <a:spcPct val="0"/>
              </a:spcBef>
            </a:pPr>
            <a:r>
              <a:rPr lang="en-GB" sz="2000" dirty="0">
                <a:latin typeface="Courier New" panose="02070309020205020404" pitchFamily="49" charset="0"/>
              </a:rPr>
              <a:t>&lt;       hello&gt;</a:t>
            </a:r>
          </a:p>
          <a:p>
            <a:pPr>
              <a:spcBef>
                <a:spcPct val="0"/>
              </a:spcBef>
            </a:pPr>
            <a:r>
              <a:rPr lang="en-GB" sz="2000" dirty="0">
                <a:latin typeface="Courier New" panose="02070309020205020404" pitchFamily="49" charset="0"/>
              </a:rPr>
              <a:t>&lt;0000000hello&gt;</a:t>
            </a:r>
          </a:p>
        </p:txBody>
      </p:sp>
      <p:sp>
        <p:nvSpPr>
          <p:cNvPr id="2" name="Slide Number Placeholder 1">
            <a:extLst>
              <a:ext uri="{FF2B5EF4-FFF2-40B4-BE49-F238E27FC236}">
                <a16:creationId xmlns:a16="http://schemas.microsoft.com/office/drawing/2014/main" id="{72362CDF-1D48-09C5-D7D5-BBC7FEBF082A}"/>
              </a:ext>
            </a:extLst>
          </p:cNvPr>
          <p:cNvSpPr>
            <a:spLocks noGrp="1"/>
          </p:cNvSpPr>
          <p:nvPr>
            <p:ph type="sldNum" sz="quarter" idx="4"/>
          </p:nvPr>
        </p:nvSpPr>
        <p:spPr/>
        <p:txBody>
          <a:bodyPr/>
          <a:lstStyle/>
          <a:p>
            <a:fld id="{EF892D59-8F09-EF4B-AD6D-DA609442F868}" type="slidenum">
              <a:rPr lang="en-GB" smtClean="0"/>
              <a:pPr/>
              <a:t>12</a:t>
            </a:fld>
            <a:endParaRPr lang="en-GB" dirty="0"/>
          </a:p>
        </p:txBody>
      </p:sp>
    </p:spTree>
    <p:extLst>
      <p:ext uri="{BB962C8B-B14F-4D97-AF65-F5344CB8AC3E}">
        <p14:creationId xmlns:p14="http://schemas.microsoft.com/office/powerpoint/2010/main" val="1382511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491" y="323933"/>
            <a:ext cx="11517818" cy="805001"/>
          </a:xfrm>
        </p:spPr>
        <p:txBody>
          <a:bodyPr/>
          <a:lstStyle/>
          <a:p>
            <a:r>
              <a:rPr lang="en-US" dirty="0"/>
              <a:t>Literal string interpolation</a:t>
            </a:r>
          </a:p>
        </p:txBody>
      </p:sp>
      <p:sp>
        <p:nvSpPr>
          <p:cNvPr id="3" name="Content Placeholder 2"/>
          <p:cNvSpPr>
            <a:spLocks noGrp="1"/>
          </p:cNvSpPr>
          <p:nvPr>
            <p:ph idx="1"/>
          </p:nvPr>
        </p:nvSpPr>
        <p:spPr>
          <a:xfrm>
            <a:off x="675761" y="1272004"/>
            <a:ext cx="11516239" cy="4955354"/>
          </a:xfrm>
        </p:spPr>
        <p:txBody>
          <a:bodyPr/>
          <a:lstStyle/>
          <a:p>
            <a:pPr>
              <a:spcBef>
                <a:spcPts val="600"/>
              </a:spcBef>
            </a:pPr>
            <a:r>
              <a:rPr lang="en-US" b="1" dirty="0"/>
              <a:t>Python expressions may be embedded inside a text string.</a:t>
            </a:r>
          </a:p>
          <a:p>
            <a:pPr marL="457200" lvl="1" indent="-228600">
              <a:spcBef>
                <a:spcPts val="600"/>
              </a:spcBef>
              <a:buFont typeface="Arial" panose="020B0604020202020204" pitchFamily="34" charset="0"/>
              <a:buChar char="•"/>
            </a:pPr>
            <a:r>
              <a:rPr lang="en-US" sz="1800" dirty="0"/>
              <a:t>Available from Python 3.6</a:t>
            </a:r>
          </a:p>
          <a:p>
            <a:pPr>
              <a:spcBef>
                <a:spcPts val="600"/>
              </a:spcBef>
            </a:pPr>
            <a:r>
              <a:rPr lang="en-US" b="1" dirty="0"/>
              <a:t>Special string literals are used, known as </a:t>
            </a:r>
            <a:r>
              <a:rPr lang="en-US" b="1" i="1" dirty="0"/>
              <a:t>f-strings.</a:t>
            </a:r>
          </a:p>
          <a:p>
            <a:pPr marL="457200" lvl="1" indent="-228600">
              <a:spcBef>
                <a:spcPts val="600"/>
              </a:spcBef>
              <a:buFont typeface="Arial" panose="020B0604020202020204" pitchFamily="34" charset="0"/>
              <a:buChar char="•"/>
            </a:pPr>
            <a:r>
              <a:rPr lang="en-US" sz="1800" dirty="0"/>
              <a:t>Embed a python expression inside braces.</a:t>
            </a:r>
          </a:p>
          <a:p>
            <a:pPr lvl="1">
              <a:spcBef>
                <a:spcPts val="600"/>
              </a:spcBef>
            </a:pPr>
            <a:endParaRPr lang="en-US" dirty="0"/>
          </a:p>
          <a:p>
            <a:pPr marL="457200" lvl="1" indent="0">
              <a:spcBef>
                <a:spcPts val="600"/>
              </a:spcBef>
              <a:buNone/>
            </a:pPr>
            <a:endParaRPr lang="en-US" dirty="0"/>
          </a:p>
          <a:p>
            <a:pPr>
              <a:spcBef>
                <a:spcPts val="600"/>
              </a:spcBef>
            </a:pPr>
            <a:r>
              <a:rPr lang="en-US" b="1" dirty="0"/>
              <a:t>String formats may be embedded</a:t>
            </a:r>
          </a:p>
          <a:p>
            <a:pPr marL="457200" lvl="1" indent="-228600">
              <a:spcBef>
                <a:spcPts val="600"/>
              </a:spcBef>
              <a:buFont typeface="Arial" panose="020B0604020202020204" pitchFamily="34" charset="0"/>
              <a:buChar char="•"/>
            </a:pPr>
            <a:r>
              <a:rPr lang="en-US" sz="1800" dirty="0"/>
              <a:t>Syntax is </a:t>
            </a:r>
            <a:r>
              <a:rPr lang="en-US" sz="1800" dirty="0">
                <a:latin typeface="Courier New"/>
                <a:cs typeface="Courier New"/>
              </a:rPr>
              <a:t>{value:{width}.{precision}}</a:t>
            </a:r>
          </a:p>
          <a:p>
            <a:pPr marL="457200" lvl="1" indent="-228600">
              <a:spcBef>
                <a:spcPts val="600"/>
              </a:spcBef>
              <a:buFont typeface="Arial" panose="020B0604020202020204" pitchFamily="34" charset="0"/>
              <a:buChar char="•"/>
            </a:pPr>
            <a:r>
              <a:rPr lang="en-US" sz="1800" dirty="0"/>
              <a:t>This is the planets example rewritten to use an f-string.</a:t>
            </a:r>
          </a:p>
        </p:txBody>
      </p:sp>
      <p:sp>
        <p:nvSpPr>
          <p:cNvPr id="5" name="TextBox 4"/>
          <p:cNvSpPr txBox="1"/>
          <p:nvPr/>
        </p:nvSpPr>
        <p:spPr>
          <a:xfrm>
            <a:off x="802720" y="3111768"/>
            <a:ext cx="6667395" cy="646331"/>
          </a:xfrm>
          <a:prstGeom prst="rect">
            <a:avLst/>
          </a:prstGeom>
          <a:solidFill>
            <a:schemeClr val="tx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r>
              <a:rPr lang="en-US" dirty="0">
                <a:latin typeface="Courier New"/>
                <a:cs typeface="Courier New"/>
              </a:rPr>
              <a:t>names = ['Tom', 'Harry', 'Jane', 'Mary']</a:t>
            </a:r>
          </a:p>
          <a:p>
            <a:r>
              <a:rPr lang="en-US" dirty="0">
                <a:latin typeface="Courier New"/>
                <a:cs typeface="Courier New"/>
              </a:rPr>
              <a:t>s = </a:t>
            </a:r>
            <a:r>
              <a:rPr lang="en-US" b="1" dirty="0" err="1">
                <a:latin typeface="Courier New"/>
                <a:cs typeface="Courier New"/>
              </a:rPr>
              <a:t>f"</a:t>
            </a:r>
            <a:r>
              <a:rPr lang="en-US" dirty="0" err="1">
                <a:latin typeface="Courier New"/>
                <a:cs typeface="Courier New"/>
              </a:rPr>
              <a:t>The</a:t>
            </a:r>
            <a:r>
              <a:rPr lang="en-US" dirty="0">
                <a:latin typeface="Courier New"/>
                <a:cs typeface="Courier New"/>
              </a:rPr>
              <a:t> third member is </a:t>
            </a:r>
            <a:r>
              <a:rPr lang="en-US" b="1" dirty="0">
                <a:latin typeface="Courier New"/>
                <a:cs typeface="Courier New"/>
              </a:rPr>
              <a:t>{</a:t>
            </a:r>
            <a:r>
              <a:rPr lang="en-US" dirty="0">
                <a:latin typeface="Courier New"/>
                <a:cs typeface="Courier New"/>
              </a:rPr>
              <a:t>names[3]</a:t>
            </a:r>
            <a:r>
              <a:rPr lang="en-US" b="1" dirty="0">
                <a:latin typeface="Courier New"/>
                <a:cs typeface="Courier New"/>
              </a:rPr>
              <a:t>}</a:t>
            </a:r>
            <a:r>
              <a:rPr lang="en-US" dirty="0">
                <a:latin typeface="Courier New"/>
                <a:cs typeface="Courier New"/>
              </a:rPr>
              <a:t>"</a:t>
            </a:r>
          </a:p>
        </p:txBody>
      </p:sp>
      <p:sp>
        <p:nvSpPr>
          <p:cNvPr id="6" name="TextBox 5"/>
          <p:cNvSpPr txBox="1"/>
          <p:nvPr/>
        </p:nvSpPr>
        <p:spPr>
          <a:xfrm>
            <a:off x="802720" y="5314859"/>
            <a:ext cx="8649899" cy="707886"/>
          </a:xfrm>
          <a:prstGeom prst="rect">
            <a:avLst/>
          </a:prstGeom>
          <a:solidFill>
            <a:schemeClr val="tx2">
              <a:lumMod val="20000"/>
              <a:lumOff val="80000"/>
            </a:schemeClr>
          </a:solidFill>
          <a:ln>
            <a:solidFill>
              <a:schemeClr val="tx1"/>
            </a:solidFill>
          </a:ln>
          <a:effectLst>
            <a:outerShdw blurRad="50800" dist="38100" dir="2700000" algn="tl" rotWithShape="0">
              <a:prstClr val="black">
                <a:alpha val="40000"/>
              </a:prstClr>
            </a:outerShdw>
          </a:effectLst>
        </p:spPr>
        <p:txBody>
          <a:bodyPr wrap="none" lIns="91440" tIns="45720" rIns="91440" bIns="45720" rtlCol="0" anchor="t">
            <a:spAutoFit/>
          </a:bodyPr>
          <a:lstStyle/>
          <a:p>
            <a:r>
              <a:rPr lang="en-US" sz="2000" dirty="0">
                <a:latin typeface="Courier New"/>
                <a:cs typeface="Courier New"/>
              </a:rPr>
              <a:t>for </a:t>
            </a:r>
            <a:r>
              <a:rPr lang="en-US" sz="2000" dirty="0" err="1">
                <a:latin typeface="Courier New"/>
                <a:cs typeface="Courier New"/>
              </a:rPr>
              <a:t>i</a:t>
            </a:r>
            <a:r>
              <a:rPr lang="en-US" sz="2000" dirty="0">
                <a:latin typeface="Courier New"/>
                <a:cs typeface="Courier New"/>
              </a:rPr>
              <a:t>, key in enumerate(</a:t>
            </a:r>
            <a:r>
              <a:rPr lang="en-US" sz="2000" dirty="0" err="1">
                <a:latin typeface="Courier New"/>
                <a:cs typeface="Courier New"/>
              </a:rPr>
              <a:t>planets.keys</a:t>
            </a:r>
            <a:r>
              <a:rPr lang="en-US" sz="2000" dirty="0">
                <a:latin typeface="Courier New"/>
                <a:cs typeface="Courier New"/>
              </a:rPr>
              <a:t>(), 1):</a:t>
            </a:r>
          </a:p>
          <a:p>
            <a:r>
              <a:rPr lang="en-US" sz="2000" dirty="0">
                <a:latin typeface="Courier New"/>
                <a:cs typeface="Courier New"/>
              </a:rPr>
              <a:t>    print(</a:t>
            </a:r>
            <a:r>
              <a:rPr lang="en-US" sz="2000" b="1" dirty="0">
                <a:latin typeface="Courier New"/>
                <a:cs typeface="Courier New"/>
              </a:rPr>
              <a:t>f</a:t>
            </a:r>
            <a:r>
              <a:rPr lang="en-US" sz="2000" dirty="0">
                <a:latin typeface="Courier New"/>
                <a:cs typeface="Courier New"/>
              </a:rPr>
              <a:t>"{i:2d} {key:&lt;10s} {planets[key]:06.2f} Gm")</a:t>
            </a:r>
          </a:p>
        </p:txBody>
      </p:sp>
      <p:sp>
        <p:nvSpPr>
          <p:cNvPr id="4" name="Slide Number Placeholder 3">
            <a:extLst>
              <a:ext uri="{FF2B5EF4-FFF2-40B4-BE49-F238E27FC236}">
                <a16:creationId xmlns:a16="http://schemas.microsoft.com/office/drawing/2014/main" id="{CEE2FE88-7569-8E96-4D26-BD03F81BDAA8}"/>
              </a:ext>
            </a:extLst>
          </p:cNvPr>
          <p:cNvSpPr>
            <a:spLocks noGrp="1"/>
          </p:cNvSpPr>
          <p:nvPr>
            <p:ph type="sldNum" sz="quarter" idx="4"/>
          </p:nvPr>
        </p:nvSpPr>
        <p:spPr/>
        <p:txBody>
          <a:bodyPr/>
          <a:lstStyle/>
          <a:p>
            <a:fld id="{EF892D59-8F09-EF4B-AD6D-DA609442F868}" type="slidenum">
              <a:rPr lang="en-GB" smtClean="0"/>
              <a:pPr/>
              <a:t>13</a:t>
            </a:fld>
            <a:endParaRPr lang="en-GB" dirty="0"/>
          </a:p>
        </p:txBody>
      </p:sp>
    </p:spTree>
    <p:extLst>
      <p:ext uri="{BB962C8B-B14F-4D97-AF65-F5344CB8AC3E}">
        <p14:creationId xmlns:p14="http://schemas.microsoft.com/office/powerpoint/2010/main" val="3868768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864" y="323418"/>
            <a:ext cx="11517818" cy="805001"/>
          </a:xfrm>
        </p:spPr>
        <p:txBody>
          <a:bodyPr/>
          <a:lstStyle/>
          <a:p>
            <a:r>
              <a:rPr lang="en-US" dirty="0"/>
              <a:t>Literal string interpolation (2)</a:t>
            </a:r>
          </a:p>
        </p:txBody>
      </p:sp>
      <p:sp>
        <p:nvSpPr>
          <p:cNvPr id="3" name="Content Placeholder 2"/>
          <p:cNvSpPr>
            <a:spLocks noGrp="1"/>
          </p:cNvSpPr>
          <p:nvPr>
            <p:ph idx="1"/>
          </p:nvPr>
        </p:nvSpPr>
        <p:spPr/>
        <p:txBody>
          <a:bodyPr>
            <a:normAutofit/>
          </a:bodyPr>
          <a:lstStyle/>
          <a:p>
            <a:r>
              <a:rPr lang="en-US" b="1" dirty="0"/>
              <a:t>Not just variable values may be represented:</a:t>
            </a:r>
          </a:p>
          <a:p>
            <a:endParaRPr lang="en-US" dirty="0"/>
          </a:p>
          <a:p>
            <a:endParaRPr lang="en-US" dirty="0"/>
          </a:p>
          <a:p>
            <a:endParaRPr lang="en-US" b="0" dirty="0"/>
          </a:p>
          <a:p>
            <a:endParaRPr lang="en-US" dirty="0"/>
          </a:p>
          <a:p>
            <a:endParaRPr lang="en-US" sz="800" dirty="0"/>
          </a:p>
          <a:p>
            <a:r>
              <a:rPr lang="en-US" b="1" dirty="0"/>
              <a:t>Can also be combined with raw strings:</a:t>
            </a:r>
          </a:p>
          <a:p>
            <a:endParaRPr lang="en-US" dirty="0"/>
          </a:p>
          <a:p>
            <a:endParaRPr lang="en-US" dirty="0"/>
          </a:p>
          <a:p>
            <a:endParaRPr lang="en-US" dirty="0"/>
          </a:p>
          <a:p>
            <a:r>
              <a:rPr lang="en-US" b="1" dirty="0"/>
              <a:t>f-strings supports only Unicode:</a:t>
            </a:r>
          </a:p>
          <a:p>
            <a:pPr marL="457200" lvl="1" indent="-228600">
              <a:buFont typeface="Arial" panose="020B0604020202020204" pitchFamily="34" charset="0"/>
              <a:buChar char="•"/>
            </a:pPr>
            <a:r>
              <a:rPr lang="en-US" sz="1800" dirty="0"/>
              <a:t>Byte objects do not support f-strings.</a:t>
            </a:r>
          </a:p>
          <a:p>
            <a:pPr marL="457200" lvl="1" indent="0">
              <a:buNone/>
            </a:pPr>
            <a:endParaRPr lang="en-US" dirty="0"/>
          </a:p>
        </p:txBody>
      </p:sp>
      <p:sp>
        <p:nvSpPr>
          <p:cNvPr id="4" name="TextBox 3"/>
          <p:cNvSpPr txBox="1"/>
          <p:nvPr/>
        </p:nvSpPr>
        <p:spPr>
          <a:xfrm>
            <a:off x="664281" y="1797784"/>
            <a:ext cx="5698996" cy="1477328"/>
          </a:xfrm>
          <a:prstGeom prst="rect">
            <a:avLst/>
          </a:prstGeom>
          <a:solidFill>
            <a:schemeClr val="tx2">
              <a:lumMod val="20000"/>
              <a:lumOff val="80000"/>
            </a:schemeClr>
          </a:solidFill>
          <a:ln>
            <a:solidFill>
              <a:srgbClr val="000000"/>
            </a:solidFill>
          </a:ln>
          <a:effectLst>
            <a:outerShdw blurRad="50800" dist="38100" dir="2700000" algn="tl" rotWithShape="0">
              <a:prstClr val="black">
                <a:alpha val="40000"/>
              </a:prstClr>
            </a:outerShdw>
          </a:effectLst>
        </p:spPr>
        <p:txBody>
          <a:bodyPr wrap="square" rtlCol="0">
            <a:spAutoFit/>
          </a:bodyPr>
          <a:lstStyle/>
          <a:p>
            <a:r>
              <a:rPr lang="en-US" dirty="0">
                <a:latin typeface="Courier New"/>
                <a:cs typeface="Courier New"/>
              </a:rPr>
              <a:t>names = ['Tom', 'Harry', 'Jane', 'Mary']</a:t>
            </a:r>
          </a:p>
          <a:p>
            <a:r>
              <a:rPr lang="nl-NL" dirty="0">
                <a:latin typeface="Courier New"/>
                <a:cs typeface="Courier New"/>
              </a:rPr>
              <a:t>suffix = ['st', '</a:t>
            </a:r>
            <a:r>
              <a:rPr lang="nl-NL" dirty="0" err="1">
                <a:latin typeface="Courier New"/>
                <a:cs typeface="Courier New"/>
              </a:rPr>
              <a:t>nd</a:t>
            </a:r>
            <a:r>
              <a:rPr lang="nl-NL" dirty="0">
                <a:latin typeface="Courier New"/>
                <a:cs typeface="Courier New"/>
              </a:rPr>
              <a:t>', '</a:t>
            </a:r>
            <a:r>
              <a:rPr lang="nl-NL" dirty="0" err="1">
                <a:latin typeface="Courier New"/>
                <a:cs typeface="Courier New"/>
              </a:rPr>
              <a:t>rd</a:t>
            </a:r>
            <a:r>
              <a:rPr lang="nl-NL" dirty="0">
                <a:latin typeface="Courier New"/>
                <a:cs typeface="Courier New"/>
              </a:rPr>
              <a:t>', '</a:t>
            </a:r>
            <a:r>
              <a:rPr lang="nl-NL" dirty="0" err="1">
                <a:latin typeface="Courier New"/>
                <a:cs typeface="Courier New"/>
              </a:rPr>
              <a:t>th</a:t>
            </a:r>
            <a:r>
              <a:rPr lang="nl-NL" dirty="0">
                <a:latin typeface="Courier New"/>
                <a:cs typeface="Courier New"/>
              </a:rPr>
              <a:t>']</a:t>
            </a:r>
          </a:p>
          <a:p>
            <a:r>
              <a:rPr lang="is-IS" dirty="0">
                <a:latin typeface="Courier New"/>
                <a:cs typeface="Courier New"/>
              </a:rPr>
              <a:t>n = 1</a:t>
            </a:r>
          </a:p>
          <a:p>
            <a:r>
              <a:rPr lang="en-US" dirty="0">
                <a:latin typeface="Courier New"/>
                <a:cs typeface="Courier New"/>
              </a:rPr>
              <a:t>s = </a:t>
            </a:r>
            <a:r>
              <a:rPr lang="en-US" b="1" dirty="0">
                <a:latin typeface="Courier New"/>
                <a:cs typeface="Courier New"/>
              </a:rPr>
              <a:t>f"{</a:t>
            </a:r>
            <a:r>
              <a:rPr lang="en-US" b="1" dirty="0" err="1">
                <a:latin typeface="Courier New"/>
                <a:cs typeface="Courier New"/>
              </a:rPr>
              <a:t>str</a:t>
            </a:r>
            <a:r>
              <a:rPr lang="en-US" b="1" dirty="0">
                <a:latin typeface="Courier New"/>
                <a:cs typeface="Courier New"/>
              </a:rPr>
              <a:t>(n+1) + suffix[n]} </a:t>
            </a:r>
            <a:r>
              <a:rPr lang="en-US" dirty="0">
                <a:latin typeface="Courier New"/>
                <a:cs typeface="Courier New"/>
              </a:rPr>
              <a:t>of</a:t>
            </a:r>
            <a:r>
              <a:rPr lang="en-US" b="1" dirty="0">
                <a:latin typeface="Courier New"/>
                <a:cs typeface="Courier New"/>
              </a:rPr>
              <a:t> \</a:t>
            </a:r>
          </a:p>
          <a:p>
            <a:r>
              <a:rPr lang="en-US" b="1" dirty="0">
                <a:latin typeface="Courier New"/>
                <a:cs typeface="Courier New"/>
              </a:rPr>
              <a:t>      {</a:t>
            </a:r>
            <a:r>
              <a:rPr lang="en-US" b="1" dirty="0" err="1">
                <a:latin typeface="Courier New"/>
                <a:cs typeface="Courier New"/>
              </a:rPr>
              <a:t>len</a:t>
            </a:r>
            <a:r>
              <a:rPr lang="en-US" b="1" dirty="0">
                <a:latin typeface="Courier New"/>
                <a:cs typeface="Courier New"/>
              </a:rPr>
              <a:t>(names)} is {names[n]}"</a:t>
            </a:r>
          </a:p>
        </p:txBody>
      </p:sp>
      <p:sp>
        <p:nvSpPr>
          <p:cNvPr id="5" name="TextBox 4"/>
          <p:cNvSpPr txBox="1"/>
          <p:nvPr/>
        </p:nvSpPr>
        <p:spPr>
          <a:xfrm>
            <a:off x="5927892" y="3136514"/>
            <a:ext cx="2801193" cy="400110"/>
          </a:xfrm>
          <a:prstGeom prst="rect">
            <a:avLst/>
          </a:prstGeom>
          <a:solidFill>
            <a:schemeClr val="tx2"/>
          </a:solidFill>
          <a:ln>
            <a:solidFill>
              <a:schemeClr val="tx1"/>
            </a:solidFill>
          </a:ln>
          <a:effectLst>
            <a:outerShdw blurRad="50800" dist="38100" dir="2700000" algn="tl" rotWithShape="0">
              <a:prstClr val="black">
                <a:alpha val="40000"/>
              </a:prstClr>
            </a:outerShdw>
          </a:effectLst>
        </p:spPr>
        <p:txBody>
          <a:bodyPr wrap="none" rtlCol="0">
            <a:spAutoFit/>
          </a:bodyPr>
          <a:lstStyle/>
          <a:p>
            <a:r>
              <a:rPr lang="en-US" sz="2000" dirty="0">
                <a:latin typeface="Courier New"/>
                <a:cs typeface="Courier New"/>
              </a:rPr>
              <a:t>2nd of 4 is Harry</a:t>
            </a:r>
          </a:p>
        </p:txBody>
      </p:sp>
      <p:sp>
        <p:nvSpPr>
          <p:cNvPr id="6" name="TextBox 5"/>
          <p:cNvSpPr txBox="1"/>
          <p:nvPr/>
        </p:nvSpPr>
        <p:spPr>
          <a:xfrm>
            <a:off x="696924" y="3986253"/>
            <a:ext cx="6269399" cy="923330"/>
          </a:xfrm>
          <a:prstGeom prst="rect">
            <a:avLst/>
          </a:prstGeom>
          <a:solidFill>
            <a:schemeClr val="tx2">
              <a:lumMod val="20000"/>
              <a:lumOff val="80000"/>
            </a:schemeClr>
          </a:solidFill>
          <a:ln>
            <a:solidFill>
              <a:srgbClr val="000000"/>
            </a:solidFill>
          </a:ln>
          <a:effectLst>
            <a:outerShdw blurRad="50800" dist="38100" dir="2700000" algn="tl" rotWithShape="0">
              <a:prstClr val="black">
                <a:alpha val="40000"/>
              </a:prstClr>
            </a:outerShdw>
          </a:effectLst>
        </p:spPr>
        <p:txBody>
          <a:bodyPr wrap="square" rtlCol="0">
            <a:spAutoFit/>
          </a:bodyPr>
          <a:lstStyle/>
          <a:p>
            <a:r>
              <a:rPr lang="en-US" dirty="0">
                <a:latin typeface="Courier New"/>
                <a:cs typeface="Courier New"/>
              </a:rPr>
              <a:t>drive = 'C:'</a:t>
            </a:r>
          </a:p>
          <a:p>
            <a:r>
              <a:rPr lang="en-US" dirty="0" err="1">
                <a:latin typeface="Courier New"/>
                <a:cs typeface="Courier New"/>
              </a:rPr>
              <a:t>dir</a:t>
            </a:r>
            <a:r>
              <a:rPr lang="en-US" dirty="0">
                <a:latin typeface="Courier New"/>
                <a:cs typeface="Courier New"/>
              </a:rPr>
              <a:t> = 'Windows'</a:t>
            </a:r>
          </a:p>
          <a:p>
            <a:r>
              <a:rPr lang="en-US" b="1" dirty="0">
                <a:latin typeface="Courier New"/>
                <a:cs typeface="Courier New"/>
              </a:rPr>
              <a:t>path = </a:t>
            </a:r>
            <a:r>
              <a:rPr lang="en-US" b="1" dirty="0" err="1">
                <a:latin typeface="Courier New"/>
                <a:cs typeface="Courier New"/>
              </a:rPr>
              <a:t>fr</a:t>
            </a:r>
            <a:r>
              <a:rPr lang="en-US" b="1" dirty="0">
                <a:latin typeface="Courier New"/>
                <a:cs typeface="Courier New"/>
              </a:rPr>
              <a:t>"{drive}\{</a:t>
            </a:r>
            <a:r>
              <a:rPr lang="en-US" b="1" dirty="0" err="1">
                <a:latin typeface="Courier New"/>
                <a:cs typeface="Courier New"/>
              </a:rPr>
              <a:t>dir</a:t>
            </a:r>
            <a:r>
              <a:rPr lang="en-US" b="1" dirty="0">
                <a:latin typeface="Courier New"/>
                <a:cs typeface="Courier New"/>
              </a:rPr>
              <a:t>}"</a:t>
            </a:r>
          </a:p>
        </p:txBody>
      </p:sp>
      <p:sp>
        <p:nvSpPr>
          <p:cNvPr id="7" name="Slide Number Placeholder 6">
            <a:extLst>
              <a:ext uri="{FF2B5EF4-FFF2-40B4-BE49-F238E27FC236}">
                <a16:creationId xmlns:a16="http://schemas.microsoft.com/office/drawing/2014/main" id="{4C798E4A-8BE2-A121-6916-E4883D4C093D}"/>
              </a:ext>
            </a:extLst>
          </p:cNvPr>
          <p:cNvSpPr>
            <a:spLocks noGrp="1"/>
          </p:cNvSpPr>
          <p:nvPr>
            <p:ph type="sldNum" sz="quarter" idx="4"/>
          </p:nvPr>
        </p:nvSpPr>
        <p:spPr/>
        <p:txBody>
          <a:bodyPr/>
          <a:lstStyle/>
          <a:p>
            <a:fld id="{EF892D59-8F09-EF4B-AD6D-DA609442F868}" type="slidenum">
              <a:rPr lang="en-GB" smtClean="0"/>
              <a:pPr/>
              <a:t>14</a:t>
            </a:fld>
            <a:endParaRPr lang="en-GB" dirty="0"/>
          </a:p>
        </p:txBody>
      </p:sp>
    </p:spTree>
    <p:extLst>
      <p:ext uri="{BB962C8B-B14F-4D97-AF65-F5344CB8AC3E}">
        <p14:creationId xmlns:p14="http://schemas.microsoft.com/office/powerpoint/2010/main" val="1366451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94489" y="319131"/>
            <a:ext cx="11517818" cy="805001"/>
          </a:xfrm>
        </p:spPr>
        <p:txBody>
          <a:bodyPr/>
          <a:lstStyle/>
          <a:p>
            <a:pPr eaLnBrk="1" hangingPunct="1"/>
            <a:r>
              <a:rPr lang="en-GB" dirty="0"/>
              <a:t>Slicing a string</a:t>
            </a:r>
          </a:p>
        </p:txBody>
      </p:sp>
      <p:sp>
        <p:nvSpPr>
          <p:cNvPr id="15363" name="Rectangle 3"/>
          <p:cNvSpPr>
            <a:spLocks noGrp="1" noChangeArrowheads="1"/>
          </p:cNvSpPr>
          <p:nvPr>
            <p:ph idx="1"/>
          </p:nvPr>
        </p:nvSpPr>
        <p:spPr>
          <a:xfrm>
            <a:off x="476026" y="1245817"/>
            <a:ext cx="11516239" cy="4955354"/>
          </a:xfrm>
        </p:spPr>
        <p:txBody>
          <a:bodyPr>
            <a:normAutofit/>
          </a:bodyPr>
          <a:lstStyle/>
          <a:p>
            <a:pPr>
              <a:spcBef>
                <a:spcPts val="600"/>
              </a:spcBef>
            </a:pPr>
            <a:r>
              <a:rPr lang="en-GB" b="1" dirty="0"/>
              <a:t>A Python string is an immutable sequence type.</a:t>
            </a:r>
          </a:p>
          <a:p>
            <a:pPr marL="457200" lvl="1" indent="-228600">
              <a:spcBef>
                <a:spcPts val="600"/>
              </a:spcBef>
              <a:buFont typeface="Arial"/>
              <a:buChar char="•"/>
            </a:pPr>
            <a:r>
              <a:rPr lang="en-GB" sz="1800" dirty="0"/>
              <a:t>Slicing is the same for all sequence types.</a:t>
            </a:r>
          </a:p>
          <a:p>
            <a:pPr>
              <a:spcBef>
                <a:spcPts val="600"/>
              </a:spcBef>
            </a:pPr>
            <a:r>
              <a:rPr lang="en-GB" b="1" dirty="0"/>
              <a:t>Slice by start and end+1 </a:t>
            </a:r>
            <a:r>
              <a:rPr lang="en-GB" b="1" i="1" dirty="0"/>
              <a:t>position.</a:t>
            </a:r>
            <a:endParaRPr lang="en-GB" b="1" dirty="0"/>
          </a:p>
          <a:p>
            <a:pPr marL="457200" lvl="1" indent="-228600">
              <a:spcBef>
                <a:spcPts val="600"/>
              </a:spcBef>
              <a:buFont typeface="Arial" panose="020B0604020202020204" pitchFamily="34" charset="0"/>
              <a:buChar char="•"/>
            </a:pPr>
            <a:r>
              <a:rPr lang="en-GB" sz="1800" dirty="0">
                <a:latin typeface="Montserrat"/>
              </a:rPr>
              <a:t>Counting from zero on lhs, from -1 on </a:t>
            </a:r>
            <a:r>
              <a:rPr lang="en-GB" sz="1800" dirty="0" err="1">
                <a:latin typeface="Montserrat"/>
              </a:rPr>
              <a:t>rhs</a:t>
            </a:r>
            <a:r>
              <a:rPr lang="en-GB" sz="1800" dirty="0">
                <a:latin typeface="Montserrat"/>
              </a:rPr>
              <a:t>.</a:t>
            </a:r>
          </a:p>
          <a:p>
            <a:pPr lvl="1">
              <a:spcBef>
                <a:spcPts val="600"/>
              </a:spcBef>
            </a:pPr>
            <a:endParaRPr lang="en-GB" dirty="0"/>
          </a:p>
          <a:p>
            <a:pPr lvl="3">
              <a:spcBef>
                <a:spcPts val="600"/>
              </a:spcBef>
            </a:pPr>
            <a:endParaRPr lang="en-GB" dirty="0"/>
          </a:p>
          <a:p>
            <a:pPr marL="1371600" lvl="3" indent="0">
              <a:spcBef>
                <a:spcPts val="600"/>
              </a:spcBef>
              <a:buNone/>
            </a:pPr>
            <a:endParaRPr lang="en-GB" dirty="0"/>
          </a:p>
          <a:p>
            <a:pPr marL="88900" lvl="2" indent="0">
              <a:spcBef>
                <a:spcPts val="600"/>
              </a:spcBef>
              <a:buNone/>
            </a:pPr>
            <a:endParaRPr lang="en-GB" sz="1200" dirty="0"/>
          </a:p>
          <a:p>
            <a:pPr marL="457200" lvl="1" indent="-228600">
              <a:spcBef>
                <a:spcPts val="600"/>
              </a:spcBef>
              <a:buFont typeface="Arial" panose="020B0604020202020204" pitchFamily="34" charset="0"/>
              <a:buChar char="•"/>
            </a:pPr>
            <a:r>
              <a:rPr lang="en-GB" sz="1800" dirty="0"/>
              <a:t>Start and end positions may be defaulted.</a:t>
            </a:r>
            <a:endParaRPr lang="en-GB" sz="1600" dirty="0"/>
          </a:p>
        </p:txBody>
      </p:sp>
      <p:sp>
        <p:nvSpPr>
          <p:cNvPr id="15366" name="Text Box 5"/>
          <p:cNvSpPr txBox="1">
            <a:spLocks noChangeArrowheads="1"/>
          </p:cNvSpPr>
          <p:nvPr/>
        </p:nvSpPr>
        <p:spPr bwMode="auto">
          <a:xfrm>
            <a:off x="846129" y="2949737"/>
            <a:ext cx="7011988" cy="1754188"/>
          </a:xfrm>
          <a:prstGeom prst="rect">
            <a:avLst/>
          </a:prstGeom>
          <a:solidFill>
            <a:schemeClr val="tx2">
              <a:lumMod val="20000"/>
              <a:lumOff val="80000"/>
            </a:schemeClr>
          </a:solidFill>
          <a:ln w="12700">
            <a:solidFill>
              <a:schemeClr val="tx1"/>
            </a:solidFill>
            <a:miter lim="800000"/>
            <a:headEnd/>
            <a:tailEnd/>
          </a:ln>
        </p:spPr>
        <p:txBody>
          <a:bodyPr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       01234567890123456789012345678901234</a:t>
            </a:r>
          </a:p>
          <a:p>
            <a:pPr>
              <a:spcBef>
                <a:spcPct val="0"/>
              </a:spcBef>
            </a:pPr>
            <a:r>
              <a:rPr lang="en-GB" sz="1800" b="1" dirty="0">
                <a:latin typeface="Courier New" panose="02070309020205020404" pitchFamily="49" charset="0"/>
              </a:rPr>
              <a:t>text = "Remarkable bird, the Norwegian Blue"</a:t>
            </a:r>
          </a:p>
          <a:p>
            <a:pPr>
              <a:spcBef>
                <a:spcPct val="0"/>
              </a:spcBef>
            </a:pPr>
            <a:r>
              <a:rPr lang="en-GB" sz="1800" b="1" dirty="0">
                <a:latin typeface="Courier New" panose="02070309020205020404" pitchFamily="49" charset="0"/>
              </a:rPr>
              <a:t>print(text[</a:t>
            </a:r>
            <a:r>
              <a:rPr lang="en-GB" sz="1800" b="1" dirty="0">
                <a:solidFill>
                  <a:srgbClr val="FF0000"/>
                </a:solidFill>
                <a:latin typeface="Courier New" panose="02070309020205020404" pitchFamily="49" charset="0"/>
              </a:rPr>
              <a:t>11</a:t>
            </a:r>
            <a:r>
              <a:rPr lang="en-GB" sz="1800" b="1" dirty="0">
                <a:latin typeface="Courier New" panose="02070309020205020404" pitchFamily="49" charset="0"/>
              </a:rPr>
              <a:t>:</a:t>
            </a:r>
            <a:r>
              <a:rPr lang="en-GB" sz="1800" b="1" dirty="0">
                <a:solidFill>
                  <a:srgbClr val="0070C0"/>
                </a:solidFill>
                <a:latin typeface="Courier New" panose="02070309020205020404" pitchFamily="49" charset="0"/>
              </a:rPr>
              <a:t>14</a:t>
            </a:r>
            <a:r>
              <a:rPr lang="en-GB" sz="1800" b="1" dirty="0">
                <a:latin typeface="Courier New" panose="02070309020205020404" pitchFamily="49" charset="0"/>
              </a:rPr>
              <a:t>])</a:t>
            </a:r>
          </a:p>
          <a:p>
            <a:pPr>
              <a:spcBef>
                <a:spcPct val="0"/>
              </a:spcBef>
            </a:pPr>
            <a:r>
              <a:rPr lang="en-GB" sz="1800" dirty="0" err="1">
                <a:latin typeface="Courier New" panose="02070309020205020404" pitchFamily="49" charset="0"/>
              </a:rPr>
              <a:t>bir</a:t>
            </a:r>
            <a:endParaRPr lang="en-GB" sz="1800" dirty="0">
              <a:latin typeface="Courier New" panose="02070309020205020404" pitchFamily="49" charset="0"/>
            </a:endParaRPr>
          </a:p>
          <a:p>
            <a:pPr>
              <a:spcBef>
                <a:spcPct val="0"/>
              </a:spcBef>
            </a:pPr>
            <a:r>
              <a:rPr lang="en-GB" sz="1800" b="1" dirty="0">
                <a:latin typeface="Courier New" panose="02070309020205020404" pitchFamily="49" charset="0"/>
              </a:rPr>
              <a:t>print(text[-7:-1])</a:t>
            </a:r>
          </a:p>
          <a:p>
            <a:pPr>
              <a:spcBef>
                <a:spcPct val="0"/>
              </a:spcBef>
            </a:pPr>
            <a:r>
              <a:rPr lang="en-GB" sz="1800" dirty="0">
                <a:latin typeface="Courier New" panose="02070309020205020404" pitchFamily="49" charset="0"/>
              </a:rPr>
              <a:t>an </a:t>
            </a:r>
            <a:r>
              <a:rPr lang="en-GB" sz="1800" dirty="0" err="1">
                <a:latin typeface="Courier New" panose="02070309020205020404" pitchFamily="49" charset="0"/>
              </a:rPr>
              <a:t>Blu</a:t>
            </a:r>
            <a:endParaRPr lang="en-GB" sz="1800" dirty="0">
              <a:latin typeface="Courier New" panose="02070309020205020404" pitchFamily="49" charset="0"/>
            </a:endParaRPr>
          </a:p>
        </p:txBody>
      </p:sp>
      <p:sp>
        <p:nvSpPr>
          <p:cNvPr id="15365" name="Text Box 12"/>
          <p:cNvSpPr txBox="1">
            <a:spLocks noChangeArrowheads="1"/>
          </p:cNvSpPr>
          <p:nvPr/>
        </p:nvSpPr>
        <p:spPr bwMode="auto">
          <a:xfrm>
            <a:off x="808029" y="5289722"/>
            <a:ext cx="7011988" cy="1200150"/>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b="1" dirty="0">
                <a:latin typeface="Courier New" panose="02070309020205020404" pitchFamily="49" charset="0"/>
              </a:rPr>
              <a:t>print(text[:14])</a:t>
            </a:r>
          </a:p>
          <a:p>
            <a:pPr>
              <a:spcBef>
                <a:spcPct val="0"/>
              </a:spcBef>
            </a:pPr>
            <a:r>
              <a:rPr lang="en-GB" sz="1800" dirty="0">
                <a:latin typeface="Courier New" panose="02070309020205020404" pitchFamily="49" charset="0"/>
              </a:rPr>
              <a:t>Remarkable </a:t>
            </a:r>
            <a:r>
              <a:rPr lang="en-GB" sz="1800" dirty="0" err="1">
                <a:latin typeface="Courier New" panose="02070309020205020404" pitchFamily="49" charset="0"/>
              </a:rPr>
              <a:t>bir</a:t>
            </a:r>
            <a:endParaRPr lang="en-GB" sz="1800" dirty="0">
              <a:latin typeface="Courier New" panose="02070309020205020404" pitchFamily="49" charset="0"/>
            </a:endParaRPr>
          </a:p>
          <a:p>
            <a:pPr>
              <a:spcBef>
                <a:spcPct val="0"/>
              </a:spcBef>
            </a:pPr>
            <a:r>
              <a:rPr lang="en-GB" sz="1800" b="1" dirty="0">
                <a:latin typeface="Courier New" panose="02070309020205020404" pitchFamily="49" charset="0"/>
              </a:rPr>
              <a:t>print(text[-7:])</a:t>
            </a: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an Blue</a:t>
            </a:r>
            <a:endParaRPr lang="en-GB" sz="1800" b="1" dirty="0">
              <a:latin typeface="Courier New" panose="02070309020205020404" pitchFamily="49" charset="0"/>
            </a:endParaRPr>
          </a:p>
        </p:txBody>
      </p:sp>
      <p:cxnSp>
        <p:nvCxnSpPr>
          <p:cNvPr id="13" name="Straight Connector 12">
            <a:extLst>
              <a:ext uri="{FF2B5EF4-FFF2-40B4-BE49-F238E27FC236}">
                <a16:creationId xmlns:a16="http://schemas.microsoft.com/office/drawing/2014/main" id="{8DE08917-0862-4E5A-A22C-C75D28D01A27}"/>
              </a:ext>
            </a:extLst>
          </p:cNvPr>
          <p:cNvCxnSpPr>
            <a:cxnSpLocks/>
          </p:cNvCxnSpPr>
          <p:nvPr/>
        </p:nvCxnSpPr>
        <p:spPr>
          <a:xfrm>
            <a:off x="2453254" y="3839684"/>
            <a:ext cx="241178" cy="6249"/>
          </a:xfrm>
          <a:prstGeom prst="line">
            <a:avLst/>
          </a:prstGeom>
          <a:ln w="38100">
            <a:solidFill>
              <a:srgbClr val="FF0000"/>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655CB9B5-EE06-42EC-A58A-7434875C860B}"/>
              </a:ext>
            </a:extLst>
          </p:cNvPr>
          <p:cNvCxnSpPr>
            <a:cxnSpLocks/>
          </p:cNvCxnSpPr>
          <p:nvPr/>
        </p:nvCxnSpPr>
        <p:spPr>
          <a:xfrm>
            <a:off x="2871216" y="3845933"/>
            <a:ext cx="257161"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pic>
        <p:nvPicPr>
          <p:cNvPr id="2" name="Picture 2" descr="A picture containing parrot, bird, colorful, outdoor&#10;&#10;Description automatically generated">
            <a:extLst>
              <a:ext uri="{FF2B5EF4-FFF2-40B4-BE49-F238E27FC236}">
                <a16:creationId xmlns:a16="http://schemas.microsoft.com/office/drawing/2014/main" id="{9E7AA73A-26E9-9DD6-AF61-183FE17EB322}"/>
              </a:ext>
            </a:extLst>
          </p:cNvPr>
          <p:cNvPicPr>
            <a:picLocks noChangeAspect="1"/>
          </p:cNvPicPr>
          <p:nvPr/>
        </p:nvPicPr>
        <p:blipFill>
          <a:blip r:embed="rId3"/>
          <a:stretch>
            <a:fillRect/>
          </a:stretch>
        </p:blipFill>
        <p:spPr>
          <a:xfrm>
            <a:off x="9454551" y="4540249"/>
            <a:ext cx="2743200" cy="2320747"/>
          </a:xfrm>
          <a:prstGeom prst="rect">
            <a:avLst/>
          </a:prstGeom>
        </p:spPr>
      </p:pic>
      <p:sp>
        <p:nvSpPr>
          <p:cNvPr id="8" name="Text Box 9">
            <a:extLst>
              <a:ext uri="{FF2B5EF4-FFF2-40B4-BE49-F238E27FC236}">
                <a16:creationId xmlns:a16="http://schemas.microsoft.com/office/drawing/2014/main" id="{C9A8D9FE-40FB-0468-FAB5-909743256BB7}"/>
              </a:ext>
            </a:extLst>
          </p:cNvPr>
          <p:cNvSpPr txBox="1">
            <a:spLocks noChangeArrowheads="1"/>
          </p:cNvSpPr>
          <p:nvPr/>
        </p:nvSpPr>
        <p:spPr bwMode="auto">
          <a:xfrm>
            <a:off x="8770838" y="6497298"/>
            <a:ext cx="1824538"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i="1" dirty="0">
                <a:latin typeface="Arial"/>
                <a:cs typeface="Arial"/>
              </a:rPr>
              <a:t>Beautiful plumage</a:t>
            </a:r>
            <a:endParaRPr lang="en-US" dirty="0" err="1"/>
          </a:p>
        </p:txBody>
      </p:sp>
      <p:sp>
        <p:nvSpPr>
          <p:cNvPr id="3" name="Text Box 7">
            <a:extLst>
              <a:ext uri="{FF2B5EF4-FFF2-40B4-BE49-F238E27FC236}">
                <a16:creationId xmlns:a16="http://schemas.microsoft.com/office/drawing/2014/main" id="{8A3CB975-25D8-71FD-6630-2AC0BBF69888}"/>
              </a:ext>
            </a:extLst>
          </p:cNvPr>
          <p:cNvSpPr txBox="1">
            <a:spLocks noChangeArrowheads="1"/>
          </p:cNvSpPr>
          <p:nvPr/>
        </p:nvSpPr>
        <p:spPr bwMode="auto">
          <a:xfrm>
            <a:off x="7067590" y="3554594"/>
            <a:ext cx="1391728" cy="338554"/>
          </a:xfrm>
          <a:prstGeom prst="rect">
            <a:avLst/>
          </a:prstGeom>
          <a:solidFill>
            <a:schemeClr val="bg1"/>
          </a:solidFill>
          <a:ln w="9525">
            <a:solidFill>
              <a:schemeClr val="tx1"/>
            </a:solidFill>
            <a:miter lim="800000"/>
            <a:headEnd/>
            <a:tailEnd/>
          </a:ln>
        </p:spPr>
        <p:txBody>
          <a:bodyPr wrap="non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solidFill>
                  <a:srgbClr val="FF0000"/>
                </a:solidFill>
                <a:latin typeface="Arial"/>
                <a:cs typeface="Arial"/>
              </a:rPr>
              <a:t>[start</a:t>
            </a:r>
            <a:r>
              <a:rPr lang="en-GB" sz="1600" dirty="0">
                <a:latin typeface="Arial"/>
                <a:cs typeface="Arial"/>
              </a:rPr>
              <a:t>: </a:t>
            </a:r>
            <a:r>
              <a:rPr lang="en-GB" sz="1600" dirty="0">
                <a:solidFill>
                  <a:srgbClr val="0070C0"/>
                </a:solidFill>
                <a:latin typeface="Arial"/>
                <a:cs typeface="Arial"/>
              </a:rPr>
              <a:t>end+1</a:t>
            </a:r>
            <a:r>
              <a:rPr lang="en-GB" sz="1600" dirty="0">
                <a:latin typeface="Arial"/>
                <a:cs typeface="Arial"/>
              </a:rPr>
              <a:t>]</a:t>
            </a:r>
          </a:p>
        </p:txBody>
      </p:sp>
      <p:sp>
        <p:nvSpPr>
          <p:cNvPr id="4" name="Line 8">
            <a:extLst>
              <a:ext uri="{FF2B5EF4-FFF2-40B4-BE49-F238E27FC236}">
                <a16:creationId xmlns:a16="http://schemas.microsoft.com/office/drawing/2014/main" id="{1C367A7D-518C-ED15-3C76-66F8FF6E9E68}"/>
              </a:ext>
            </a:extLst>
          </p:cNvPr>
          <p:cNvSpPr>
            <a:spLocks noChangeShapeType="1"/>
          </p:cNvSpPr>
          <p:nvPr/>
        </p:nvSpPr>
        <p:spPr bwMode="auto">
          <a:xfrm flipH="1">
            <a:off x="3510642" y="3723494"/>
            <a:ext cx="3540702" cy="0"/>
          </a:xfrm>
          <a:prstGeom prst="line">
            <a:avLst/>
          </a:prstGeom>
          <a:solidFill>
            <a:schemeClr val="tx2">
              <a:lumMod val="20000"/>
              <a:lumOff val="80000"/>
            </a:schemeClr>
          </a:solidFill>
          <a:ln w="9525">
            <a:solidFill>
              <a:schemeClr val="tx1"/>
            </a:solidFill>
            <a:round/>
            <a:headEnd/>
            <a:tailEnd type="triangle" w="med" len="med"/>
          </a:ln>
        </p:spPr>
        <p:txBody>
          <a:bodyPr wrap="square">
            <a:spAutoFit/>
          </a:bodyPr>
          <a:lstStyle/>
          <a:p>
            <a:endParaRPr lang="en-GB" u="sng"/>
          </a:p>
        </p:txBody>
      </p:sp>
      <p:sp>
        <p:nvSpPr>
          <p:cNvPr id="5" name="Slide Number Placeholder 4">
            <a:extLst>
              <a:ext uri="{FF2B5EF4-FFF2-40B4-BE49-F238E27FC236}">
                <a16:creationId xmlns:a16="http://schemas.microsoft.com/office/drawing/2014/main" id="{99719D93-550E-C021-E8C2-8E876F96C281}"/>
              </a:ext>
            </a:extLst>
          </p:cNvPr>
          <p:cNvSpPr>
            <a:spLocks noGrp="1"/>
          </p:cNvSpPr>
          <p:nvPr>
            <p:ph type="sldNum" sz="quarter" idx="4"/>
          </p:nvPr>
        </p:nvSpPr>
        <p:spPr/>
        <p:txBody>
          <a:bodyPr/>
          <a:lstStyle/>
          <a:p>
            <a:fld id="{EF892D59-8F09-EF4B-AD6D-DA609442F868}" type="slidenum">
              <a:rPr lang="en-GB" smtClean="0"/>
              <a:pPr/>
              <a:t>15</a:t>
            </a:fld>
            <a:endParaRPr lang="en-GB" dirty="0"/>
          </a:p>
        </p:txBody>
      </p:sp>
    </p:spTree>
    <p:extLst>
      <p:ext uri="{BB962C8B-B14F-4D97-AF65-F5344CB8AC3E}">
        <p14:creationId xmlns:p14="http://schemas.microsoft.com/office/powerpoint/2010/main" val="2529215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055290" y="306300"/>
            <a:ext cx="11517818" cy="805001"/>
          </a:xfrm>
        </p:spPr>
        <p:txBody>
          <a:bodyPr/>
          <a:lstStyle/>
          <a:p>
            <a:pPr eaLnBrk="1" hangingPunct="1"/>
            <a:r>
              <a:rPr lang="en-GB" dirty="0"/>
              <a:t>String methods - split and join</a:t>
            </a:r>
          </a:p>
        </p:txBody>
      </p:sp>
      <p:sp>
        <p:nvSpPr>
          <p:cNvPr id="16387" name="Rectangle 3"/>
          <p:cNvSpPr>
            <a:spLocks noGrp="1" noChangeArrowheads="1"/>
          </p:cNvSpPr>
          <p:nvPr>
            <p:ph idx="1"/>
          </p:nvPr>
        </p:nvSpPr>
        <p:spPr>
          <a:xfrm>
            <a:off x="591529" y="1195218"/>
            <a:ext cx="11516239" cy="4955354"/>
          </a:xfrm>
        </p:spPr>
        <p:txBody>
          <a:bodyPr/>
          <a:lstStyle/>
          <a:p>
            <a:r>
              <a:rPr lang="en-GB" b="1" dirty="0"/>
              <a:t>String to a list - split</a:t>
            </a:r>
          </a:p>
          <a:p>
            <a:pPr marL="457200" lvl="1" indent="-228600">
              <a:buFont typeface="Arial" panose="020B0604020202020204" pitchFamily="34" charset="0"/>
              <a:buChar char="•"/>
            </a:pPr>
            <a:r>
              <a:rPr lang="en-GB" sz="1800" b="0" i="1" dirty="0" err="1">
                <a:latin typeface="Montserrat"/>
              </a:rPr>
              <a:t>string</a:t>
            </a:r>
            <a:r>
              <a:rPr lang="en-GB" sz="1800" dirty="0" err="1">
                <a:latin typeface="Courier New"/>
                <a:cs typeface="Courier New"/>
              </a:rPr>
              <a:t>.split</a:t>
            </a:r>
            <a:r>
              <a:rPr lang="en-GB" sz="1800" dirty="0">
                <a:latin typeface="Courier New"/>
                <a:cs typeface="Courier New"/>
              </a:rPr>
              <a:t>([ </a:t>
            </a:r>
            <a:r>
              <a:rPr lang="en-GB" sz="1800" b="0" i="1" dirty="0">
                <a:latin typeface="Montserrat"/>
              </a:rPr>
              <a:t>separator</a:t>
            </a:r>
            <a:r>
              <a:rPr lang="en-GB" sz="1800" b="0" dirty="0">
                <a:latin typeface="Courier New"/>
                <a:cs typeface="Courier New"/>
              </a:rPr>
              <a:t>[</a:t>
            </a:r>
            <a:r>
              <a:rPr lang="en-GB" sz="1800" dirty="0">
                <a:latin typeface="Courier New"/>
                <a:cs typeface="Courier New"/>
              </a:rPr>
              <a:t>,</a:t>
            </a:r>
            <a:r>
              <a:rPr lang="en-GB" sz="1800" b="0" dirty="0">
                <a:latin typeface="Courier New"/>
                <a:cs typeface="Courier New"/>
              </a:rPr>
              <a:t> </a:t>
            </a:r>
            <a:r>
              <a:rPr lang="en-GB" sz="1800" b="0" i="1" dirty="0" err="1">
                <a:latin typeface="Montserrat"/>
              </a:rPr>
              <a:t>max_splits</a:t>
            </a:r>
            <a:r>
              <a:rPr lang="en-GB" sz="1800" b="0" dirty="0">
                <a:latin typeface="Courier New"/>
                <a:cs typeface="Courier New"/>
              </a:rPr>
              <a:t>]]</a:t>
            </a:r>
            <a:r>
              <a:rPr lang="en-GB" sz="1800" dirty="0">
                <a:latin typeface="Courier New"/>
                <a:cs typeface="Courier New"/>
              </a:rPr>
              <a:t>)</a:t>
            </a:r>
          </a:p>
          <a:p>
            <a:pPr marL="457200" lvl="2" indent="-228600">
              <a:buFont typeface="Arial" panose="020B0604020202020204" pitchFamily="34" charset="0"/>
              <a:buChar char="•"/>
            </a:pPr>
            <a:r>
              <a:rPr lang="en-GB" sz="1800" dirty="0">
                <a:latin typeface="Montserrat"/>
              </a:rPr>
              <a:t>If </a:t>
            </a:r>
            <a:r>
              <a:rPr lang="en-GB" sz="1800" i="1" dirty="0">
                <a:latin typeface="Montserrat"/>
              </a:rPr>
              <a:t>separator</a:t>
            </a:r>
            <a:r>
              <a:rPr lang="en-GB" sz="1800" dirty="0">
                <a:latin typeface="Montserrat"/>
              </a:rPr>
              <a:t> is omitted, split on one or more white-space.</a:t>
            </a:r>
          </a:p>
          <a:p>
            <a:pPr marL="457200" lvl="2" indent="-228600">
              <a:buFont typeface="Arial" panose="020B0604020202020204" pitchFamily="34" charset="0"/>
              <a:buChar char="•"/>
            </a:pPr>
            <a:r>
              <a:rPr lang="en-GB" sz="1800" dirty="0">
                <a:latin typeface="Montserrat"/>
              </a:rPr>
              <a:t>If </a:t>
            </a:r>
            <a:r>
              <a:rPr lang="en-GB" sz="1800" i="1" dirty="0" err="1">
                <a:latin typeface="Montserrat"/>
              </a:rPr>
              <a:t>max_splits</a:t>
            </a:r>
            <a:r>
              <a:rPr lang="en-GB" sz="1800" dirty="0">
                <a:latin typeface="Montserrat"/>
              </a:rPr>
              <a:t> is omitted, split the whole string.</a:t>
            </a:r>
          </a:p>
          <a:p>
            <a:pPr marL="457200" lvl="2" indent="-228600">
              <a:buFont typeface="Arial" panose="020B0604020202020204" pitchFamily="34" charset="0"/>
              <a:buChar char="•"/>
            </a:pPr>
            <a:r>
              <a:rPr lang="en-GB" sz="1800" i="1" dirty="0" err="1">
                <a:latin typeface="Montserrat"/>
              </a:rPr>
              <a:t>string</a:t>
            </a:r>
            <a:r>
              <a:rPr lang="en-GB" sz="1800" dirty="0" err="1">
                <a:latin typeface="Courier New"/>
                <a:cs typeface="Courier New"/>
              </a:rPr>
              <a:t>.</a:t>
            </a:r>
            <a:r>
              <a:rPr lang="en-GB" sz="1800" b="1" dirty="0" err="1">
                <a:latin typeface="Courier New"/>
                <a:cs typeface="Courier New"/>
              </a:rPr>
              <a:t>splitlines</a:t>
            </a:r>
            <a:r>
              <a:rPr lang="en-GB" sz="1800" dirty="0">
                <a:latin typeface="Courier New"/>
                <a:cs typeface="Courier New"/>
              </a:rPr>
              <a:t>()</a:t>
            </a:r>
            <a:r>
              <a:rPr lang="en-GB" sz="1800" dirty="0">
                <a:latin typeface="Montserrat"/>
              </a:rPr>
              <a:t> is useful on lines from files.</a:t>
            </a:r>
          </a:p>
          <a:p>
            <a:r>
              <a:rPr lang="en-GB" b="1" dirty="0"/>
              <a:t>Sequence to a string - join</a:t>
            </a:r>
          </a:p>
          <a:p>
            <a:pPr marL="457200" lvl="1" indent="-228600">
              <a:buFont typeface="Arial" panose="020B0604020202020204" pitchFamily="34" charset="0"/>
              <a:buChar char="•"/>
            </a:pPr>
            <a:r>
              <a:rPr lang="en-GB" sz="1800" b="0" i="1" dirty="0" err="1">
                <a:latin typeface="Montserrat"/>
              </a:rPr>
              <a:t>separator</a:t>
            </a:r>
            <a:r>
              <a:rPr lang="en-GB" sz="1800" dirty="0" err="1">
                <a:latin typeface="Courier New"/>
                <a:cs typeface="Courier New"/>
              </a:rPr>
              <a:t>.join</a:t>
            </a:r>
            <a:r>
              <a:rPr lang="en-GB" sz="1800" dirty="0">
                <a:latin typeface="Courier New"/>
                <a:cs typeface="Courier New"/>
              </a:rPr>
              <a:t>(</a:t>
            </a:r>
            <a:r>
              <a:rPr lang="en-GB" sz="1800" b="0" i="1" dirty="0">
                <a:latin typeface="Montserrat"/>
              </a:rPr>
              <a:t>sequence</a:t>
            </a:r>
            <a:r>
              <a:rPr lang="en-GB" sz="1800" dirty="0">
                <a:latin typeface="Courier New"/>
                <a:cs typeface="Courier New"/>
              </a:rPr>
              <a:t>)</a:t>
            </a:r>
          </a:p>
          <a:p>
            <a:pPr marL="457200" lvl="2" indent="-228600">
              <a:buFont typeface="Arial" panose="020B0604020202020204" pitchFamily="34" charset="0"/>
              <a:buChar char="•"/>
            </a:pPr>
            <a:r>
              <a:rPr lang="en-GB" sz="1800" i="1" dirty="0"/>
              <a:t>sequence</a:t>
            </a:r>
            <a:r>
              <a:rPr lang="en-GB" sz="1800" dirty="0"/>
              <a:t> can be a string, list or a tuple.</a:t>
            </a:r>
          </a:p>
          <a:p>
            <a:pPr lvl="1"/>
            <a:endParaRPr lang="en-GB" dirty="0"/>
          </a:p>
        </p:txBody>
      </p:sp>
      <p:sp>
        <p:nvSpPr>
          <p:cNvPr id="16388" name="Text Box 4"/>
          <p:cNvSpPr txBox="1">
            <a:spLocks noChangeArrowheads="1"/>
          </p:cNvSpPr>
          <p:nvPr/>
        </p:nvSpPr>
        <p:spPr bwMode="auto">
          <a:xfrm>
            <a:off x="819799" y="4379389"/>
            <a:ext cx="5994400" cy="2024063"/>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line = 'root::0:0:superuser:/root:/bin/</a:t>
            </a:r>
            <a:r>
              <a:rPr lang="en-GB" sz="1800" dirty="0" err="1">
                <a:latin typeface="Courier New" panose="02070309020205020404" pitchFamily="49" charset="0"/>
              </a:rPr>
              <a:t>sh</a:t>
            </a:r>
            <a:r>
              <a:rPr lang="en-GB" sz="1800" dirty="0">
                <a:latin typeface="Courier New" panose="02070309020205020404" pitchFamily="49" charset="0"/>
              </a:rPr>
              <a:t>'</a:t>
            </a:r>
          </a:p>
          <a:p>
            <a:pPr>
              <a:spcBef>
                <a:spcPct val="0"/>
              </a:spcBef>
            </a:pPr>
            <a:r>
              <a:rPr lang="en-GB" sz="1800" dirty="0" err="1">
                <a:latin typeface="Courier New" panose="02070309020205020404" pitchFamily="49" charset="0"/>
              </a:rPr>
              <a:t>elems</a:t>
            </a:r>
            <a:r>
              <a:rPr lang="en-GB" sz="1800" dirty="0">
                <a:latin typeface="Courier New" panose="02070309020205020404" pitchFamily="49" charset="0"/>
              </a:rPr>
              <a:t> = </a:t>
            </a:r>
            <a:r>
              <a:rPr lang="en-GB" sz="1800" dirty="0" err="1">
                <a:latin typeface="Courier New" panose="02070309020205020404" pitchFamily="49" charset="0"/>
              </a:rPr>
              <a:t>line.split</a:t>
            </a:r>
            <a:r>
              <a:rPr lang="en-GB" sz="1800" dirty="0">
                <a:latin typeface="Courier New" panose="02070309020205020404" pitchFamily="49" charset="0"/>
              </a:rPr>
              <a:t>(':')</a:t>
            </a:r>
          </a:p>
          <a:p>
            <a:pPr>
              <a:spcBef>
                <a:spcPct val="0"/>
              </a:spcBef>
            </a:pPr>
            <a:endParaRPr lang="en-GB" sz="1800" dirty="0">
              <a:latin typeface="Courier New" panose="02070309020205020404" pitchFamily="49" charset="0"/>
            </a:endParaRPr>
          </a:p>
          <a:p>
            <a:pPr>
              <a:spcBef>
                <a:spcPct val="0"/>
              </a:spcBef>
            </a:pPr>
            <a:r>
              <a:rPr lang="en-GB" sz="1800" dirty="0" err="1">
                <a:latin typeface="Courier New" panose="02070309020205020404" pitchFamily="49" charset="0"/>
              </a:rPr>
              <a:t>elems</a:t>
            </a:r>
            <a:r>
              <a:rPr lang="en-GB" sz="1800" dirty="0">
                <a:latin typeface="Courier New" panose="02070309020205020404" pitchFamily="49" charset="0"/>
              </a:rPr>
              <a:t>[0] = 'avatar'</a:t>
            </a:r>
          </a:p>
          <a:p>
            <a:pPr>
              <a:spcBef>
                <a:spcPct val="0"/>
              </a:spcBef>
            </a:pPr>
            <a:r>
              <a:rPr lang="en-GB" sz="1800" dirty="0" err="1">
                <a:latin typeface="Courier New" panose="02070309020205020404" pitchFamily="49" charset="0"/>
              </a:rPr>
              <a:t>elems</a:t>
            </a:r>
            <a:r>
              <a:rPr lang="en-GB" sz="1800" dirty="0">
                <a:latin typeface="Courier New" panose="02070309020205020404" pitchFamily="49" charset="0"/>
              </a:rPr>
              <a:t>[4] = 'The super-user (zero)'</a:t>
            </a:r>
          </a:p>
          <a:p>
            <a:pPr>
              <a:spcBef>
                <a:spcPct val="0"/>
              </a:spcBef>
            </a:pPr>
            <a:r>
              <a:rPr lang="en-GB" sz="1800" dirty="0">
                <a:latin typeface="Courier New" panose="02070309020205020404" pitchFamily="49" charset="0"/>
              </a:rPr>
              <a:t>line = ':'.join(</a:t>
            </a:r>
            <a:r>
              <a:rPr lang="en-GB" sz="1800" dirty="0" err="1">
                <a:latin typeface="Courier New" panose="02070309020205020404" pitchFamily="49" charset="0"/>
              </a:rPr>
              <a:t>elems</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print(line)</a:t>
            </a:r>
          </a:p>
        </p:txBody>
      </p:sp>
      <p:sp>
        <p:nvSpPr>
          <p:cNvPr id="16389" name="Text Box 5"/>
          <p:cNvSpPr txBox="1">
            <a:spLocks noChangeArrowheads="1"/>
          </p:cNvSpPr>
          <p:nvPr/>
        </p:nvSpPr>
        <p:spPr bwMode="auto">
          <a:xfrm>
            <a:off x="3642824" y="6234490"/>
            <a:ext cx="5938837" cy="3460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latin typeface="Courier New" panose="02070309020205020404" pitchFamily="49" charset="0"/>
              </a:rPr>
              <a:t>avatar::0:0:The super-user (zero):/root:/bin/</a:t>
            </a:r>
            <a:r>
              <a:rPr lang="en-GB" sz="1600" dirty="0" err="1">
                <a:latin typeface="Courier New" panose="02070309020205020404" pitchFamily="49" charset="0"/>
              </a:rPr>
              <a:t>sh</a:t>
            </a:r>
            <a:endParaRPr lang="en-GB" sz="1600" dirty="0">
              <a:latin typeface="Courier New" panose="02070309020205020404" pitchFamily="49" charset="0"/>
            </a:endParaRPr>
          </a:p>
        </p:txBody>
      </p:sp>
      <p:sp>
        <p:nvSpPr>
          <p:cNvPr id="2" name="Slide Number Placeholder 1">
            <a:extLst>
              <a:ext uri="{FF2B5EF4-FFF2-40B4-BE49-F238E27FC236}">
                <a16:creationId xmlns:a16="http://schemas.microsoft.com/office/drawing/2014/main" id="{A3723EAC-5B68-3EA3-CFC9-AFD03AA7C976}"/>
              </a:ext>
            </a:extLst>
          </p:cNvPr>
          <p:cNvSpPr>
            <a:spLocks noGrp="1"/>
          </p:cNvSpPr>
          <p:nvPr>
            <p:ph type="sldNum" sz="quarter" idx="4"/>
          </p:nvPr>
        </p:nvSpPr>
        <p:spPr/>
        <p:txBody>
          <a:bodyPr/>
          <a:lstStyle/>
          <a:p>
            <a:fld id="{EF892D59-8F09-EF4B-AD6D-DA609442F868}" type="slidenum">
              <a:rPr lang="en-GB" smtClean="0"/>
              <a:pPr/>
              <a:t>16</a:t>
            </a:fld>
            <a:endParaRPr lang="en-GB" dirty="0"/>
          </a:p>
        </p:txBody>
      </p:sp>
    </p:spTree>
    <p:extLst>
      <p:ext uri="{BB962C8B-B14F-4D97-AF65-F5344CB8AC3E}">
        <p14:creationId xmlns:p14="http://schemas.microsoft.com/office/powerpoint/2010/main" val="1018921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2B10AA4-765B-4C69-A898-6FFD98976C87}"/>
              </a:ext>
            </a:extLst>
          </p:cNvPr>
          <p:cNvSpPr>
            <a:spLocks noGrp="1"/>
          </p:cNvSpPr>
          <p:nvPr>
            <p:ph type="body" sz="quarter" idx="15"/>
          </p:nvPr>
        </p:nvSpPr>
        <p:spPr>
          <a:xfrm>
            <a:off x="4856162" y="416536"/>
            <a:ext cx="6770688" cy="5119407"/>
          </a:xfrm>
        </p:spPr>
        <p:txBody>
          <a:bodyPr/>
          <a:lstStyle/>
          <a:p>
            <a:pPr marL="342900" indent="-342900">
              <a:buFont typeface="Arial" panose="020B0604020202020204" pitchFamily="34" charset="0"/>
              <a:buChar char="•"/>
            </a:pPr>
            <a:r>
              <a:rPr lang="en-GB" sz="2400" b="1" dirty="0">
                <a:latin typeface="Montserrat"/>
              </a:rPr>
              <a:t>Python 3 strings are Unicode.</a:t>
            </a:r>
            <a:endParaRPr lang="en-US" sz="2400" dirty="0"/>
          </a:p>
          <a:p>
            <a:pPr marL="342900" indent="-342900">
              <a:buFont typeface="Arial" panose="020B0604020202020204" pitchFamily="34" charset="0"/>
              <a:buChar char="•"/>
            </a:pPr>
            <a:r>
              <a:rPr lang="en-GB" sz="2400" b="1" dirty="0">
                <a:latin typeface="Montserrat"/>
              </a:rPr>
              <a:t>Python variables are not embedded inside quotes.</a:t>
            </a:r>
            <a:endParaRPr lang="en-GB" sz="2400" dirty="0"/>
          </a:p>
          <a:p>
            <a:pPr marL="571500" indent="-342900">
              <a:spcAft>
                <a:spcPts val="600"/>
              </a:spcAft>
              <a:buFont typeface="Arial" panose="020B0604020202020204" pitchFamily="34" charset="0"/>
              <a:buChar char="•"/>
            </a:pPr>
            <a:r>
              <a:rPr lang="en-GB" sz="2400" dirty="0">
                <a:latin typeface="Montserrat"/>
              </a:rPr>
              <a:t>However, escape characters like \r\n\t can be.</a:t>
            </a:r>
            <a:endParaRPr lang="en-GB" sz="2400" dirty="0"/>
          </a:p>
          <a:p>
            <a:pPr marL="342900" indent="-342900">
              <a:buFont typeface="Arial" panose="020B0604020202020204" pitchFamily="34" charset="0"/>
              <a:buChar char="•"/>
            </a:pPr>
            <a:r>
              <a:rPr lang="en-GB" sz="2400" b="1" dirty="0">
                <a:latin typeface="Montserrat"/>
              </a:rPr>
              <a:t>No difference between ' and “.</a:t>
            </a:r>
            <a:endParaRPr lang="en-GB" sz="2400" dirty="0"/>
          </a:p>
          <a:p>
            <a:pPr marL="571500" indent="-342900">
              <a:spcAft>
                <a:spcPts val="600"/>
              </a:spcAft>
              <a:buFont typeface="Arial" panose="020B0604020202020204" pitchFamily="34" charset="0"/>
              <a:buChar char="•"/>
            </a:pPr>
            <a:r>
              <a:rPr lang="en-GB" sz="2400" dirty="0">
                <a:latin typeface="Montserrat"/>
              </a:rPr>
              <a:t>Use three quotes for multi-line text.</a:t>
            </a:r>
            <a:endParaRPr lang="en-GB" sz="2400" dirty="0"/>
          </a:p>
          <a:p>
            <a:pPr marL="342900" indent="-342900">
              <a:buFont typeface="Arial" panose="020B0604020202020204" pitchFamily="34" charset="0"/>
              <a:buChar char="•"/>
            </a:pPr>
            <a:r>
              <a:rPr lang="en-GB" sz="2400" b="1" dirty="0">
                <a:latin typeface="Montserrat"/>
              </a:rPr>
              <a:t>Several methods available on a string:</a:t>
            </a:r>
            <a:endParaRPr lang="en-GB" sz="2400" dirty="0"/>
          </a:p>
          <a:p>
            <a:pPr marL="571500" indent="-342900">
              <a:spcAft>
                <a:spcPts val="700"/>
              </a:spcAft>
              <a:buFont typeface="Arial" panose="020B0604020202020204" pitchFamily="34" charset="0"/>
              <a:buChar char="•"/>
            </a:pPr>
            <a:r>
              <a:rPr lang="en-GB" sz="2400" dirty="0">
                <a:latin typeface="Montserrat"/>
              </a:rPr>
              <a:t>Many for conversions.</a:t>
            </a:r>
            <a:endParaRPr lang="en-GB" sz="2400" dirty="0"/>
          </a:p>
          <a:p>
            <a:pPr marL="571500" indent="-342900">
              <a:spcAft>
                <a:spcPts val="700"/>
              </a:spcAft>
              <a:buFont typeface="Arial" panose="020B0604020202020204" pitchFamily="34" charset="0"/>
              <a:buChar char="•"/>
            </a:pPr>
            <a:r>
              <a:rPr lang="en-GB" sz="2400" dirty="0">
                <a:latin typeface="Montserrat"/>
              </a:rPr>
              <a:t>Formatting uses the format method.</a:t>
            </a:r>
            <a:endParaRPr lang="en-GB" sz="2400" dirty="0"/>
          </a:p>
          <a:p>
            <a:pPr marL="571500" indent="-342900">
              <a:spcAft>
                <a:spcPts val="700"/>
              </a:spcAft>
              <a:buFont typeface="Arial" panose="020B0604020202020204" pitchFamily="34" charset="0"/>
              <a:buChar char="•"/>
            </a:pPr>
            <a:r>
              <a:rPr lang="en-GB" sz="2400" dirty="0">
                <a:latin typeface="Montserrat"/>
              </a:rPr>
              <a:t>Split a string with split().</a:t>
            </a:r>
            <a:endParaRPr lang="en-GB" sz="2400" dirty="0"/>
          </a:p>
          <a:p>
            <a:pPr marL="571500" indent="-342900">
              <a:spcAft>
                <a:spcPts val="700"/>
              </a:spcAft>
              <a:buFont typeface="Arial" panose="020B0604020202020204" pitchFamily="34" charset="0"/>
              <a:buChar char="•"/>
            </a:pPr>
            <a:r>
              <a:rPr lang="en-GB" sz="2400" dirty="0">
                <a:latin typeface="Montserrat"/>
              </a:rPr>
              <a:t>Join items in a list with join().</a:t>
            </a:r>
            <a:endParaRPr lang="en-GB" sz="2400" dirty="0"/>
          </a:p>
          <a:p>
            <a:pPr marL="342900" indent="-342900">
              <a:buFont typeface="Arial" panose="020B0604020202020204" pitchFamily="34" charset="0"/>
              <a:buChar char="•"/>
            </a:pPr>
            <a:r>
              <a:rPr lang="en-GB" sz="2400" b="1" dirty="0">
                <a:latin typeface="Montserrat"/>
              </a:rPr>
              <a:t>Strings can be sliced[start:end+1].</a:t>
            </a:r>
            <a:endParaRPr lang="en-GB" sz="2400" dirty="0"/>
          </a:p>
          <a:p>
            <a:pPr marL="571500" indent="-342900">
              <a:spcAft>
                <a:spcPts val="600"/>
              </a:spcAft>
              <a:buFont typeface="Arial" panose="020B0604020202020204" pitchFamily="34" charset="0"/>
              <a:buChar char="•"/>
            </a:pPr>
            <a:r>
              <a:rPr lang="en-GB" sz="2400" dirty="0">
                <a:latin typeface="Montserrat"/>
              </a:rPr>
              <a:t>As can other sequences.</a:t>
            </a:r>
            <a:endParaRPr lang="en-GB" sz="2400" dirty="0"/>
          </a:p>
          <a:p>
            <a:endParaRPr lang="en-GB" sz="2400" b="1" dirty="0"/>
          </a:p>
          <a:p>
            <a:pPr>
              <a:lnSpc>
                <a:spcPct val="110000"/>
              </a:lnSpc>
            </a:pPr>
            <a:endParaRPr lang="en-GB" sz="2400" b="1" dirty="0"/>
          </a:p>
        </p:txBody>
      </p:sp>
      <p:sp>
        <p:nvSpPr>
          <p:cNvPr id="880643" name="Rectangle 3"/>
          <p:cNvSpPr>
            <a:spLocks noGrp="1" noChangeArrowheads="1"/>
          </p:cNvSpPr>
          <p:nvPr>
            <p:ph type="body" sz="quarter" idx="10"/>
          </p:nvPr>
        </p:nvSpPr>
        <p:spPr/>
        <p:txBody>
          <a:bodyPr/>
          <a:lstStyle/>
          <a:p>
            <a:pPr>
              <a:lnSpc>
                <a:spcPct val="110000"/>
              </a:lnSpc>
            </a:pPr>
            <a:r>
              <a:rPr lang="en-GB" dirty="0"/>
              <a:t>Summary</a:t>
            </a:r>
          </a:p>
        </p:txBody>
      </p:sp>
      <p:sp>
        <p:nvSpPr>
          <p:cNvPr id="3" name="Slide Number Placeholder 2">
            <a:extLst>
              <a:ext uri="{FF2B5EF4-FFF2-40B4-BE49-F238E27FC236}">
                <a16:creationId xmlns:a16="http://schemas.microsoft.com/office/drawing/2014/main" id="{C9531C9F-2A17-E312-22AF-77D452610B99}"/>
              </a:ext>
            </a:extLst>
          </p:cNvPr>
          <p:cNvSpPr>
            <a:spLocks noGrp="1"/>
          </p:cNvSpPr>
          <p:nvPr>
            <p:ph type="sldNum" sz="quarter" idx="4"/>
          </p:nvPr>
        </p:nvSpPr>
        <p:spPr/>
        <p:txBody>
          <a:bodyPr/>
          <a:lstStyle/>
          <a:p>
            <a:fld id="{EF892D59-8F09-EF4B-AD6D-DA609442F868}" type="slidenum">
              <a:rPr lang="en-GB" smtClean="0"/>
              <a:pPr/>
              <a:t>17</a:t>
            </a:fld>
            <a:endParaRPr lang="en-GB"/>
          </a:p>
        </p:txBody>
      </p:sp>
    </p:spTree>
    <p:extLst>
      <p:ext uri="{BB962C8B-B14F-4D97-AF65-F5344CB8AC3E}">
        <p14:creationId xmlns:p14="http://schemas.microsoft.com/office/powerpoint/2010/main" val="16183505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2000"/>
                                  </p:stCondLst>
                                  <p:childTnLst>
                                    <p:set>
                                      <p:cBhvr>
                                        <p:cTn id="6" dur="1" fill="hold">
                                          <p:stCondLst>
                                            <p:cond delay="0"/>
                                          </p:stCondLst>
                                        </p:cTn>
                                        <p:tgtEl>
                                          <p:spTgt spid="880643">
                                            <p:txEl>
                                              <p:pRg st="0" end="0"/>
                                            </p:txEl>
                                          </p:spTgt>
                                        </p:tgtEl>
                                        <p:attrNameLst>
                                          <p:attrName>style.visibility</p:attrName>
                                        </p:attrNameLst>
                                      </p:cBhvr>
                                      <p:to>
                                        <p:strVal val="visible"/>
                                      </p:to>
                                    </p:set>
                                    <p:animEffect transition="in" filter="slide(fromTop)">
                                      <p:cBhvr>
                                        <p:cTn id="7" dur="500"/>
                                        <p:tgtEl>
                                          <p:spTgt spid="8806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43" grpId="0" build="p" autoUpdateAnimBg="0" advAuto="200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9849B2-5BE6-46FC-956A-256AA5329A82}"/>
              </a:ext>
            </a:extLst>
          </p:cNvPr>
          <p:cNvSpPr>
            <a:spLocks noGrp="1"/>
          </p:cNvSpPr>
          <p:nvPr>
            <p:ph type="body" sz="quarter" idx="10"/>
          </p:nvPr>
        </p:nvSpPr>
        <p:spPr>
          <a:xfrm>
            <a:off x="384784" y="1102739"/>
            <a:ext cx="3443732" cy="2751998"/>
          </a:xfrm>
        </p:spPr>
        <p:txBody>
          <a:bodyPr/>
          <a:lstStyle/>
          <a:p>
            <a:r>
              <a:rPr lang="en-GB" dirty="0"/>
              <a:t>More string formatting examples</a:t>
            </a:r>
            <a:endParaRPr lang="en-US" dirty="0"/>
          </a:p>
          <a:p>
            <a:endParaRPr lang="en-GB" dirty="0"/>
          </a:p>
        </p:txBody>
      </p:sp>
      <p:sp>
        <p:nvSpPr>
          <p:cNvPr id="18435" name="Text Box 3"/>
          <p:cNvSpPr txBox="1">
            <a:spLocks noChangeArrowheads="1"/>
          </p:cNvSpPr>
          <p:nvPr/>
        </p:nvSpPr>
        <p:spPr bwMode="auto">
          <a:xfrm>
            <a:off x="4302690" y="707615"/>
            <a:ext cx="6959703" cy="641760"/>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flt</a:t>
            </a:r>
            <a:r>
              <a:rPr lang="en-GB" sz="1800" dirty="0">
                <a:latin typeface="Courier New" panose="02070309020205020404" pitchFamily="49" charset="0"/>
              </a:rPr>
              <a:t> = 22/7</a:t>
            </a:r>
          </a:p>
          <a:p>
            <a:pPr>
              <a:spcBef>
                <a:spcPct val="0"/>
              </a:spcBef>
            </a:pPr>
            <a:r>
              <a:rPr lang="en-GB" sz="1800" dirty="0">
                <a:latin typeface="Courier New" panose="02070309020205020404" pitchFamily="49" charset="0"/>
              </a:rPr>
              <a:t>print("Float: {</a:t>
            </a:r>
            <a:r>
              <a:rPr lang="en-GB" sz="1800" dirty="0">
                <a:solidFill>
                  <a:srgbClr val="FF0000"/>
                </a:solidFill>
                <a:latin typeface="Courier New" panose="02070309020205020404" pitchFamily="49" charset="0"/>
              </a:rPr>
              <a:t>0</a:t>
            </a:r>
            <a:r>
              <a:rPr lang="en-GB" sz="1800" dirty="0">
                <a:latin typeface="Courier New" panose="02070309020205020404" pitchFamily="49" charset="0"/>
              </a:rPr>
              <a:t>:11.8f}, </a:t>
            </a:r>
            <a:r>
              <a:rPr lang="en-GB" sz="1800" dirty="0" err="1">
                <a:latin typeface="Courier New" panose="02070309020205020404" pitchFamily="49" charset="0"/>
              </a:rPr>
              <a:t>sci</a:t>
            </a:r>
            <a:r>
              <a:rPr lang="en-GB" sz="1800" dirty="0">
                <a:latin typeface="Courier New" panose="02070309020205020404" pitchFamily="49" charset="0"/>
              </a:rPr>
              <a:t>: {</a:t>
            </a:r>
            <a:r>
              <a:rPr lang="en-GB" sz="1800" dirty="0">
                <a:solidFill>
                  <a:srgbClr val="FF0000"/>
                </a:solidFill>
                <a:latin typeface="Courier New" panose="02070309020205020404" pitchFamily="49" charset="0"/>
              </a:rPr>
              <a:t>0</a:t>
            </a:r>
            <a:r>
              <a:rPr lang="en-GB" sz="1800" dirty="0">
                <a:latin typeface="Courier New" panose="02070309020205020404" pitchFamily="49" charset="0"/>
              </a:rPr>
              <a:t>:e}".format(</a:t>
            </a:r>
            <a:r>
              <a:rPr lang="en-GB" sz="1800" dirty="0" err="1">
                <a:solidFill>
                  <a:srgbClr val="FF0000"/>
                </a:solidFill>
                <a:latin typeface="Courier New" panose="02070309020205020404" pitchFamily="49" charset="0"/>
              </a:rPr>
              <a:t>flt</a:t>
            </a:r>
            <a:r>
              <a:rPr lang="en-GB" sz="1800" dirty="0">
                <a:latin typeface="Courier New" panose="02070309020205020404" pitchFamily="49" charset="0"/>
              </a:rPr>
              <a:t>))</a:t>
            </a:r>
          </a:p>
        </p:txBody>
      </p:sp>
      <p:sp>
        <p:nvSpPr>
          <p:cNvPr id="18436" name="Text Box 4"/>
          <p:cNvSpPr txBox="1">
            <a:spLocks noChangeArrowheads="1"/>
          </p:cNvSpPr>
          <p:nvPr/>
        </p:nvSpPr>
        <p:spPr bwMode="auto">
          <a:xfrm>
            <a:off x="5886962" y="1354189"/>
            <a:ext cx="5365750" cy="37623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Float:  3.14285714, </a:t>
            </a:r>
            <a:r>
              <a:rPr lang="en-US" sz="1800" dirty="0" err="1">
                <a:latin typeface="Courier New" panose="02070309020205020404" pitchFamily="49" charset="0"/>
              </a:rPr>
              <a:t>sci</a:t>
            </a:r>
            <a:r>
              <a:rPr lang="en-US" sz="1800" dirty="0">
                <a:latin typeface="Courier New" panose="02070309020205020404" pitchFamily="49" charset="0"/>
              </a:rPr>
              <a:t>: 3.142857e+00</a:t>
            </a:r>
          </a:p>
        </p:txBody>
      </p:sp>
      <p:sp>
        <p:nvSpPr>
          <p:cNvPr id="18437" name="Text Box 5"/>
          <p:cNvSpPr txBox="1">
            <a:spLocks noChangeArrowheads="1"/>
          </p:cNvSpPr>
          <p:nvPr/>
        </p:nvSpPr>
        <p:spPr bwMode="auto">
          <a:xfrm>
            <a:off x="4297927" y="2261165"/>
            <a:ext cx="7370814" cy="928687"/>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first  = '</a:t>
            </a:r>
            <a:r>
              <a:rPr lang="en-GB" sz="1800" dirty="0" err="1">
                <a:latin typeface="Courier New" panose="02070309020205020404" pitchFamily="49" charset="0"/>
              </a:rPr>
              <a:t>Gengis</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second = 'Khan'</a:t>
            </a:r>
          </a:p>
          <a:p>
            <a:pPr>
              <a:spcBef>
                <a:spcPct val="0"/>
              </a:spcBef>
            </a:pPr>
            <a:r>
              <a:rPr lang="en-US" sz="1800" dirty="0">
                <a:latin typeface="Courier New" panose="02070309020205020404" pitchFamily="49" charset="0"/>
              </a:rPr>
              <a:t>print("Name: {:&lt;20s} {:&lt;10s}".format(first, second))</a:t>
            </a:r>
            <a:endParaRPr lang="en-GB" sz="1800" dirty="0">
              <a:latin typeface="Courier New" panose="02070309020205020404" pitchFamily="49" charset="0"/>
            </a:endParaRPr>
          </a:p>
        </p:txBody>
      </p:sp>
      <p:sp>
        <p:nvSpPr>
          <p:cNvPr id="18438" name="Text Box 6"/>
          <p:cNvSpPr txBox="1">
            <a:spLocks noChangeArrowheads="1"/>
          </p:cNvSpPr>
          <p:nvPr/>
        </p:nvSpPr>
        <p:spPr bwMode="auto">
          <a:xfrm>
            <a:off x="4368903" y="5779137"/>
            <a:ext cx="7358524" cy="369332"/>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fred</a:t>
            </a:r>
            <a:r>
              <a:rPr lang="en-GB" sz="1800" dirty="0">
                <a:latin typeface="Courier New" panose="02070309020205020404" pitchFamily="49" charset="0"/>
              </a:rPr>
              <a:t> = '{:</a:t>
            </a:r>
            <a:r>
              <a:rPr lang="en-GB" sz="1800" dirty="0">
                <a:solidFill>
                  <a:srgbClr val="FF0000"/>
                </a:solidFill>
                <a:latin typeface="Courier New" panose="02070309020205020404" pitchFamily="49" charset="0"/>
              </a:rPr>
              <a:t>#</a:t>
            </a:r>
            <a:r>
              <a:rPr lang="en-GB" sz="1800" dirty="0">
                <a:latin typeface="Courier New" panose="02070309020205020404" pitchFamily="49" charset="0"/>
              </a:rPr>
              <a:t>x}'.format(3735928559)</a:t>
            </a:r>
          </a:p>
        </p:txBody>
      </p:sp>
      <p:sp>
        <p:nvSpPr>
          <p:cNvPr id="18439" name="Text Box 7"/>
          <p:cNvSpPr txBox="1">
            <a:spLocks noChangeArrowheads="1"/>
          </p:cNvSpPr>
          <p:nvPr/>
        </p:nvSpPr>
        <p:spPr bwMode="auto">
          <a:xfrm>
            <a:off x="4282871" y="4142351"/>
            <a:ext cx="7911588" cy="647700"/>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file  = </a:t>
            </a:r>
            <a:r>
              <a:rPr lang="en-GB" sz="1800" dirty="0" err="1">
                <a:latin typeface="Courier New" panose="02070309020205020404" pitchFamily="49" charset="0"/>
              </a:rPr>
              <a:t>sys.argv</a:t>
            </a:r>
            <a:r>
              <a:rPr lang="en-GB" sz="1800" dirty="0">
                <a:latin typeface="Courier New" panose="02070309020205020404" pitchFamily="49" charset="0"/>
              </a:rPr>
              <a:t>[0]  </a:t>
            </a:r>
          </a:p>
          <a:p>
            <a:pPr>
              <a:spcBef>
                <a:spcPct val="0"/>
              </a:spcBef>
            </a:pPr>
            <a:r>
              <a:rPr lang="en-US" sz="1800" dirty="0">
                <a:latin typeface="Courier New" panose="02070309020205020404" pitchFamily="49" charset="0"/>
              </a:rPr>
              <a:t>perms = '0{:</a:t>
            </a:r>
            <a:r>
              <a:rPr lang="en-US" sz="1800" dirty="0">
                <a:solidFill>
                  <a:srgbClr val="FF0000"/>
                </a:solidFill>
                <a:latin typeface="Courier New" panose="02070309020205020404" pitchFamily="49" charset="0"/>
              </a:rPr>
              <a:t>o</a:t>
            </a:r>
            <a:r>
              <a:rPr lang="en-US" sz="1800" dirty="0">
                <a:latin typeface="Courier New" panose="02070309020205020404" pitchFamily="49" charset="0"/>
              </a:rPr>
              <a:t>}'.format((</a:t>
            </a:r>
            <a:r>
              <a:rPr lang="en-US" sz="1800" dirty="0" err="1">
                <a:latin typeface="Courier New" panose="02070309020205020404" pitchFamily="49" charset="0"/>
              </a:rPr>
              <a:t>os.stat</a:t>
            </a:r>
            <a:r>
              <a:rPr lang="en-US" sz="1800" dirty="0">
                <a:latin typeface="Courier New" panose="02070309020205020404" pitchFamily="49" charset="0"/>
              </a:rPr>
              <a:t>(file).</a:t>
            </a:r>
            <a:r>
              <a:rPr lang="en-US" sz="1800" dirty="0" err="1">
                <a:latin typeface="Courier New" panose="02070309020205020404" pitchFamily="49" charset="0"/>
              </a:rPr>
              <a:t>st_mode</a:t>
            </a:r>
            <a:r>
              <a:rPr lang="en-US" sz="1800" dirty="0">
                <a:latin typeface="Courier New" panose="02070309020205020404" pitchFamily="49" charset="0"/>
              </a:rPr>
              <a:t>) &amp; </a:t>
            </a:r>
            <a:r>
              <a:rPr lang="en-US" sz="1800" dirty="0">
                <a:solidFill>
                  <a:srgbClr val="FF0000"/>
                </a:solidFill>
                <a:latin typeface="Courier New" panose="02070309020205020404" pitchFamily="49" charset="0"/>
              </a:rPr>
              <a:t>0o7777</a:t>
            </a:r>
            <a:r>
              <a:rPr lang="en-US" sz="1800" dirty="0">
                <a:latin typeface="Courier New" panose="02070309020205020404" pitchFamily="49" charset="0"/>
              </a:rPr>
              <a:t>)</a:t>
            </a:r>
            <a:endParaRPr lang="en-GB" sz="1800" dirty="0">
              <a:latin typeface="Courier New" panose="02070309020205020404" pitchFamily="49" charset="0"/>
            </a:endParaRPr>
          </a:p>
        </p:txBody>
      </p:sp>
      <p:sp>
        <p:nvSpPr>
          <p:cNvPr id="18440" name="Text Box 8"/>
          <p:cNvSpPr txBox="1">
            <a:spLocks noChangeArrowheads="1"/>
          </p:cNvSpPr>
          <p:nvPr/>
        </p:nvSpPr>
        <p:spPr bwMode="auto">
          <a:xfrm>
            <a:off x="6375401" y="3200248"/>
            <a:ext cx="5287963" cy="37623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Name: </a:t>
            </a:r>
            <a:r>
              <a:rPr lang="en-US" sz="1800" dirty="0" err="1">
                <a:latin typeface="Courier New" panose="02070309020205020404" pitchFamily="49" charset="0"/>
              </a:rPr>
              <a:t>Gengis</a:t>
            </a:r>
            <a:r>
              <a:rPr lang="en-US" sz="1800" dirty="0">
                <a:latin typeface="Courier New" panose="02070309020205020404" pitchFamily="49" charset="0"/>
              </a:rPr>
              <a:t>               Khan      </a:t>
            </a:r>
          </a:p>
        </p:txBody>
      </p:sp>
      <p:sp>
        <p:nvSpPr>
          <p:cNvPr id="18441" name="Text Box 9"/>
          <p:cNvSpPr txBox="1">
            <a:spLocks noChangeArrowheads="1"/>
          </p:cNvSpPr>
          <p:nvPr/>
        </p:nvSpPr>
        <p:spPr bwMode="auto">
          <a:xfrm>
            <a:off x="9947942" y="6145263"/>
            <a:ext cx="1773237" cy="37623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solidFill>
                  <a:srgbClr val="FF0000"/>
                </a:solidFill>
                <a:latin typeface="Courier New" panose="02070309020205020404" pitchFamily="49" charset="0"/>
              </a:rPr>
              <a:t>0x</a:t>
            </a:r>
            <a:r>
              <a:rPr lang="en-US" sz="1800" dirty="0">
                <a:latin typeface="Courier New" panose="02070309020205020404" pitchFamily="49" charset="0"/>
              </a:rPr>
              <a:t>deadbeef</a:t>
            </a:r>
            <a:endParaRPr lang="en-GB" sz="1800" dirty="0">
              <a:latin typeface="Courier New" panose="02070309020205020404" pitchFamily="49" charset="0"/>
            </a:endParaRPr>
          </a:p>
        </p:txBody>
      </p:sp>
      <p:sp>
        <p:nvSpPr>
          <p:cNvPr id="18442" name="Text Box 10"/>
          <p:cNvSpPr txBox="1">
            <a:spLocks noChangeArrowheads="1"/>
          </p:cNvSpPr>
          <p:nvPr/>
        </p:nvSpPr>
        <p:spPr bwMode="auto">
          <a:xfrm>
            <a:off x="11396611" y="4791333"/>
            <a:ext cx="749300" cy="37623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0640</a:t>
            </a:r>
            <a:endParaRPr lang="en-GB" sz="1800" dirty="0">
              <a:latin typeface="Courier New" panose="02070309020205020404" pitchFamily="49" charset="0"/>
            </a:endParaRPr>
          </a:p>
        </p:txBody>
      </p:sp>
      <p:sp>
        <p:nvSpPr>
          <p:cNvPr id="18443" name="Text Box 11"/>
          <p:cNvSpPr txBox="1">
            <a:spLocks noChangeArrowheads="1"/>
          </p:cNvSpPr>
          <p:nvPr/>
        </p:nvSpPr>
        <p:spPr bwMode="auto">
          <a:xfrm>
            <a:off x="10773338" y="3796738"/>
            <a:ext cx="1414462" cy="346075"/>
          </a:xfrm>
          <a:prstGeom prst="rect">
            <a:avLst/>
          </a:prstGeom>
          <a:solidFill>
            <a:schemeClr val="bg1"/>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a:t>Octal number</a:t>
            </a:r>
          </a:p>
        </p:txBody>
      </p:sp>
      <p:sp>
        <p:nvSpPr>
          <p:cNvPr id="18444" name="Line 12"/>
          <p:cNvSpPr>
            <a:spLocks noChangeShapeType="1"/>
          </p:cNvSpPr>
          <p:nvPr/>
        </p:nvSpPr>
        <p:spPr bwMode="auto">
          <a:xfrm flipH="1">
            <a:off x="11443777" y="4090067"/>
            <a:ext cx="312737" cy="2921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en-GB"/>
          </a:p>
        </p:txBody>
      </p:sp>
      <p:sp>
        <p:nvSpPr>
          <p:cNvPr id="3" name="Slide Number Placeholder 2">
            <a:extLst>
              <a:ext uri="{FF2B5EF4-FFF2-40B4-BE49-F238E27FC236}">
                <a16:creationId xmlns:a16="http://schemas.microsoft.com/office/drawing/2014/main" id="{59E26B71-744C-7A03-7744-02C48484AA20}"/>
              </a:ext>
            </a:extLst>
          </p:cNvPr>
          <p:cNvSpPr>
            <a:spLocks noGrp="1"/>
          </p:cNvSpPr>
          <p:nvPr>
            <p:ph type="sldNum" sz="quarter" idx="4"/>
          </p:nvPr>
        </p:nvSpPr>
        <p:spPr/>
        <p:txBody>
          <a:bodyPr/>
          <a:lstStyle/>
          <a:p>
            <a:fld id="{EF892D59-8F09-EF4B-AD6D-DA609442F868}" type="slidenum">
              <a:rPr lang="en-GB" smtClean="0"/>
              <a:pPr/>
              <a:t>18</a:t>
            </a:fld>
            <a:endParaRPr lang="en-GB" dirty="0"/>
          </a:p>
        </p:txBody>
      </p:sp>
    </p:spTree>
    <p:extLst>
      <p:ext uri="{BB962C8B-B14F-4D97-AF65-F5344CB8AC3E}">
        <p14:creationId xmlns:p14="http://schemas.microsoft.com/office/powerpoint/2010/main" val="702362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C06324B-9774-FB70-D1AA-5DA258144CBE}"/>
              </a:ext>
            </a:extLst>
          </p:cNvPr>
          <p:cNvSpPr>
            <a:spLocks noGrp="1"/>
          </p:cNvSpPr>
          <p:nvPr>
            <p:ph type="body" sz="quarter" idx="15"/>
          </p:nvPr>
        </p:nvSpPr>
        <p:spPr>
          <a:xfrm>
            <a:off x="4779041" y="993565"/>
            <a:ext cx="6395890" cy="5274034"/>
          </a:xfrm>
        </p:spPr>
        <p:txBody>
          <a:bodyPr/>
          <a:lstStyle/>
          <a:p>
            <a:pPr>
              <a:lnSpc>
                <a:spcPct val="90000"/>
              </a:lnSpc>
              <a:spcAft>
                <a:spcPts val="0"/>
              </a:spcAft>
            </a:pPr>
            <a:r>
              <a:rPr lang="en-GB" b="1" dirty="0">
                <a:latin typeface="Montserrat"/>
                <a:cs typeface="Arial"/>
              </a:rPr>
              <a:t>Older method for formatting strings</a:t>
            </a:r>
          </a:p>
          <a:p>
            <a:pPr marL="457200" indent="-228600">
              <a:lnSpc>
                <a:spcPct val="90000"/>
              </a:lnSpc>
              <a:spcAft>
                <a:spcPts val="0"/>
              </a:spcAft>
              <a:buSzPct val="114999"/>
              <a:buChar char="•"/>
            </a:pPr>
            <a:r>
              <a:rPr lang="en-GB" sz="1800" dirty="0">
                <a:latin typeface="Montserrat"/>
                <a:cs typeface="Arial"/>
              </a:rPr>
              <a:t>Like </a:t>
            </a:r>
            <a:r>
              <a:rPr lang="en-GB" sz="1800" dirty="0" err="1">
                <a:latin typeface="Montserrat"/>
                <a:cs typeface="Courier New"/>
              </a:rPr>
              <a:t>sprintf</a:t>
            </a:r>
            <a:r>
              <a:rPr lang="en-GB" sz="1800" dirty="0">
                <a:latin typeface="Montserrat"/>
                <a:cs typeface="Arial"/>
              </a:rPr>
              <a:t> in some other languages.</a:t>
            </a:r>
            <a:endParaRPr lang="en-US" sz="1800" dirty="0">
              <a:latin typeface="Montserrat"/>
              <a:cs typeface="Arial"/>
            </a:endParaRPr>
          </a:p>
          <a:p>
            <a:pPr marL="1657350" lvl="3" indent="-285750">
              <a:buFont typeface="Arial,Sans-Serif"/>
              <a:buChar char="•"/>
            </a:pPr>
            <a:endParaRPr lang="en-GB" sz="1800" dirty="0">
              <a:latin typeface="Arial"/>
              <a:cs typeface="Arial"/>
            </a:endParaRPr>
          </a:p>
          <a:p>
            <a:pPr marL="1657350" lvl="3" indent="-285750">
              <a:buFont typeface="Arial,Sans-Serif"/>
              <a:buChar char="•"/>
            </a:pPr>
            <a:endParaRPr lang="en-GB" sz="1800" dirty="0">
              <a:latin typeface="Arial"/>
              <a:cs typeface="Arial"/>
            </a:endParaRPr>
          </a:p>
          <a:p>
            <a:pPr marL="0" lvl="1" indent="0">
              <a:buNone/>
            </a:pPr>
            <a:r>
              <a:rPr lang="en-GB" sz="1800" b="1" i="1" dirty="0" err="1">
                <a:solidFill>
                  <a:srgbClr val="0070C0"/>
                </a:solidFill>
                <a:latin typeface="Montserrat"/>
                <a:cs typeface="Arial"/>
              </a:rPr>
              <a:t>format_string</a:t>
            </a:r>
            <a:endParaRPr lang="en-GB" sz="1800" b="1" dirty="0">
              <a:solidFill>
                <a:srgbClr val="0070C0"/>
              </a:solidFill>
              <a:latin typeface="Montserrat"/>
              <a:cs typeface="Arial"/>
            </a:endParaRPr>
          </a:p>
          <a:p>
            <a:pPr marL="457200" lvl="2" indent="-228600">
              <a:buFont typeface="Arial,Sans-Serif"/>
              <a:buChar char="•"/>
            </a:pPr>
            <a:r>
              <a:rPr lang="en-GB" sz="1800" dirty="0">
                <a:latin typeface="Montserrat"/>
                <a:cs typeface="Arial"/>
              </a:rPr>
              <a:t>Contains text and format specifiers, prefixed %.</a:t>
            </a:r>
            <a:endParaRPr lang="en-US" sz="1800" dirty="0">
              <a:latin typeface="Montserrat"/>
              <a:cs typeface="Arial"/>
            </a:endParaRPr>
          </a:p>
          <a:p>
            <a:pPr marL="457200" lvl="2" indent="-228600">
              <a:buFont typeface="Arial,Sans-Serif"/>
              <a:buChar char="•"/>
            </a:pPr>
            <a:r>
              <a:rPr lang="en-GB" sz="1800" dirty="0">
                <a:latin typeface="Montserrat"/>
                <a:cs typeface="Arial"/>
              </a:rPr>
              <a:t>Describe format of the plugged-in value.</a:t>
            </a:r>
            <a:endParaRPr lang="en-US" sz="1800" dirty="0">
              <a:latin typeface="Montserrat"/>
              <a:cs typeface="Arial"/>
            </a:endParaRPr>
          </a:p>
          <a:p>
            <a:pPr marL="0" lvl="1" indent="0">
              <a:buNone/>
            </a:pPr>
            <a:endParaRPr lang="en-GB" sz="1800" b="1" i="1" dirty="0">
              <a:solidFill>
                <a:srgbClr val="FF0000"/>
              </a:solidFill>
              <a:latin typeface="Montserrat"/>
              <a:cs typeface="Arial"/>
            </a:endParaRPr>
          </a:p>
          <a:p>
            <a:pPr marL="0" lvl="1" indent="0">
              <a:buNone/>
            </a:pPr>
            <a:endParaRPr lang="en-GB" sz="1800" b="1" i="1" dirty="0">
              <a:solidFill>
                <a:srgbClr val="FF0000"/>
              </a:solidFill>
              <a:latin typeface="Montserrat"/>
              <a:cs typeface="Arial"/>
            </a:endParaRPr>
          </a:p>
          <a:p>
            <a:pPr marL="0" lvl="1" indent="0">
              <a:buNone/>
            </a:pPr>
            <a:endParaRPr lang="en-GB" sz="1800" b="1" i="1" dirty="0">
              <a:solidFill>
                <a:srgbClr val="FF0000"/>
              </a:solidFill>
              <a:latin typeface="Montserrat"/>
              <a:cs typeface="Arial"/>
            </a:endParaRPr>
          </a:p>
          <a:p>
            <a:pPr marL="0" lvl="1" indent="0">
              <a:buNone/>
            </a:pPr>
            <a:endParaRPr lang="en-GB" sz="1800" b="1" i="1" dirty="0">
              <a:solidFill>
                <a:srgbClr val="FF0000"/>
              </a:solidFill>
              <a:latin typeface="Montserrat"/>
              <a:cs typeface="Arial"/>
            </a:endParaRPr>
          </a:p>
          <a:p>
            <a:pPr marL="0" lvl="1" indent="0">
              <a:buNone/>
            </a:pPr>
            <a:endParaRPr lang="en-GB" sz="1800" b="1" i="1" dirty="0">
              <a:solidFill>
                <a:srgbClr val="FF0000"/>
              </a:solidFill>
              <a:latin typeface="Montserrat"/>
              <a:cs typeface="Arial"/>
            </a:endParaRPr>
          </a:p>
          <a:p>
            <a:pPr marL="0" lvl="1" indent="0">
              <a:buNone/>
            </a:pPr>
            <a:endParaRPr lang="en-GB" sz="1800" b="1" i="1" dirty="0">
              <a:solidFill>
                <a:srgbClr val="FF0000"/>
              </a:solidFill>
              <a:latin typeface="Montserrat"/>
              <a:cs typeface="Arial"/>
            </a:endParaRPr>
          </a:p>
          <a:p>
            <a:pPr marL="0" lvl="1" indent="0">
              <a:buNone/>
            </a:pPr>
            <a:r>
              <a:rPr lang="en-GB" sz="1800" b="1" i="1" dirty="0" err="1">
                <a:solidFill>
                  <a:srgbClr val="FF0000"/>
                </a:solidFill>
                <a:latin typeface="Montserrat"/>
                <a:cs typeface="Arial"/>
              </a:rPr>
              <a:t>argument_list</a:t>
            </a:r>
            <a:endParaRPr lang="en-GB" sz="1800" dirty="0" err="1">
              <a:solidFill>
                <a:srgbClr val="004050"/>
              </a:solidFill>
              <a:latin typeface="Montserrat"/>
              <a:cs typeface="Arial"/>
            </a:endParaRPr>
          </a:p>
          <a:p>
            <a:pPr marL="457200" lvl="2" indent="-228600">
              <a:buFont typeface="Arial,Sans-Serif"/>
              <a:buChar char="•"/>
            </a:pPr>
            <a:r>
              <a:rPr lang="en-GB" sz="1800" dirty="0">
                <a:latin typeface="Montserrat"/>
                <a:cs typeface="Arial"/>
              </a:rPr>
              <a:t>Contains text or variables to be plugged-in.</a:t>
            </a:r>
            <a:endParaRPr lang="en-US" sz="1800" dirty="0">
              <a:latin typeface="Montserrat"/>
              <a:cs typeface="Arial"/>
            </a:endParaRPr>
          </a:p>
          <a:p>
            <a:pPr marL="342900" indent="-342900">
              <a:lnSpc>
                <a:spcPct val="90000"/>
              </a:lnSpc>
              <a:spcAft>
                <a:spcPts val="0"/>
              </a:spcAft>
              <a:buSzPct val="114999"/>
              <a:buFont typeface="Arial,Sans-Serif"/>
              <a:buChar char="•"/>
            </a:pPr>
            <a:r>
              <a:rPr lang="en-GB" sz="3600" b="1" cap="all" dirty="0">
                <a:solidFill>
                  <a:srgbClr val="FFFFFF"/>
                </a:solidFill>
                <a:latin typeface="Arial"/>
                <a:cs typeface="Arial"/>
              </a:rPr>
              <a:t>FORMAT SPECIFIERS</a:t>
            </a:r>
            <a:endParaRPr lang="en-US" sz="3600" dirty="0">
              <a:solidFill>
                <a:srgbClr val="FFFFFF"/>
              </a:solidFill>
              <a:latin typeface="Arial"/>
              <a:cs typeface="Arial"/>
            </a:endParaRPr>
          </a:p>
          <a:p>
            <a:endParaRPr lang="en-GB" dirty="0"/>
          </a:p>
        </p:txBody>
      </p:sp>
      <p:sp>
        <p:nvSpPr>
          <p:cNvPr id="19460" name="Text Box 4"/>
          <p:cNvSpPr txBox="1">
            <a:spLocks noChangeArrowheads="1"/>
          </p:cNvSpPr>
          <p:nvPr/>
        </p:nvSpPr>
        <p:spPr bwMode="auto">
          <a:xfrm>
            <a:off x="10575636" y="5599113"/>
            <a:ext cx="18473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lgn="ctr">
              <a:spcBef>
                <a:spcPct val="0"/>
              </a:spcBef>
            </a:pPr>
            <a:endParaRPr lang="en-US" sz="1800" b="1"/>
          </a:p>
        </p:txBody>
      </p:sp>
      <p:sp>
        <p:nvSpPr>
          <p:cNvPr id="19461" name="Text Box 5"/>
          <p:cNvSpPr txBox="1">
            <a:spLocks noChangeArrowheads="1"/>
          </p:cNvSpPr>
          <p:nvPr/>
        </p:nvSpPr>
        <p:spPr bwMode="auto">
          <a:xfrm>
            <a:off x="5251434" y="1606286"/>
            <a:ext cx="4173076" cy="400110"/>
          </a:xfrm>
          <a:prstGeom prst="rect">
            <a:avLst/>
          </a:prstGeom>
          <a:solidFill>
            <a:schemeClr val="bg1">
              <a:lumMod val="95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2000" i="1" dirty="0">
                <a:latin typeface="Arial"/>
                <a:cs typeface="Arial"/>
              </a:rPr>
              <a:t>"</a:t>
            </a:r>
            <a:r>
              <a:rPr lang="en-GB" sz="2000" i="1" err="1">
                <a:solidFill>
                  <a:srgbClr val="0070C0"/>
                </a:solidFill>
                <a:latin typeface="Arial"/>
                <a:cs typeface="Arial"/>
              </a:rPr>
              <a:t>format_string</a:t>
            </a:r>
            <a:r>
              <a:rPr lang="en-GB" sz="2000" i="1" dirty="0">
                <a:latin typeface="Arial"/>
                <a:cs typeface="Arial"/>
              </a:rPr>
              <a:t>"</a:t>
            </a:r>
            <a:r>
              <a:rPr lang="en-GB" sz="2000" b="1" dirty="0">
                <a:latin typeface="Arial"/>
                <a:cs typeface="Arial"/>
              </a:rPr>
              <a:t> % (</a:t>
            </a:r>
            <a:r>
              <a:rPr lang="en-GB" sz="2000" i="1" err="1">
                <a:solidFill>
                  <a:srgbClr val="FF0000"/>
                </a:solidFill>
                <a:latin typeface="Arial"/>
                <a:cs typeface="Arial"/>
              </a:rPr>
              <a:t>argument_list</a:t>
            </a:r>
            <a:r>
              <a:rPr lang="en-GB" sz="2000" b="1" dirty="0">
                <a:latin typeface="Arial"/>
                <a:cs typeface="Arial"/>
              </a:rPr>
              <a:t>)</a:t>
            </a:r>
            <a:endParaRPr lang="en-GB" sz="2000" dirty="0">
              <a:latin typeface="Arial"/>
              <a:cs typeface="Arial"/>
            </a:endParaRPr>
          </a:p>
        </p:txBody>
      </p:sp>
      <p:sp>
        <p:nvSpPr>
          <p:cNvPr id="19462" name="Text Box 6"/>
          <p:cNvSpPr txBox="1">
            <a:spLocks noChangeArrowheads="1"/>
          </p:cNvSpPr>
          <p:nvPr/>
        </p:nvSpPr>
        <p:spPr bwMode="auto">
          <a:xfrm>
            <a:off x="5254113" y="3336003"/>
            <a:ext cx="5852884" cy="1754326"/>
          </a:xfrm>
          <a:prstGeom prst="rect">
            <a:avLst/>
          </a:prstGeom>
          <a:solidFill>
            <a:schemeClr val="bg1">
              <a:lumMod val="95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defTabSz="714375">
              <a:defRPr sz="1000">
                <a:solidFill>
                  <a:schemeClr val="tx1"/>
                </a:solidFill>
                <a:latin typeface="Arial" charset="0"/>
              </a:defRPr>
            </a:lvl1pPr>
            <a:lvl2pPr marL="742950" indent="-285750" defTabSz="714375">
              <a:defRPr sz="1000">
                <a:solidFill>
                  <a:schemeClr val="tx1"/>
                </a:solidFill>
                <a:latin typeface="Arial" charset="0"/>
              </a:defRPr>
            </a:lvl2pPr>
            <a:lvl3pPr marL="1143000" indent="-228600" defTabSz="714375">
              <a:defRPr sz="1000">
                <a:solidFill>
                  <a:schemeClr val="tx1"/>
                </a:solidFill>
                <a:latin typeface="Arial" charset="0"/>
              </a:defRPr>
            </a:lvl3pPr>
            <a:lvl4pPr marL="1600200" indent="-228600" defTabSz="714375">
              <a:defRPr sz="1000">
                <a:solidFill>
                  <a:schemeClr val="tx1"/>
                </a:solidFill>
                <a:latin typeface="Arial" charset="0"/>
              </a:defRPr>
            </a:lvl4pPr>
            <a:lvl5pPr marL="2057400" indent="-228600" defTabSz="714375">
              <a:defRPr sz="1000">
                <a:solidFill>
                  <a:schemeClr val="tx1"/>
                </a:solidFill>
                <a:latin typeface="Arial" charset="0"/>
              </a:defRPr>
            </a:lvl5pPr>
            <a:lvl6pPr marL="2514600" indent="-228600" defTabSz="714375" eaLnBrk="0" fontAlgn="base" hangingPunct="0">
              <a:spcBef>
                <a:spcPct val="50000"/>
              </a:spcBef>
              <a:spcAft>
                <a:spcPct val="0"/>
              </a:spcAft>
              <a:defRPr sz="1000">
                <a:solidFill>
                  <a:schemeClr val="tx1"/>
                </a:solidFill>
                <a:latin typeface="Arial" charset="0"/>
              </a:defRPr>
            </a:lvl6pPr>
            <a:lvl7pPr marL="2971800" indent="-228600" defTabSz="714375" eaLnBrk="0" fontAlgn="base" hangingPunct="0">
              <a:spcBef>
                <a:spcPct val="50000"/>
              </a:spcBef>
              <a:spcAft>
                <a:spcPct val="0"/>
              </a:spcAft>
              <a:defRPr sz="1000">
                <a:solidFill>
                  <a:schemeClr val="tx1"/>
                </a:solidFill>
                <a:latin typeface="Arial" charset="0"/>
              </a:defRPr>
            </a:lvl7pPr>
            <a:lvl8pPr marL="3429000" indent="-228600" defTabSz="714375" eaLnBrk="0" fontAlgn="base" hangingPunct="0">
              <a:spcBef>
                <a:spcPct val="50000"/>
              </a:spcBef>
              <a:spcAft>
                <a:spcPct val="0"/>
              </a:spcAft>
              <a:defRPr sz="1000">
                <a:solidFill>
                  <a:schemeClr val="tx1"/>
                </a:solidFill>
                <a:latin typeface="Arial" charset="0"/>
              </a:defRPr>
            </a:lvl8pPr>
            <a:lvl9pPr marL="3886200" indent="-228600" defTabSz="7143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t>%s	string			%o	octal	</a:t>
            </a:r>
          </a:p>
          <a:p>
            <a:pPr>
              <a:spcBef>
                <a:spcPct val="0"/>
              </a:spcBef>
            </a:pPr>
            <a:r>
              <a:rPr lang="en-GB" sz="1800" dirty="0"/>
              <a:t>%c	character		%x	lowercase hex</a:t>
            </a:r>
          </a:p>
          <a:p>
            <a:pPr>
              <a:spcBef>
                <a:spcPct val="0"/>
              </a:spcBef>
            </a:pPr>
            <a:r>
              <a:rPr lang="en-GB" sz="1800" dirty="0"/>
              <a:t>%d	decimal		%X	uppercase hex</a:t>
            </a:r>
          </a:p>
          <a:p>
            <a:pPr>
              <a:spcBef>
                <a:spcPct val="0"/>
              </a:spcBef>
            </a:pPr>
            <a:r>
              <a:rPr lang="en-GB" sz="1800" dirty="0"/>
              <a:t>%</a:t>
            </a:r>
            <a:r>
              <a:rPr lang="en-GB" sz="1800" dirty="0" err="1"/>
              <a:t>i</a:t>
            </a:r>
            <a:r>
              <a:rPr lang="en-GB" sz="1800" dirty="0"/>
              <a:t>	integer			%%	literal %</a:t>
            </a:r>
          </a:p>
          <a:p>
            <a:pPr>
              <a:spcBef>
                <a:spcPct val="0"/>
              </a:spcBef>
            </a:pPr>
            <a:r>
              <a:rPr lang="en-GB" sz="1800" dirty="0"/>
              <a:t>%u	unsigned </a:t>
            </a:r>
            <a:r>
              <a:rPr lang="en-GB" sz="1800" dirty="0" err="1"/>
              <a:t>int</a:t>
            </a:r>
            <a:endParaRPr lang="en-GB" sz="1800" dirty="0"/>
          </a:p>
          <a:p>
            <a:r>
              <a:rPr lang="en-GB" sz="1800" dirty="0"/>
              <a:t>%e, %E, %f, %g, %G - alternative floating point formats</a:t>
            </a:r>
          </a:p>
        </p:txBody>
      </p:sp>
      <p:sp>
        <p:nvSpPr>
          <p:cNvPr id="4" name="Content Placeholder 1">
            <a:extLst>
              <a:ext uri="{FF2B5EF4-FFF2-40B4-BE49-F238E27FC236}">
                <a16:creationId xmlns:a16="http://schemas.microsoft.com/office/drawing/2014/main" id="{082FF5E2-E297-7C01-C977-591F78239DDF}"/>
              </a:ext>
            </a:extLst>
          </p:cNvPr>
          <p:cNvSpPr txBox="1">
            <a:spLocks/>
          </p:cNvSpPr>
          <p:nvPr/>
        </p:nvSpPr>
        <p:spPr>
          <a:xfrm>
            <a:off x="384784" y="956693"/>
            <a:ext cx="3443732" cy="2751998"/>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ts val="0"/>
              </a:spcBef>
              <a:spcAft>
                <a:spcPts val="0"/>
              </a:spcAft>
              <a:buSzPct val="115000"/>
              <a:buFont typeface="Arial" panose="020B0604020202020204" pitchFamily="34" charset="0"/>
              <a:buNone/>
              <a:defRPr sz="3600" b="0" i="0" kern="1200" cap="all" spc="60" baseline="0">
                <a:solidFill>
                  <a:schemeClr val="bg1"/>
                </a:solidFill>
                <a:latin typeface="Krana Fat B" panose="00000B00000000000000" pitchFamily="50" charset="0"/>
                <a:ea typeface="+mn-ea"/>
                <a:cs typeface="+mn-cs"/>
              </a:defRPr>
            </a:lvl1pPr>
            <a:lvl2pPr marL="0" indent="0" algn="l" defTabSz="914400" rtl="0" eaLnBrk="1" latinLnBrk="0" hangingPunct="1">
              <a:lnSpc>
                <a:spcPct val="100000"/>
              </a:lnSpc>
              <a:spcBef>
                <a:spcPts val="0"/>
              </a:spcBef>
              <a:spcAft>
                <a:spcPts val="650"/>
              </a:spcAft>
              <a:buSzPct val="125000"/>
              <a:buFont typeface="Arial" panose="020B0604020202020204" pitchFamily="34" charset="0"/>
              <a:buNone/>
              <a:tabLst/>
              <a:defRPr sz="2000" b="0" kern="1200">
                <a:solidFill>
                  <a:schemeClr val="tx1"/>
                </a:solidFill>
                <a:latin typeface="Montserrat" pitchFamily="2" charset="77"/>
                <a:ea typeface="+mn-ea"/>
                <a:cs typeface="+mn-cs"/>
              </a:defRPr>
            </a:lvl2pPr>
            <a:lvl3pPr marL="0" indent="0" algn="l" defTabSz="914400" rtl="0" eaLnBrk="1" latinLnBrk="0" hangingPunct="1">
              <a:lnSpc>
                <a:spcPct val="100000"/>
              </a:lnSpc>
              <a:spcBef>
                <a:spcPts val="0"/>
              </a:spcBef>
              <a:spcAft>
                <a:spcPts val="650"/>
              </a:spcAft>
              <a:buSzPct val="120000"/>
              <a:buFont typeface="Arial" panose="020B0604020202020204" pitchFamily="34" charset="0"/>
              <a:buNone/>
              <a:tabLst/>
              <a:defRPr sz="2000" b="0" i="0" kern="1200">
                <a:solidFill>
                  <a:schemeClr val="tx1"/>
                </a:solidFill>
                <a:latin typeface="Montserrat" pitchFamily="2" charset="77"/>
                <a:ea typeface="+mn-ea"/>
                <a:cs typeface="+mn-cs"/>
              </a:defRPr>
            </a:lvl3pPr>
            <a:lvl4pPr marL="0" indent="0" algn="l" defTabSz="914400" rtl="0" eaLnBrk="1" latinLnBrk="0" hangingPunct="1">
              <a:lnSpc>
                <a:spcPct val="100000"/>
              </a:lnSpc>
              <a:spcBef>
                <a:spcPts val="0"/>
              </a:spcBef>
              <a:spcAft>
                <a:spcPts val="650"/>
              </a:spcAft>
              <a:buSzPct val="120000"/>
              <a:buFont typeface="Arial" panose="020B0604020202020204" pitchFamily="34" charset="0"/>
              <a:buNone/>
              <a:tabLst/>
              <a:defRPr sz="2000" b="0" kern="1200">
                <a:solidFill>
                  <a:schemeClr val="tx1"/>
                </a:solidFill>
                <a:latin typeface="Montserrat" pitchFamily="2" charset="77"/>
                <a:ea typeface="+mn-ea"/>
                <a:cs typeface="+mn-cs"/>
              </a:defRPr>
            </a:lvl4pPr>
            <a:lvl5pPr marL="0" indent="0" algn="l" defTabSz="914400" rtl="0" eaLnBrk="1" latinLnBrk="0" hangingPunct="1">
              <a:lnSpc>
                <a:spcPct val="100000"/>
              </a:lnSpc>
              <a:spcBef>
                <a:spcPts val="0"/>
              </a:spcBef>
              <a:spcAft>
                <a:spcPts val="650"/>
              </a:spcAft>
              <a:buSzPct val="125000"/>
              <a:buFont typeface="Arial" panose="020B0604020202020204" pitchFamily="34" charset="0"/>
              <a:buNone/>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endParaRPr lang="en-GB" dirty="0">
              <a:latin typeface="Montserrat Black" panose="00000A00000000000000" pitchFamily="2" charset="0"/>
            </a:endParaRPr>
          </a:p>
        </p:txBody>
      </p:sp>
      <p:sp>
        <p:nvSpPr>
          <p:cNvPr id="9" name="Text Placeholder 8">
            <a:extLst>
              <a:ext uri="{FF2B5EF4-FFF2-40B4-BE49-F238E27FC236}">
                <a16:creationId xmlns:a16="http://schemas.microsoft.com/office/drawing/2014/main" id="{317A5036-AB4A-46C5-B374-69A10977521B}"/>
              </a:ext>
            </a:extLst>
          </p:cNvPr>
          <p:cNvSpPr>
            <a:spLocks noGrp="1"/>
          </p:cNvSpPr>
          <p:nvPr>
            <p:ph type="body" sz="quarter" idx="10"/>
          </p:nvPr>
        </p:nvSpPr>
        <p:spPr>
          <a:xfrm>
            <a:off x="384784" y="1214946"/>
            <a:ext cx="3443732" cy="2751998"/>
          </a:xfrm>
        </p:spPr>
        <p:txBody>
          <a:bodyPr/>
          <a:lstStyle/>
          <a:p>
            <a:r>
              <a:rPr lang="en-GB" dirty="0">
                <a:cs typeface="Segoe UI"/>
              </a:rPr>
              <a:t>PYTHON 2</a:t>
            </a:r>
            <a:endParaRPr lang="en-US" dirty="0">
              <a:cs typeface="Segoe UI"/>
            </a:endParaRPr>
          </a:p>
          <a:p>
            <a:r>
              <a:rPr lang="en-GB" dirty="0">
                <a:cs typeface="Segoe UI"/>
              </a:rPr>
              <a:t>STRING</a:t>
            </a:r>
          </a:p>
          <a:p>
            <a:r>
              <a:rPr lang="en-GB" dirty="0">
                <a:cs typeface="Segoe UI"/>
              </a:rPr>
              <a:t>FORMATTING</a:t>
            </a:r>
            <a:endParaRPr lang="en-GB" dirty="0"/>
          </a:p>
          <a:p>
            <a:endParaRPr lang="en-GB" dirty="0">
              <a:cs typeface="Segoe UI"/>
            </a:endParaRPr>
          </a:p>
          <a:p>
            <a:endParaRPr lang="en-GB" dirty="0"/>
          </a:p>
        </p:txBody>
      </p:sp>
      <p:sp>
        <p:nvSpPr>
          <p:cNvPr id="2" name="Slide Number Placeholder 1">
            <a:extLst>
              <a:ext uri="{FF2B5EF4-FFF2-40B4-BE49-F238E27FC236}">
                <a16:creationId xmlns:a16="http://schemas.microsoft.com/office/drawing/2014/main" id="{4BB1E65A-1953-4153-4668-17711F6F0F2E}"/>
              </a:ext>
            </a:extLst>
          </p:cNvPr>
          <p:cNvSpPr>
            <a:spLocks noGrp="1"/>
          </p:cNvSpPr>
          <p:nvPr>
            <p:ph type="sldNum" sz="quarter" idx="4"/>
          </p:nvPr>
        </p:nvSpPr>
        <p:spPr/>
        <p:txBody>
          <a:bodyPr/>
          <a:lstStyle/>
          <a:p>
            <a:fld id="{EF892D59-8F09-EF4B-AD6D-DA609442F868}" type="slidenum">
              <a:rPr lang="en-GB" smtClean="0"/>
              <a:pPr/>
              <a:t>19</a:t>
            </a:fld>
            <a:endParaRPr lang="en-GB" dirty="0"/>
          </a:p>
        </p:txBody>
      </p:sp>
    </p:spTree>
    <p:extLst>
      <p:ext uri="{BB962C8B-B14F-4D97-AF65-F5344CB8AC3E}">
        <p14:creationId xmlns:p14="http://schemas.microsoft.com/office/powerpoint/2010/main" val="2357177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49D096-E24D-4C33-A2E6-1F19B2436B52}"/>
              </a:ext>
            </a:extLst>
          </p:cNvPr>
          <p:cNvSpPr>
            <a:spLocks noGrp="1"/>
          </p:cNvSpPr>
          <p:nvPr>
            <p:ph type="body" sz="quarter" idx="10"/>
          </p:nvPr>
        </p:nvSpPr>
        <p:spPr>
          <a:xfrm>
            <a:off x="398895" y="1143546"/>
            <a:ext cx="3443732" cy="2751998"/>
          </a:xfrm>
        </p:spPr>
        <p:txBody>
          <a:bodyPr/>
          <a:lstStyle/>
          <a:p>
            <a:r>
              <a:rPr lang="en-GB" dirty="0"/>
              <a:t>Python 2</a:t>
            </a:r>
            <a:endParaRPr lang="en-US" dirty="0"/>
          </a:p>
          <a:p>
            <a:r>
              <a:rPr lang="en-GB" dirty="0"/>
              <a:t>String</a:t>
            </a:r>
          </a:p>
          <a:p>
            <a:r>
              <a:rPr lang="en-GB" dirty="0"/>
              <a:t>Formatting</a:t>
            </a:r>
          </a:p>
          <a:p>
            <a:r>
              <a:rPr lang="en-GB" dirty="0"/>
              <a:t>Examples</a:t>
            </a:r>
          </a:p>
        </p:txBody>
      </p:sp>
      <p:sp>
        <p:nvSpPr>
          <p:cNvPr id="20483" name="Text Box 3"/>
          <p:cNvSpPr txBox="1">
            <a:spLocks noChangeArrowheads="1"/>
          </p:cNvSpPr>
          <p:nvPr/>
        </p:nvSpPr>
        <p:spPr bwMode="auto">
          <a:xfrm>
            <a:off x="4477486" y="1008539"/>
            <a:ext cx="7326137" cy="598886"/>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lIns="91440" tIns="45720" rIns="91440" bIns="45720"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600" err="1">
                <a:latin typeface="Courier New"/>
                <a:cs typeface="Courier New"/>
              </a:rPr>
              <a:t>flt</a:t>
            </a:r>
            <a:r>
              <a:rPr lang="en-GB" sz="1600" dirty="0">
                <a:latin typeface="Courier New"/>
                <a:cs typeface="Courier New"/>
              </a:rPr>
              <a:t> = 22/7</a:t>
            </a:r>
          </a:p>
          <a:p>
            <a:pPr>
              <a:spcBef>
                <a:spcPct val="0"/>
              </a:spcBef>
            </a:pPr>
            <a:r>
              <a:rPr lang="en-GB" sz="1600" dirty="0">
                <a:latin typeface="Courier New"/>
                <a:cs typeface="Courier New"/>
              </a:rPr>
              <a:t>print("Float format: </a:t>
            </a:r>
            <a:r>
              <a:rPr lang="en-GB" sz="1600" dirty="0">
                <a:solidFill>
                  <a:srgbClr val="FF0000"/>
                </a:solidFill>
                <a:latin typeface="Courier New"/>
                <a:cs typeface="Courier New"/>
              </a:rPr>
              <a:t>%11.8f</a:t>
            </a:r>
            <a:r>
              <a:rPr lang="en-GB" sz="1600" dirty="0">
                <a:latin typeface="Courier New"/>
                <a:cs typeface="Courier New"/>
              </a:rPr>
              <a:t>, scientific: </a:t>
            </a:r>
            <a:r>
              <a:rPr lang="en-GB" sz="1600" dirty="0">
                <a:solidFill>
                  <a:srgbClr val="0070C0"/>
                </a:solidFill>
                <a:latin typeface="Courier New"/>
                <a:cs typeface="Courier New"/>
              </a:rPr>
              <a:t>%e</a:t>
            </a:r>
            <a:r>
              <a:rPr lang="en-GB" sz="1600" dirty="0">
                <a:latin typeface="Courier New"/>
                <a:cs typeface="Courier New"/>
              </a:rPr>
              <a:t>" % (</a:t>
            </a:r>
            <a:r>
              <a:rPr lang="en-GB" sz="1600" err="1">
                <a:solidFill>
                  <a:srgbClr val="FF0000"/>
                </a:solidFill>
                <a:latin typeface="Courier New"/>
                <a:cs typeface="Courier New"/>
              </a:rPr>
              <a:t>flt</a:t>
            </a:r>
            <a:r>
              <a:rPr lang="en-GB" sz="1600" dirty="0">
                <a:latin typeface="Courier New"/>
                <a:cs typeface="Courier New"/>
              </a:rPr>
              <a:t>, </a:t>
            </a:r>
            <a:r>
              <a:rPr lang="en-GB" sz="1600" err="1">
                <a:solidFill>
                  <a:srgbClr val="0070C0"/>
                </a:solidFill>
                <a:latin typeface="Courier New"/>
                <a:cs typeface="Courier New"/>
              </a:rPr>
              <a:t>flt</a:t>
            </a:r>
            <a:r>
              <a:rPr lang="en-GB" sz="1600" dirty="0">
                <a:latin typeface="Courier New"/>
                <a:cs typeface="Courier New"/>
              </a:rPr>
              <a:t>))</a:t>
            </a:r>
          </a:p>
        </p:txBody>
      </p:sp>
      <p:sp>
        <p:nvSpPr>
          <p:cNvPr id="20484" name="Text Box 4"/>
          <p:cNvSpPr txBox="1">
            <a:spLocks noChangeArrowheads="1"/>
          </p:cNvSpPr>
          <p:nvPr/>
        </p:nvSpPr>
        <p:spPr bwMode="auto">
          <a:xfrm>
            <a:off x="4556877" y="1610009"/>
            <a:ext cx="7239000" cy="37623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Float format:  3.14285714, scientific: 3.142857e+00</a:t>
            </a:r>
          </a:p>
        </p:txBody>
      </p:sp>
      <p:sp>
        <p:nvSpPr>
          <p:cNvPr id="20485" name="Text Box 5"/>
          <p:cNvSpPr txBox="1">
            <a:spLocks noChangeArrowheads="1"/>
          </p:cNvSpPr>
          <p:nvPr/>
        </p:nvSpPr>
        <p:spPr bwMode="auto">
          <a:xfrm>
            <a:off x="4472723" y="2429587"/>
            <a:ext cx="6968419" cy="942798"/>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first  = '</a:t>
            </a:r>
            <a:r>
              <a:rPr lang="en-GB" sz="1800" dirty="0" err="1">
                <a:latin typeface="Courier New" panose="02070309020205020404" pitchFamily="49" charset="0"/>
              </a:rPr>
              <a:t>Gengis</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second = 'Khan'</a:t>
            </a:r>
          </a:p>
          <a:p>
            <a:pPr>
              <a:spcBef>
                <a:spcPct val="0"/>
              </a:spcBef>
            </a:pPr>
            <a:r>
              <a:rPr lang="en-GB" sz="1800" dirty="0">
                <a:latin typeface="Courier New" panose="02070309020205020404" pitchFamily="49" charset="0"/>
              </a:rPr>
              <a:t>print("Name: </a:t>
            </a:r>
            <a:r>
              <a:rPr lang="en-GB" sz="1800" dirty="0">
                <a:solidFill>
                  <a:srgbClr val="FF0000"/>
                </a:solidFill>
                <a:latin typeface="Courier New" panose="02070309020205020404" pitchFamily="49" charset="0"/>
              </a:rPr>
              <a:t>%-20s </a:t>
            </a:r>
            <a:r>
              <a:rPr lang="en-GB" sz="1800" dirty="0">
                <a:solidFill>
                  <a:srgbClr val="0070C0"/>
                </a:solidFill>
                <a:latin typeface="Courier New" panose="02070309020205020404" pitchFamily="49" charset="0"/>
              </a:rPr>
              <a:t>%-10s</a:t>
            </a:r>
            <a:r>
              <a:rPr lang="en-GB" sz="1800" dirty="0">
                <a:latin typeface="Courier New" panose="02070309020205020404" pitchFamily="49" charset="0"/>
              </a:rPr>
              <a:t>" % (</a:t>
            </a:r>
            <a:r>
              <a:rPr lang="en-GB" sz="1800" dirty="0">
                <a:solidFill>
                  <a:srgbClr val="FF0000"/>
                </a:solidFill>
                <a:latin typeface="Courier New" panose="02070309020205020404" pitchFamily="49" charset="0"/>
              </a:rPr>
              <a:t>first</a:t>
            </a:r>
            <a:r>
              <a:rPr lang="en-GB" sz="1800" dirty="0">
                <a:latin typeface="Courier New" panose="02070309020205020404" pitchFamily="49" charset="0"/>
              </a:rPr>
              <a:t>, </a:t>
            </a:r>
            <a:r>
              <a:rPr lang="en-GB" sz="1800" dirty="0">
                <a:solidFill>
                  <a:srgbClr val="0070C0"/>
                </a:solidFill>
                <a:latin typeface="Courier New" panose="02070309020205020404" pitchFamily="49" charset="0"/>
              </a:rPr>
              <a:t>second</a:t>
            </a:r>
            <a:r>
              <a:rPr lang="en-GB" sz="1800" dirty="0">
                <a:latin typeface="Courier New" panose="02070309020205020404" pitchFamily="49" charset="0"/>
              </a:rPr>
              <a:t>))</a:t>
            </a:r>
          </a:p>
        </p:txBody>
      </p:sp>
      <p:sp>
        <p:nvSpPr>
          <p:cNvPr id="20486" name="Text Box 6"/>
          <p:cNvSpPr txBox="1">
            <a:spLocks noChangeArrowheads="1"/>
          </p:cNvSpPr>
          <p:nvPr/>
        </p:nvSpPr>
        <p:spPr bwMode="auto">
          <a:xfrm>
            <a:off x="4475419" y="5793216"/>
            <a:ext cx="4287309" cy="379413"/>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fred</a:t>
            </a:r>
            <a:r>
              <a:rPr lang="en-GB" sz="1800" dirty="0">
                <a:latin typeface="Courier New" panose="02070309020205020404" pitchFamily="49" charset="0"/>
              </a:rPr>
              <a:t> = '</a:t>
            </a:r>
            <a:r>
              <a:rPr lang="en-GB" sz="1800" dirty="0">
                <a:solidFill>
                  <a:srgbClr val="FF0000"/>
                </a:solidFill>
                <a:latin typeface="Courier New" panose="02070309020205020404" pitchFamily="49" charset="0"/>
              </a:rPr>
              <a:t>%x</a:t>
            </a:r>
            <a:r>
              <a:rPr lang="en-GB" sz="1800" dirty="0">
                <a:latin typeface="Courier New" panose="02070309020205020404" pitchFamily="49" charset="0"/>
              </a:rPr>
              <a:t>' % </a:t>
            </a:r>
            <a:r>
              <a:rPr lang="en-GB" sz="1800" dirty="0">
                <a:solidFill>
                  <a:srgbClr val="FF0000"/>
                </a:solidFill>
                <a:latin typeface="Courier New" panose="02070309020205020404" pitchFamily="49" charset="0"/>
              </a:rPr>
              <a:t>3735928559</a:t>
            </a:r>
          </a:p>
        </p:txBody>
      </p:sp>
      <p:sp>
        <p:nvSpPr>
          <p:cNvPr id="20487" name="Text Box 7"/>
          <p:cNvSpPr txBox="1">
            <a:spLocks noChangeArrowheads="1"/>
          </p:cNvSpPr>
          <p:nvPr/>
        </p:nvSpPr>
        <p:spPr bwMode="auto">
          <a:xfrm>
            <a:off x="4470868" y="4439823"/>
            <a:ext cx="6968420" cy="646331"/>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file  = </a:t>
            </a:r>
            <a:r>
              <a:rPr lang="en-GB" sz="1800" dirty="0" err="1">
                <a:latin typeface="Courier New" panose="02070309020205020404" pitchFamily="49" charset="0"/>
              </a:rPr>
              <a:t>sys.argv</a:t>
            </a:r>
            <a:r>
              <a:rPr lang="en-GB" sz="1800" dirty="0">
                <a:latin typeface="Courier New" panose="02070309020205020404" pitchFamily="49" charset="0"/>
              </a:rPr>
              <a:t>[0] </a:t>
            </a:r>
          </a:p>
          <a:p>
            <a:pPr>
              <a:spcBef>
                <a:spcPct val="0"/>
              </a:spcBef>
            </a:pPr>
            <a:r>
              <a:rPr lang="en-GB" sz="1800" dirty="0">
                <a:latin typeface="Courier New" panose="02070309020205020404" pitchFamily="49" charset="0"/>
              </a:rPr>
              <a:t>perms = '0</a:t>
            </a:r>
            <a:r>
              <a:rPr lang="en-GB" sz="1800" dirty="0">
                <a:solidFill>
                  <a:srgbClr val="FF0000"/>
                </a:solidFill>
                <a:latin typeface="Courier New" panose="02070309020205020404" pitchFamily="49" charset="0"/>
              </a:rPr>
              <a:t>%lo</a:t>
            </a:r>
            <a:r>
              <a:rPr lang="en-GB" sz="1800" dirty="0">
                <a:latin typeface="Courier New" panose="02070309020205020404" pitchFamily="49" charset="0"/>
              </a:rPr>
              <a:t>' % (</a:t>
            </a:r>
            <a:r>
              <a:rPr lang="en-GB" sz="1800" dirty="0" err="1">
                <a:solidFill>
                  <a:srgbClr val="FF0000"/>
                </a:solidFill>
                <a:latin typeface="Courier New" panose="02070309020205020404" pitchFamily="49" charset="0"/>
              </a:rPr>
              <a:t>os.stat</a:t>
            </a:r>
            <a:r>
              <a:rPr lang="en-GB" sz="1800" dirty="0">
                <a:solidFill>
                  <a:srgbClr val="FF0000"/>
                </a:solidFill>
                <a:latin typeface="Courier New" panose="02070309020205020404" pitchFamily="49" charset="0"/>
              </a:rPr>
              <a:t>(file).</a:t>
            </a:r>
            <a:r>
              <a:rPr lang="en-GB" sz="1800" dirty="0" err="1">
                <a:solidFill>
                  <a:srgbClr val="FF0000"/>
                </a:solidFill>
                <a:latin typeface="Courier New" panose="02070309020205020404" pitchFamily="49" charset="0"/>
              </a:rPr>
              <a:t>st_mode</a:t>
            </a:r>
            <a:r>
              <a:rPr lang="en-GB" sz="1800" dirty="0">
                <a:solidFill>
                  <a:srgbClr val="FF0000"/>
                </a:solidFill>
                <a:latin typeface="Courier New" panose="02070309020205020404" pitchFamily="49" charset="0"/>
              </a:rPr>
              <a:t> &amp; 0o7777</a:t>
            </a:r>
            <a:r>
              <a:rPr lang="en-GB" sz="1800" dirty="0">
                <a:latin typeface="Courier New" panose="02070309020205020404" pitchFamily="49" charset="0"/>
              </a:rPr>
              <a:t>)</a:t>
            </a:r>
          </a:p>
        </p:txBody>
      </p:sp>
      <p:sp>
        <p:nvSpPr>
          <p:cNvPr id="20488" name="Text Box 8"/>
          <p:cNvSpPr txBox="1">
            <a:spLocks noChangeArrowheads="1"/>
          </p:cNvSpPr>
          <p:nvPr/>
        </p:nvSpPr>
        <p:spPr bwMode="auto">
          <a:xfrm>
            <a:off x="6178756" y="3368670"/>
            <a:ext cx="5268913" cy="37623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Name: </a:t>
            </a:r>
            <a:r>
              <a:rPr lang="en-US" sz="1800" dirty="0" err="1">
                <a:latin typeface="Courier New" panose="02070309020205020404" pitchFamily="49" charset="0"/>
              </a:rPr>
              <a:t>Gengis</a:t>
            </a:r>
            <a:r>
              <a:rPr lang="en-US" sz="1800" dirty="0">
                <a:latin typeface="Courier New" panose="02070309020205020404" pitchFamily="49" charset="0"/>
              </a:rPr>
              <a:t>               Khan</a:t>
            </a:r>
          </a:p>
        </p:txBody>
      </p:sp>
      <p:sp>
        <p:nvSpPr>
          <p:cNvPr id="20489" name="Text Box 9"/>
          <p:cNvSpPr txBox="1">
            <a:spLocks noChangeArrowheads="1"/>
          </p:cNvSpPr>
          <p:nvPr/>
        </p:nvSpPr>
        <p:spPr bwMode="auto">
          <a:xfrm>
            <a:off x="7395195" y="6162561"/>
            <a:ext cx="1370012" cy="37623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err="1">
                <a:latin typeface="Courier New" panose="02070309020205020404" pitchFamily="49" charset="0"/>
              </a:rPr>
              <a:t>deadbeef</a:t>
            </a:r>
            <a:endParaRPr lang="en-GB" sz="1800" dirty="0">
              <a:latin typeface="Courier New" panose="02070309020205020404" pitchFamily="49" charset="0"/>
            </a:endParaRPr>
          </a:p>
        </p:txBody>
      </p:sp>
      <p:sp>
        <p:nvSpPr>
          <p:cNvPr id="20490" name="Text Box 10"/>
          <p:cNvSpPr txBox="1">
            <a:spLocks noChangeArrowheads="1"/>
          </p:cNvSpPr>
          <p:nvPr/>
        </p:nvSpPr>
        <p:spPr bwMode="auto">
          <a:xfrm>
            <a:off x="10678311" y="5074010"/>
            <a:ext cx="762000" cy="37623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0640</a:t>
            </a:r>
            <a:endParaRPr lang="en-GB" sz="1800" dirty="0">
              <a:latin typeface="Courier New" panose="02070309020205020404" pitchFamily="49" charset="0"/>
            </a:endParaRPr>
          </a:p>
        </p:txBody>
      </p:sp>
      <p:sp>
        <p:nvSpPr>
          <p:cNvPr id="20491" name="Text Box 11"/>
          <p:cNvSpPr txBox="1">
            <a:spLocks noChangeArrowheads="1"/>
          </p:cNvSpPr>
          <p:nvPr/>
        </p:nvSpPr>
        <p:spPr bwMode="auto">
          <a:xfrm>
            <a:off x="10030002" y="4102631"/>
            <a:ext cx="1414462" cy="346075"/>
          </a:xfrm>
          <a:prstGeom prst="rect">
            <a:avLst/>
          </a:prstGeom>
          <a:solidFill>
            <a:schemeClr val="bg1"/>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a:t>Octal number</a:t>
            </a:r>
          </a:p>
        </p:txBody>
      </p:sp>
      <p:sp>
        <p:nvSpPr>
          <p:cNvPr id="20492" name="Line 12"/>
          <p:cNvSpPr>
            <a:spLocks noChangeShapeType="1"/>
          </p:cNvSpPr>
          <p:nvPr/>
        </p:nvSpPr>
        <p:spPr bwMode="auto">
          <a:xfrm flipH="1">
            <a:off x="10602208" y="4330878"/>
            <a:ext cx="498475" cy="433387"/>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en-GB"/>
          </a:p>
        </p:txBody>
      </p:sp>
      <p:sp>
        <p:nvSpPr>
          <p:cNvPr id="3" name="Slide Number Placeholder 2">
            <a:extLst>
              <a:ext uri="{FF2B5EF4-FFF2-40B4-BE49-F238E27FC236}">
                <a16:creationId xmlns:a16="http://schemas.microsoft.com/office/drawing/2014/main" id="{19059359-9804-2587-4937-156C700C02DC}"/>
              </a:ext>
            </a:extLst>
          </p:cNvPr>
          <p:cNvSpPr>
            <a:spLocks noGrp="1"/>
          </p:cNvSpPr>
          <p:nvPr>
            <p:ph type="sldNum" sz="quarter" idx="4"/>
          </p:nvPr>
        </p:nvSpPr>
        <p:spPr/>
        <p:txBody>
          <a:bodyPr/>
          <a:lstStyle/>
          <a:p>
            <a:fld id="{EF892D59-8F09-EF4B-AD6D-DA609442F868}" type="slidenum">
              <a:rPr lang="en-GB" smtClean="0"/>
              <a:pPr/>
              <a:t>20</a:t>
            </a:fld>
            <a:endParaRPr lang="en-GB" dirty="0"/>
          </a:p>
        </p:txBody>
      </p:sp>
    </p:spTree>
    <p:extLst>
      <p:ext uri="{BB962C8B-B14F-4D97-AF65-F5344CB8AC3E}">
        <p14:creationId xmlns:p14="http://schemas.microsoft.com/office/powerpoint/2010/main" val="3809987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1"/>
          </p:nvPr>
        </p:nvSpPr>
        <p:spPr>
          <a:xfrm>
            <a:off x="387174" y="1356413"/>
            <a:ext cx="6877261" cy="4376323"/>
          </a:xfrm>
        </p:spPr>
        <p:txBody>
          <a:bodyPr/>
          <a:lstStyle/>
          <a:p>
            <a:pPr>
              <a:spcBef>
                <a:spcPts val="600"/>
              </a:spcBef>
            </a:pPr>
            <a:r>
              <a:rPr lang="en-US" b="1" dirty="0"/>
              <a:t>String formatting produces strings, not bytes.</a:t>
            </a:r>
          </a:p>
          <a:p>
            <a:pPr marL="457200" lvl="1" indent="-228600">
              <a:spcBef>
                <a:spcPts val="600"/>
              </a:spcBef>
              <a:buFont typeface="Arial" panose="020B0604020202020204" pitchFamily="34" charset="0"/>
              <a:buChar char="•"/>
            </a:pPr>
            <a:r>
              <a:rPr lang="en-US" sz="1800" dirty="0"/>
              <a:t>In Python 2, they are the same.</a:t>
            </a:r>
          </a:p>
          <a:p>
            <a:pPr>
              <a:spcBef>
                <a:spcPts val="600"/>
              </a:spcBef>
            </a:pPr>
            <a:r>
              <a:rPr lang="en-US" b="1" dirty="0"/>
              <a:t>Bytes objects do not have a </a:t>
            </a:r>
            <a:r>
              <a:rPr lang="en-US" b="1" dirty="0">
                <a:latin typeface="Courier New"/>
                <a:cs typeface="Courier New"/>
              </a:rPr>
              <a:t>.format()</a:t>
            </a:r>
            <a:r>
              <a:rPr lang="en-US" b="1" dirty="0"/>
              <a:t> method.</a:t>
            </a:r>
          </a:p>
          <a:p>
            <a:pPr marL="457200" lvl="1" indent="-228600">
              <a:spcBef>
                <a:spcPts val="600"/>
              </a:spcBef>
              <a:buFont typeface="Arial" panose="020B0604020202020204" pitchFamily="34" charset="0"/>
              <a:buChar char="•"/>
            </a:pPr>
            <a:r>
              <a:rPr lang="en-US" sz="1800" dirty="0"/>
              <a:t>So the only formatting available is using %.</a:t>
            </a:r>
          </a:p>
          <a:p>
            <a:pPr marL="228600" lvl="1" indent="-228600">
              <a:spcBef>
                <a:spcPts val="600"/>
              </a:spcBef>
              <a:buNone/>
            </a:pPr>
            <a:r>
              <a:rPr lang="en-US" b="1" dirty="0">
                <a:latin typeface="Montserrat"/>
              </a:rPr>
              <a:t>The following are </a:t>
            </a:r>
            <a:r>
              <a:rPr lang="en-US" b="1" i="1" dirty="0">
                <a:latin typeface="Montserrat"/>
              </a:rPr>
              <a:t>additional </a:t>
            </a:r>
            <a:r>
              <a:rPr lang="en-US" b="1" dirty="0">
                <a:latin typeface="Montserrat"/>
              </a:rPr>
              <a:t>formats for bytes objects:</a:t>
            </a:r>
          </a:p>
          <a:p>
            <a:pPr marL="457200" lvl="2" indent="-228600">
              <a:spcBef>
                <a:spcPts val="600"/>
              </a:spcBef>
              <a:buFont typeface="Arial" panose="020B0604020202020204" pitchFamily="34" charset="0"/>
              <a:buChar char="•"/>
            </a:pPr>
            <a:r>
              <a:rPr lang="en-US" sz="1800" dirty="0"/>
              <a:t>%a – create a bytes object by encoding.</a:t>
            </a:r>
          </a:p>
          <a:p>
            <a:pPr marL="457200" lvl="2" indent="-228600">
              <a:spcBef>
                <a:spcPts val="600"/>
              </a:spcBef>
              <a:buFont typeface="Arial" panose="020B0604020202020204" pitchFamily="34" charset="0"/>
              <a:buChar char="•"/>
            </a:pPr>
            <a:r>
              <a:rPr lang="en-US" sz="1800" dirty="0"/>
              <a:t>%b – create a bytes object using class specified method.</a:t>
            </a:r>
          </a:p>
          <a:p>
            <a:pPr marL="457200" lvl="2" indent="-228600">
              <a:spcBef>
                <a:spcPts val="600"/>
              </a:spcBef>
              <a:buFont typeface="Arial" panose="020B0604020202020204" pitchFamily="34" charset="0"/>
              <a:buChar char="•"/>
            </a:pPr>
            <a:r>
              <a:rPr lang="en-US" sz="1800" dirty="0"/>
              <a:t>%c – a single byte.</a:t>
            </a:r>
          </a:p>
        </p:txBody>
      </p:sp>
      <p:sp>
        <p:nvSpPr>
          <p:cNvPr id="2" name="Title 1"/>
          <p:cNvSpPr>
            <a:spLocks noGrp="1"/>
          </p:cNvSpPr>
          <p:nvPr>
            <p:ph type="title" idx="4294967295"/>
          </p:nvPr>
        </p:nvSpPr>
        <p:spPr>
          <a:xfrm>
            <a:off x="1075860" y="320401"/>
            <a:ext cx="11517312" cy="804863"/>
          </a:xfrm>
        </p:spPr>
        <p:txBody>
          <a:bodyPr/>
          <a:lstStyle/>
          <a:p>
            <a:r>
              <a:rPr lang="en-US" dirty="0"/>
              <a:t>String formatting and bytes objects</a:t>
            </a:r>
          </a:p>
        </p:txBody>
      </p:sp>
      <p:sp>
        <p:nvSpPr>
          <p:cNvPr id="4" name="TextBox 3"/>
          <p:cNvSpPr txBox="1"/>
          <p:nvPr/>
        </p:nvSpPr>
        <p:spPr>
          <a:xfrm>
            <a:off x="7564298" y="2870494"/>
            <a:ext cx="3724672" cy="1015663"/>
          </a:xfrm>
          <a:prstGeom prst="rect">
            <a:avLst/>
          </a:prstGeom>
          <a:solidFill>
            <a:schemeClr val="tx2">
              <a:lumMod val="20000"/>
              <a:lumOff val="80000"/>
            </a:schemeClr>
          </a:solidFill>
          <a:ln>
            <a:solidFill>
              <a:srgbClr val="000000"/>
            </a:solidFill>
          </a:ln>
          <a:effectLst>
            <a:outerShdw blurRad="50800" dist="38100" dir="2700000" algn="tl" rotWithShape="0">
              <a:prstClr val="black">
                <a:alpha val="40000"/>
              </a:prstClr>
            </a:outerShdw>
          </a:effectLst>
        </p:spPr>
        <p:txBody>
          <a:bodyPr wrap="none" rtlCol="0">
            <a:spAutoFit/>
          </a:bodyPr>
          <a:lstStyle/>
          <a:p>
            <a:r>
              <a:rPr lang="es-ES_tradnl" sz="2000" dirty="0" err="1">
                <a:latin typeface="Courier New"/>
                <a:cs typeface="Courier New"/>
              </a:rPr>
              <a:t>print</a:t>
            </a:r>
            <a:r>
              <a:rPr lang="es-ES_tradnl" sz="2000" dirty="0">
                <a:latin typeface="Courier New"/>
                <a:cs typeface="Courier New"/>
              </a:rPr>
              <a:t>(</a:t>
            </a:r>
            <a:r>
              <a:rPr lang="es-ES_tradnl" sz="2000" dirty="0" err="1">
                <a:latin typeface="Courier New"/>
                <a:cs typeface="Courier New"/>
              </a:rPr>
              <a:t>b'%a</a:t>
            </a:r>
            <a:r>
              <a:rPr lang="es-ES_tradnl" sz="2000" dirty="0">
                <a:latin typeface="Courier New"/>
                <a:cs typeface="Courier New"/>
              </a:rPr>
              <a:t>' % 42)</a:t>
            </a:r>
          </a:p>
          <a:p>
            <a:r>
              <a:rPr lang="es-ES_tradnl" sz="2000" dirty="0" err="1">
                <a:latin typeface="Courier New"/>
                <a:cs typeface="Courier New"/>
              </a:rPr>
              <a:t>print</a:t>
            </a:r>
            <a:r>
              <a:rPr lang="es-ES_tradnl" sz="2000" dirty="0">
                <a:latin typeface="Courier New"/>
                <a:cs typeface="Courier New"/>
              </a:rPr>
              <a:t>(</a:t>
            </a:r>
            <a:r>
              <a:rPr lang="es-ES_tradnl" sz="2000" dirty="0" err="1">
                <a:latin typeface="Courier New"/>
                <a:cs typeface="Courier New"/>
              </a:rPr>
              <a:t>b'%b</a:t>
            </a:r>
            <a:r>
              <a:rPr lang="es-ES_tradnl" sz="2000" dirty="0">
                <a:latin typeface="Courier New"/>
                <a:cs typeface="Courier New"/>
              </a:rPr>
              <a:t>' % </a:t>
            </a:r>
            <a:r>
              <a:rPr lang="es-ES_tradnl" sz="2000" dirty="0" err="1">
                <a:latin typeface="Courier New"/>
                <a:cs typeface="Courier New"/>
              </a:rPr>
              <a:t>b"hello</a:t>
            </a:r>
            <a:r>
              <a:rPr lang="es-ES_tradnl" sz="2000" dirty="0">
                <a:latin typeface="Courier New"/>
                <a:cs typeface="Courier New"/>
              </a:rPr>
              <a:t>")</a:t>
            </a:r>
          </a:p>
          <a:p>
            <a:r>
              <a:rPr lang="fr-FR" sz="2000" dirty="0" err="1">
                <a:latin typeface="Courier New"/>
                <a:cs typeface="Courier New"/>
              </a:rPr>
              <a:t>print</a:t>
            </a:r>
            <a:r>
              <a:rPr lang="fr-FR" sz="2000" dirty="0">
                <a:latin typeface="Courier New"/>
                <a:cs typeface="Courier New"/>
              </a:rPr>
              <a:t>(</a:t>
            </a:r>
            <a:r>
              <a:rPr lang="fr-FR" sz="2000" dirty="0" err="1">
                <a:latin typeface="Courier New"/>
                <a:cs typeface="Courier New"/>
              </a:rPr>
              <a:t>b'%c</a:t>
            </a:r>
            <a:r>
              <a:rPr lang="fr-FR" sz="2000" dirty="0">
                <a:latin typeface="Courier New"/>
                <a:cs typeface="Courier New"/>
              </a:rPr>
              <a:t>' % 42)</a:t>
            </a:r>
          </a:p>
        </p:txBody>
      </p:sp>
      <p:sp>
        <p:nvSpPr>
          <p:cNvPr id="5" name="TextBox 4"/>
          <p:cNvSpPr txBox="1"/>
          <p:nvPr/>
        </p:nvSpPr>
        <p:spPr>
          <a:xfrm>
            <a:off x="9877185" y="3893327"/>
            <a:ext cx="1415973" cy="1015663"/>
          </a:xfrm>
          <a:prstGeom prst="rect">
            <a:avLst/>
          </a:prstGeom>
          <a:solidFill>
            <a:srgbClr val="09EDB8"/>
          </a:solidFill>
          <a:ln>
            <a:solidFill>
              <a:srgbClr val="000000"/>
            </a:solidFill>
          </a:ln>
          <a:effectLst>
            <a:outerShdw blurRad="50800" dist="38100" dir="2700000" algn="tl" rotWithShape="0">
              <a:prstClr val="black">
                <a:alpha val="40000"/>
              </a:prstClr>
            </a:outerShdw>
          </a:effectLst>
        </p:spPr>
        <p:txBody>
          <a:bodyPr wrap="none" rtlCol="0">
            <a:spAutoFit/>
          </a:bodyPr>
          <a:lstStyle/>
          <a:p>
            <a:r>
              <a:rPr lang="ru-RU" sz="2000" dirty="0">
                <a:latin typeface="Courier New"/>
                <a:cs typeface="Courier New"/>
              </a:rPr>
              <a:t>b'42'</a:t>
            </a:r>
          </a:p>
          <a:p>
            <a:r>
              <a:rPr lang="en-US" sz="2000" dirty="0" err="1">
                <a:latin typeface="Courier New"/>
                <a:cs typeface="Courier New"/>
              </a:rPr>
              <a:t>b'hello</a:t>
            </a:r>
            <a:r>
              <a:rPr lang="en-US" sz="2000" dirty="0">
                <a:latin typeface="Courier New"/>
                <a:cs typeface="Courier New"/>
              </a:rPr>
              <a:t>'</a:t>
            </a:r>
          </a:p>
          <a:p>
            <a:r>
              <a:rPr lang="en-US" sz="2000" dirty="0">
                <a:latin typeface="Courier New"/>
                <a:cs typeface="Courier New"/>
              </a:rPr>
              <a:t>*</a:t>
            </a:r>
          </a:p>
        </p:txBody>
      </p:sp>
      <p:sp>
        <p:nvSpPr>
          <p:cNvPr id="7" name="TextBox 6"/>
          <p:cNvSpPr txBox="1"/>
          <p:nvPr/>
        </p:nvSpPr>
        <p:spPr>
          <a:xfrm>
            <a:off x="8464437" y="5083813"/>
            <a:ext cx="3515895" cy="646331"/>
          </a:xfrm>
          <a:prstGeom prst="rect">
            <a:avLst/>
          </a:prstGeom>
          <a:noFill/>
        </p:spPr>
        <p:txBody>
          <a:bodyPr wrap="square" rtlCol="0">
            <a:spAutoFit/>
          </a:bodyPr>
          <a:lstStyle/>
          <a:p>
            <a:r>
              <a:rPr lang="en-US" dirty="0">
                <a:cs typeface="Courier New" pitchFamily="49" charset="0"/>
              </a:rPr>
              <a:t>42 is the ASCII ordinal number of the </a:t>
            </a:r>
            <a:r>
              <a:rPr lang="en-US" b="1" dirty="0">
                <a:latin typeface="Courier New"/>
                <a:cs typeface="Courier New"/>
              </a:rPr>
              <a:t>*</a:t>
            </a:r>
            <a:r>
              <a:rPr lang="en-US" dirty="0">
                <a:cs typeface="Courier New" pitchFamily="49" charset="0"/>
              </a:rPr>
              <a:t> character </a:t>
            </a:r>
          </a:p>
        </p:txBody>
      </p:sp>
      <p:sp>
        <p:nvSpPr>
          <p:cNvPr id="6" name="Slide Number Placeholder 5">
            <a:extLst>
              <a:ext uri="{FF2B5EF4-FFF2-40B4-BE49-F238E27FC236}">
                <a16:creationId xmlns:a16="http://schemas.microsoft.com/office/drawing/2014/main" id="{B395717C-850B-AF0E-3CBD-F725232700D9}"/>
              </a:ext>
            </a:extLst>
          </p:cNvPr>
          <p:cNvSpPr>
            <a:spLocks noGrp="1"/>
          </p:cNvSpPr>
          <p:nvPr>
            <p:ph type="sldNum" sz="quarter" idx="4"/>
          </p:nvPr>
        </p:nvSpPr>
        <p:spPr/>
        <p:txBody>
          <a:bodyPr/>
          <a:lstStyle/>
          <a:p>
            <a:fld id="{EF892D59-8F09-EF4B-AD6D-DA609442F868}" type="slidenum">
              <a:rPr lang="en-GB" smtClean="0"/>
              <a:pPr/>
              <a:t>21</a:t>
            </a:fld>
            <a:endParaRPr lang="en-GB" dirty="0"/>
          </a:p>
        </p:txBody>
      </p:sp>
    </p:spTree>
    <p:extLst>
      <p:ext uri="{BB962C8B-B14F-4D97-AF65-F5344CB8AC3E}">
        <p14:creationId xmlns:p14="http://schemas.microsoft.com/office/powerpoint/2010/main" val="36647886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887A65B979AB34BA89C213ABB051ADE" ma:contentTypeVersion="13" ma:contentTypeDescription="Create a new document." ma:contentTypeScope="" ma:versionID="17f4625ec0b5ee2f091b8da15c267a76">
  <xsd:schema xmlns:xsd="http://www.w3.org/2001/XMLSchema" xmlns:xs="http://www.w3.org/2001/XMLSchema" xmlns:p="http://schemas.microsoft.com/office/2006/metadata/properties" xmlns:ns2="3cd1066a-245b-4400-ad94-398f95c475c9" xmlns:ns3="9d579490-102d-4bf3-8643-974e67683526" targetNamespace="http://schemas.microsoft.com/office/2006/metadata/properties" ma:root="true" ma:fieldsID="5379349c0f1ffc6b5f8ef1afda789c3f" ns2:_="" ns3:_="">
    <xsd:import namespace="3cd1066a-245b-4400-ad94-398f95c475c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d1066a-245b-4400-ad94-398f95c475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F9D9F15-38EA-462A-B1DB-7497AB3850A5}">
  <ds:schemaRefs>
    <ds:schemaRef ds:uri="http://schemas.microsoft.com/office/2006/documentManagement/types"/>
    <ds:schemaRef ds:uri="http://purl.org/dc/terms/"/>
    <ds:schemaRef ds:uri="http://schemas.openxmlformats.org/package/2006/metadata/core-properties"/>
    <ds:schemaRef ds:uri="2adca231-d9e0-4ab7-b9c8-e8741ed43f47"/>
    <ds:schemaRef ds:uri="http://purl.org/dc/dcmitype/"/>
    <ds:schemaRef ds:uri="http://schemas.microsoft.com/office/infopath/2007/PartnerControls"/>
    <ds:schemaRef ds:uri="http://purl.org/dc/elements/1.1/"/>
    <ds:schemaRef ds:uri="http://schemas.microsoft.com/office/2006/metadata/properties"/>
    <ds:schemaRef ds:uri="5658a7d0-6a08-4b10-980f-26d551ebb763"/>
    <ds:schemaRef ds:uri="http://www.w3.org/XML/1998/namespace"/>
  </ds:schemaRefs>
</ds:datastoreItem>
</file>

<file path=customXml/itemProps2.xml><?xml version="1.0" encoding="utf-8"?>
<ds:datastoreItem xmlns:ds="http://schemas.openxmlformats.org/officeDocument/2006/customXml" ds:itemID="{C93F12F2-FA5A-4723-B27E-A59815CCAB29}">
  <ds:schemaRefs>
    <ds:schemaRef ds:uri="http://schemas.microsoft.com/sharepoint/v3/contenttype/forms"/>
  </ds:schemaRefs>
</ds:datastoreItem>
</file>

<file path=customXml/itemProps3.xml><?xml version="1.0" encoding="utf-8"?>
<ds:datastoreItem xmlns:ds="http://schemas.openxmlformats.org/officeDocument/2006/customXml" ds:itemID="{ECD8F02B-EB20-4415-833B-B6FC7C2C6C19}"/>
</file>

<file path=docProps/app.xml><?xml version="1.0" encoding="utf-8"?>
<Properties xmlns="http://schemas.openxmlformats.org/officeDocument/2006/extended-properties" xmlns:vt="http://schemas.openxmlformats.org/officeDocument/2006/docPropsVTypes">
  <Template/>
  <TotalTime>1891</TotalTime>
  <Words>5374</Words>
  <Application>Microsoft Office PowerPoint</Application>
  <PresentationFormat>Widescreen</PresentationFormat>
  <Paragraphs>559</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Calibri</vt:lpstr>
      <vt:lpstr>Arial,Sans-Serif</vt:lpstr>
      <vt:lpstr>Segoe UI</vt:lpstr>
      <vt:lpstr>Courier New</vt:lpstr>
      <vt:lpstr>Arial</vt:lpstr>
      <vt:lpstr>Montserrat Black</vt:lpstr>
      <vt:lpstr>Montserrat</vt:lpstr>
      <vt:lpstr>Master</vt:lpstr>
      <vt:lpstr>Python 3 Programming</vt:lpstr>
      <vt:lpstr>PowerPoint Presentation</vt:lpstr>
      <vt:lpstr>Python 3 strings</vt:lpstr>
      <vt:lpstr>The print function</vt:lpstr>
      <vt:lpstr>Escaping a character</vt:lpstr>
      <vt:lpstr>String concatenation</vt:lpstr>
      <vt:lpstr>"Quotes"</vt:lpstr>
      <vt:lpstr>String methods</vt:lpstr>
      <vt:lpstr>String tests</vt:lpstr>
      <vt:lpstr>String formatting</vt:lpstr>
      <vt:lpstr>String formatting example</vt:lpstr>
      <vt:lpstr>Other string formatting aids</vt:lpstr>
      <vt:lpstr>Literal string interpolation</vt:lpstr>
      <vt:lpstr>Literal string interpolation (2)</vt:lpstr>
      <vt:lpstr>Slicing a string</vt:lpstr>
      <vt:lpstr>String methods - split and join</vt:lpstr>
      <vt:lpstr>PowerPoint Presentation</vt:lpstr>
      <vt:lpstr>PowerPoint Presentation</vt:lpstr>
      <vt:lpstr>PowerPoint Presentation</vt:lpstr>
      <vt:lpstr>PowerPoint Presentation</vt:lpstr>
      <vt:lpstr>String formatting and bytes objects</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Evans, Josie</cp:lastModifiedBy>
  <cp:revision>451</cp:revision>
  <cp:lastPrinted>2019-07-03T09:46:41Z</cp:lastPrinted>
  <dcterms:created xsi:type="dcterms:W3CDTF">2019-09-05T08:17:12Z</dcterms:created>
  <dcterms:modified xsi:type="dcterms:W3CDTF">2024-02-20T08:54:21Z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y fmtid="{D5CDD505-2E9C-101B-9397-08002B2CF9AE}" pid="3" name="ContentTypeId">
    <vt:lpwstr>0x0101005887A65B979AB34BA89C213ABB051ADE</vt:lpwstr>
  </property>
  <property fmtid="{D5CDD505-2E9C-101B-9397-08002B2CF9AE}" pid="4" name="BookType">
    <vt:lpwstr>3</vt:lpwstr>
  </property>
  <property fmtid="{D5CDD505-2E9C-101B-9397-08002B2CF9AE}" pid="5" name="MediaServiceImageTags">
    <vt:lpwstr/>
  </property>
</Properties>
</file>