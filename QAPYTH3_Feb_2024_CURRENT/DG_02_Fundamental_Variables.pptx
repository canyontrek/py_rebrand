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21"/>
  </p:notesMasterIdLst>
  <p:handoutMasterIdLst>
    <p:handoutMasterId r:id="rId22"/>
  </p:handoutMasterIdLst>
  <p:sldIdLst>
    <p:sldId id="299" r:id="rId5"/>
    <p:sldId id="300" r:id="rId6"/>
    <p:sldId id="301" r:id="rId7"/>
    <p:sldId id="286" r:id="rId8"/>
    <p:sldId id="302" r:id="rId9"/>
    <p:sldId id="288" r:id="rId10"/>
    <p:sldId id="289" r:id="rId11"/>
    <p:sldId id="290" r:id="rId12"/>
    <p:sldId id="291" r:id="rId13"/>
    <p:sldId id="292" r:id="rId14"/>
    <p:sldId id="293" r:id="rId15"/>
    <p:sldId id="294" r:id="rId16"/>
    <p:sldId id="295" r:id="rId17"/>
    <p:sldId id="303" r:id="rId18"/>
    <p:sldId id="297" r:id="rId19"/>
    <p:sldId id="298" r:id="rId20"/>
  </p:sldIdLst>
  <p:sldSz cx="12192000" cy="6858000"/>
  <p:notesSz cx="6645275" cy="9775825"/>
  <p:embeddedFontLst>
    <p:embeddedFont>
      <p:font typeface="Montserrat" panose="00000500000000000000" pitchFamily="2" charset="0"/>
      <p:regular r:id="rId23"/>
      <p:bold r:id="rId24"/>
      <p:italic r:id="rId25"/>
      <p:boldItalic r:id="rId26"/>
    </p:embeddedFont>
    <p:embeddedFont>
      <p:font typeface="Montserrat Black" panose="00000A00000000000000" pitchFamily="2" charset="0"/>
      <p:bold r:id="rId27"/>
      <p:boldItalic r:id="rId28"/>
    </p:embeddedFont>
  </p:embeddedFontLst>
  <p:custDataLst>
    <p:tags r:id="rId2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377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30"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4050"/>
    <a:srgbClr val="09EDB8"/>
    <a:srgbClr val="F91258"/>
    <a:srgbClr val="7E007C"/>
    <a:srgbClr val="28CFF9"/>
    <a:srgbClr val="F3622C"/>
    <a:srgbClr val="31D3AE"/>
    <a:srgbClr val="F3F3F3"/>
    <a:srgbClr val="F4F4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B0B5A3-97B2-9DAA-AE74-649FD041D938}" v="215" dt="2023-06-21T17:39:28.586"/>
    <p1510:client id="{73A98DF5-F46A-16B4-DF61-2482441CAB0B}" v="428" dt="2023-06-22T09:18:05.839"/>
    <p1510:client id="{B706E129-0BA1-5C4B-48A5-90652AB7F1E9}" v="4" dt="2023-06-22T14:00:50.617"/>
    <p1510:client id="{EDDF8E2A-7D62-A631-0903-FF310B3AB0AD}" v="7" dt="2023-06-21T17:08:14.2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64" autoAdjust="0"/>
    <p:restoredTop sz="74517" autoAdjust="0"/>
  </p:normalViewPr>
  <p:slideViewPr>
    <p:cSldViewPr snapToGrid="0" snapToObjects="1" showGuides="1">
      <p:cViewPr varScale="1">
        <p:scale>
          <a:sx n="81" d="100"/>
          <a:sy n="81" d="100"/>
        </p:scale>
        <p:origin x="1842" y="90"/>
      </p:cViewPr>
      <p:guideLst>
        <p:guide pos="3840"/>
        <p:guide orient="horz" pos="377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Lst>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83" d="100"/>
          <a:sy n="83" d="100"/>
        </p:scale>
        <p:origin x="399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4.fntdata"/><Relationship Id="rId3" Type="http://schemas.openxmlformats.org/officeDocument/2006/relationships/customXml" Target="../customXml/item3.xml"/><Relationship Id="rId21" Type="http://schemas.openxmlformats.org/officeDocument/2006/relationships/notesMaster" Target="notesMasters/notesMaster1.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3.fntdata"/><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2.fntdata"/><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font" Target="fonts/font5.fntdata"/><Relationship Id="rId30" Type="http://schemas.openxmlformats.org/officeDocument/2006/relationships/commentAuthors" Target="commentAuthors.xml"/><Relationship Id="rId35" Type="http://schemas.microsoft.com/office/2015/10/relationships/revisionInfo" Target="revisionInfo.xml"/></Relationships>
</file>

<file path=ppt/_rels/viewProps.xml.rels><?xml version="1.0" encoding="UTF-8" standalone="yes"?>
<Relationships xmlns="http://schemas.openxmlformats.org/package/2006/relationships"><Relationship Id="rId8" Type="http://schemas.openxmlformats.org/officeDocument/2006/relationships/slide" Target="slides/slide9.xml"/><Relationship Id="rId13" Type="http://schemas.openxmlformats.org/officeDocument/2006/relationships/slide" Target="slides/slide14.xml"/><Relationship Id="rId3" Type="http://schemas.openxmlformats.org/officeDocument/2006/relationships/slide" Target="slides/slide4.xml"/><Relationship Id="rId7" Type="http://schemas.openxmlformats.org/officeDocument/2006/relationships/slide" Target="slides/slide8.xml"/><Relationship Id="rId12" Type="http://schemas.openxmlformats.org/officeDocument/2006/relationships/slide" Target="slides/slide13.xml"/><Relationship Id="rId2" Type="http://schemas.openxmlformats.org/officeDocument/2006/relationships/slide" Target="slides/slide3.xml"/><Relationship Id="rId1" Type="http://schemas.openxmlformats.org/officeDocument/2006/relationships/slide" Target="slides/slide2.xml"/><Relationship Id="rId6" Type="http://schemas.openxmlformats.org/officeDocument/2006/relationships/slide" Target="slides/slide7.xml"/><Relationship Id="rId11" Type="http://schemas.openxmlformats.org/officeDocument/2006/relationships/slide" Target="slides/slide12.xml"/><Relationship Id="rId5" Type="http://schemas.openxmlformats.org/officeDocument/2006/relationships/slide" Target="slides/slide6.xml"/><Relationship Id="rId10" Type="http://schemas.openxmlformats.org/officeDocument/2006/relationships/slide" Target="slides/slide11.xml"/><Relationship Id="rId4" Type="http://schemas.openxmlformats.org/officeDocument/2006/relationships/slide" Target="slides/slide5.xml"/><Relationship Id="rId9" Type="http://schemas.openxmlformats.org/officeDocument/2006/relationships/slide" Target="slides/slide10.xml"/><Relationship Id="rId14" Type="http://schemas.openxmlformats.org/officeDocument/2006/relationships/slide" Target="slides/slide1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79725" cy="49053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63964" y="1"/>
            <a:ext cx="2879725" cy="490538"/>
          </a:xfrm>
          <a:prstGeom prst="rect">
            <a:avLst/>
          </a:prstGeom>
        </p:spPr>
        <p:txBody>
          <a:bodyPr vert="horz" lIns="91440" tIns="45720" rIns="91440" bIns="45720" rtlCol="0"/>
          <a:lstStyle>
            <a:lvl1pPr algn="r">
              <a:defRPr sz="1200"/>
            </a:lvl1pPr>
          </a:lstStyle>
          <a:p>
            <a:fld id="{86D088FE-3E68-47FE-8BA4-634CD34BABBC}" type="datetimeFigureOut">
              <a:rPr lang="en-GB" smtClean="0"/>
              <a:t>20/02/2024</a:t>
            </a:fld>
            <a:endParaRPr lang="en-GB"/>
          </a:p>
        </p:txBody>
      </p:sp>
      <p:sp>
        <p:nvSpPr>
          <p:cNvPr id="4" name="Footer Placeholder 3"/>
          <p:cNvSpPr>
            <a:spLocks noGrp="1"/>
          </p:cNvSpPr>
          <p:nvPr>
            <p:ph type="ftr" sz="quarter" idx="2"/>
          </p:nvPr>
        </p:nvSpPr>
        <p:spPr>
          <a:xfrm>
            <a:off x="1" y="9285289"/>
            <a:ext cx="2879725" cy="49053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63964" y="9285289"/>
            <a:ext cx="2879725" cy="490536"/>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79619" cy="490489"/>
          </a:xfrm>
          <a:prstGeom prst="rect">
            <a:avLst/>
          </a:prstGeom>
        </p:spPr>
        <p:txBody>
          <a:bodyPr vert="horz" lIns="91440" tIns="45720" rIns="91440" bIns="45720" rtlCol="0"/>
          <a:lstStyle>
            <a:lvl1pPr algn="l">
              <a:defRPr sz="1200">
                <a:latin typeface="Montserrat" panose="00000500000000000000" pitchFamily="2" charset="0"/>
              </a:defRPr>
            </a:lvl1pPr>
          </a:lstStyle>
          <a:p>
            <a:endParaRPr lang="en-GB" dirty="0"/>
          </a:p>
        </p:txBody>
      </p:sp>
      <p:sp>
        <p:nvSpPr>
          <p:cNvPr id="3" name="Date Placeholder 2"/>
          <p:cNvSpPr>
            <a:spLocks noGrp="1"/>
          </p:cNvSpPr>
          <p:nvPr>
            <p:ph type="dt" idx="1"/>
          </p:nvPr>
        </p:nvSpPr>
        <p:spPr>
          <a:xfrm>
            <a:off x="3764119" y="0"/>
            <a:ext cx="2879619" cy="490489"/>
          </a:xfrm>
          <a:prstGeom prst="rect">
            <a:avLst/>
          </a:prstGeom>
        </p:spPr>
        <p:txBody>
          <a:bodyPr vert="horz" lIns="91440" tIns="45720" rIns="91440" bIns="45720" rtlCol="0"/>
          <a:lstStyle>
            <a:lvl1pPr algn="r">
              <a:defRPr sz="1200">
                <a:latin typeface="Montserrat" panose="00000500000000000000" pitchFamily="2" charset="0"/>
              </a:defRPr>
            </a:lvl1pPr>
          </a:lstStyle>
          <a:p>
            <a:fld id="{1D6B66C6-1E92-0F4E-A300-9D4ED1F0C23F}" type="datetimeFigureOut">
              <a:rPr lang="en-GB" smtClean="0"/>
              <a:pPr/>
              <a:t>20/02/2024</a:t>
            </a:fld>
            <a:endParaRPr lang="en-GB"/>
          </a:p>
        </p:txBody>
      </p:sp>
      <p:sp>
        <p:nvSpPr>
          <p:cNvPr id="4" name="Slide Image Placeholder 3"/>
          <p:cNvSpPr>
            <a:spLocks noGrp="1" noRot="1" noChangeAspect="1"/>
          </p:cNvSpPr>
          <p:nvPr>
            <p:ph type="sldImg" idx="2"/>
          </p:nvPr>
        </p:nvSpPr>
        <p:spPr>
          <a:xfrm>
            <a:off x="388938" y="1220788"/>
            <a:ext cx="5867400" cy="330041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4528" y="4704617"/>
            <a:ext cx="5316220" cy="3849231"/>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1" y="9285339"/>
            <a:ext cx="2879619" cy="490488"/>
          </a:xfrm>
          <a:prstGeom prst="rect">
            <a:avLst/>
          </a:prstGeom>
        </p:spPr>
        <p:txBody>
          <a:bodyPr vert="horz" lIns="91440" tIns="45720" rIns="91440" bIns="45720" rtlCol="0" anchor="b"/>
          <a:lstStyle>
            <a:lvl1pPr algn="l">
              <a:defRPr sz="1200">
                <a:latin typeface="Montserrat" panose="00000500000000000000" pitchFamily="2" charset="0"/>
              </a:defRPr>
            </a:lvl1pPr>
          </a:lstStyle>
          <a:p>
            <a:endParaRPr lang="en-GB"/>
          </a:p>
        </p:txBody>
      </p:sp>
      <p:sp>
        <p:nvSpPr>
          <p:cNvPr id="7" name="Slide Number Placeholder 6"/>
          <p:cNvSpPr>
            <a:spLocks noGrp="1"/>
          </p:cNvSpPr>
          <p:nvPr>
            <p:ph type="sldNum" sz="quarter" idx="5"/>
          </p:nvPr>
        </p:nvSpPr>
        <p:spPr>
          <a:xfrm>
            <a:off x="3764119" y="9285339"/>
            <a:ext cx="2879619" cy="490488"/>
          </a:xfrm>
          <a:prstGeom prst="rect">
            <a:avLst/>
          </a:prstGeom>
        </p:spPr>
        <p:txBody>
          <a:bodyPr vert="horz" lIns="91440" tIns="45720" rIns="91440" bIns="45720" rtlCol="0" anchor="b"/>
          <a:lstStyle>
            <a:lvl1pPr algn="r">
              <a:defRPr sz="1200">
                <a:latin typeface="Montserrat" panose="00000500000000000000" pitchFamily="2" charset="0"/>
              </a:defRPr>
            </a:lvl1pPr>
          </a:lstStyle>
          <a:p>
            <a:fld id="{548901C6-1DA1-FB44-ABEE-06A0FEB7738E}" type="slidenum">
              <a:rPr lang="en-GB" smtClean="0"/>
              <a:pPr/>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bwMode="auto">
          <a:xfrm>
            <a:off x="441325" y="793750"/>
            <a:ext cx="5761038" cy="3241675"/>
          </a:xfrm>
          <a:noFill/>
          <a:ln>
            <a:solidFill>
              <a:srgbClr val="000000"/>
            </a:solidFill>
            <a:miter lim="800000"/>
            <a:headEnd/>
            <a:tailEnd/>
          </a:ln>
        </p:spPr>
      </p:sp>
      <p:sp>
        <p:nvSpPr>
          <p:cNvPr id="1331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dirty="0">
              <a:latin typeface="Arial" charset="0"/>
              <a:cs typeface="Arial" charset="0"/>
            </a:endParaRPr>
          </a:p>
        </p:txBody>
      </p:sp>
    </p:spTree>
    <p:extLst>
      <p:ext uri="{BB962C8B-B14F-4D97-AF65-F5344CB8AC3E}">
        <p14:creationId xmlns:p14="http://schemas.microsoft.com/office/powerpoint/2010/main" val="29225824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8" name="Rectangle 3"/>
          <p:cNvSpPr>
            <a:spLocks noGrp="1" noChangeArrowheads="1"/>
          </p:cNvSpPr>
          <p:nvPr>
            <p:ph type="body" idx="1"/>
          </p:nvPr>
        </p:nvSpPr>
        <p:spPr/>
        <p:txBody>
          <a:bodyPr/>
          <a:lstStyle/>
          <a:p>
            <a:r>
              <a:rPr lang="en-GB" dirty="0"/>
              <a:t>This chapter discusses the basic building blocks of a Python program - its object types and variables.</a:t>
            </a:r>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24578203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2" name="Rectangle 3"/>
          <p:cNvSpPr>
            <a:spLocks noGrp="1" noChangeArrowheads="1"/>
          </p:cNvSpPr>
          <p:nvPr>
            <p:ph type="body" idx="1"/>
          </p:nvPr>
        </p:nvSpPr>
        <p:spPr/>
        <p:txBody>
          <a:bodyPr/>
          <a:lstStyle/>
          <a:p>
            <a:r>
              <a:rPr lang="en-GB" dirty="0"/>
              <a:t>Object orientation is inescapable if you wish to understand Python and have even more fun with it. You do not need to write OO code, but it is important to understand the principles, which are not that complicated. </a:t>
            </a:r>
          </a:p>
          <a:p>
            <a:endParaRPr lang="en-GB" dirty="0"/>
          </a:p>
          <a:p>
            <a:r>
              <a:rPr lang="en-GB" dirty="0"/>
              <a:t>Many programming languages have the concept of variable types, which is roughly analogous to a class - it describes the object to which the variable is referring. How that object is laid out in memory is not particularly important to us, but it is important to Python - it must know the size and format of memory required, and it is up to us to describe it.  </a:t>
            </a:r>
          </a:p>
          <a:p>
            <a:endParaRPr lang="en-GB" dirty="0"/>
          </a:p>
          <a:p>
            <a:r>
              <a:rPr lang="en-GB" dirty="0"/>
              <a:t>Fortunately, the common object types (classes), like strings, files, and exceptions, are already defined.</a:t>
            </a:r>
          </a:p>
          <a:p>
            <a:endParaRPr lang="en-GB" dirty="0"/>
          </a:p>
          <a:p>
            <a:r>
              <a:rPr lang="en-GB" dirty="0"/>
              <a:t>When we create an object, it is “instance of” an existing class (built-in or user defined) and will inherit the structure of the class it’s based on. It will be assigned a memory location, and we can assign a suitable value to be stored within. It is normal to store the object location in a named variable for reuse. So, a simple definition of a variable in Python, is a named identifier referencing an object in memory.</a:t>
            </a:r>
          </a:p>
          <a:p>
            <a:endParaRPr lang="en-GB" dirty="0"/>
          </a:p>
          <a:p>
            <a:r>
              <a:rPr lang="en-GB" dirty="0"/>
              <a:t>You can test the class of an object by using the </a:t>
            </a:r>
            <a:r>
              <a:rPr lang="en-GB" dirty="0" err="1"/>
              <a:t>isinstance</a:t>
            </a:r>
            <a:r>
              <a:rPr lang="en-GB" dirty="0"/>
              <a:t>() or type() functions:</a:t>
            </a:r>
          </a:p>
          <a:p>
            <a:r>
              <a:rPr lang="en-GB" dirty="0"/>
              <a:t>&gt;&gt;&gt; name = “Guido”</a:t>
            </a:r>
          </a:p>
          <a:p>
            <a:r>
              <a:rPr lang="en-GB" dirty="0"/>
              <a:t>&gt;&gt;&gt; </a:t>
            </a:r>
            <a:r>
              <a:rPr lang="en-GB" dirty="0" err="1"/>
              <a:t>isinstance</a:t>
            </a:r>
            <a:r>
              <a:rPr lang="en-GB" dirty="0"/>
              <a:t>(name, str)</a:t>
            </a:r>
          </a:p>
          <a:p>
            <a:r>
              <a:rPr lang="en-GB" dirty="0"/>
              <a:t>True</a:t>
            </a:r>
          </a:p>
          <a:p>
            <a:r>
              <a:rPr lang="en-GB" dirty="0"/>
              <a:t>&gt;&gt;&gt; type(name) == str</a:t>
            </a:r>
          </a:p>
          <a:p>
            <a:r>
              <a:rPr lang="en-GB" dirty="0"/>
              <a:t>True</a:t>
            </a:r>
          </a:p>
          <a:p>
            <a:endParaRPr lang="en-GB" dirty="0"/>
          </a:p>
          <a:p>
            <a:r>
              <a:rPr lang="en-GB" dirty="0"/>
              <a:t>In Python, an object's identity can be obtained using the id() built-in function, although this is rarely needed. Are classes types? Not really, we shall discuss this later (hint: duck-typing).</a:t>
            </a:r>
          </a:p>
          <a:p>
            <a:endParaRPr lang="en-GB" dirty="0"/>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30329212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6" name="Rectangle 3"/>
          <p:cNvSpPr>
            <a:spLocks noGrp="1" noChangeArrowheads="1"/>
          </p:cNvSpPr>
          <p:nvPr>
            <p:ph type="body" idx="1"/>
          </p:nvPr>
        </p:nvSpPr>
        <p:spPr/>
        <p:txBody>
          <a:bodyPr/>
          <a:lstStyle/>
          <a:p>
            <a:r>
              <a:rPr lang="en-GB" dirty="0"/>
              <a:t>Like most scripting languages, Python variables are defined automatically, and are untyped until assigned. Variables are actually references to objects, so the assignment of a string to a variable makes that variable reference a string object. Uninitialised variables reference an object called None (NULL or </a:t>
            </a:r>
            <a:r>
              <a:rPr lang="en-GB" dirty="0" err="1"/>
              <a:t>undef</a:t>
            </a:r>
            <a:r>
              <a:rPr lang="en-GB" dirty="0"/>
              <a:t> in other languages).</a:t>
            </a:r>
          </a:p>
          <a:p>
            <a:endParaRPr lang="en-GB" dirty="0"/>
          </a:p>
          <a:p>
            <a:r>
              <a:rPr lang="en-GB" dirty="0"/>
              <a:t>Being objects, class specific functions, like altering the case of a string, are implemented as methods calls on the object. If you are not familiar with this terminology, a method call is like a conventional function call, with a reference to the variable passed automatically. We shall see examples shortly.</a:t>
            </a:r>
          </a:p>
          <a:p>
            <a:endParaRPr lang="en-GB" dirty="0"/>
          </a:p>
          <a:p>
            <a:r>
              <a:rPr lang="en-GB" dirty="0"/>
              <a:t>Where the objects themselves are immutable (cannot be altered), then several variables may reference the same physical value.  </a:t>
            </a:r>
          </a:p>
          <a:p>
            <a:endParaRPr lang="en-GB" dirty="0"/>
          </a:p>
          <a:p>
            <a:r>
              <a:rPr lang="en-GB" dirty="0"/>
              <a:t>Unlike most scripting languages, variables defined in a function are local by default - and must be specifically marked as global if required. This is a good thing!</a:t>
            </a:r>
          </a:p>
          <a:p>
            <a:r>
              <a:rPr lang="en-GB" dirty="0"/>
              <a:t>When you delete a variable then that removes the name. That will decrement the object's reference count, and when the count reaches zero then the memory can be reused. </a:t>
            </a:r>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13327938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0" name="Rectangle 3"/>
          <p:cNvSpPr>
            <a:spLocks noGrp="1" noChangeArrowheads="1"/>
          </p:cNvSpPr>
          <p:nvPr>
            <p:ph type="body" idx="1"/>
          </p:nvPr>
        </p:nvSpPr>
        <p:spPr>
          <a:xfrm>
            <a:off x="728663" y="4679950"/>
            <a:ext cx="5400675" cy="4426812"/>
          </a:xfrm>
        </p:spPr>
        <p:txBody>
          <a:bodyPr/>
          <a:lstStyle/>
          <a:p>
            <a:r>
              <a:rPr lang="en-GB" dirty="0"/>
              <a:t>The names given to variables, and to other symbols like functions, follow the usual rules common to many programming languages. For example, names are case sensitive. Variable names must not clash with Python keywords: these may be listed with help ('keywords') or consult the list at the end of this chapter.</a:t>
            </a:r>
          </a:p>
          <a:p>
            <a:endParaRPr lang="en-GB" dirty="0"/>
          </a:p>
          <a:p>
            <a:r>
              <a:rPr lang="en-GB" dirty="0"/>
              <a:t>In addition to the rules, we have a number of conventions which are followed by the interpreter and programmers concerning underscores. </a:t>
            </a:r>
          </a:p>
          <a:p>
            <a:endParaRPr lang="en-GB" dirty="0"/>
          </a:p>
          <a:p>
            <a:r>
              <a:rPr lang="en-GB" dirty="0"/>
              <a:t>A name (variable, function, method) prefixed by a single underscore indicates the name is meant for internal use only in a module or class. It’s not really private like other languages (Java) but merely a hint to programmers to not access the names. Additionally, the interpreter will not import the names when using a wildcard import (</a:t>
            </a:r>
            <a:r>
              <a:rPr lang="en-GB" i="1" dirty="0"/>
              <a:t>from </a:t>
            </a:r>
            <a:r>
              <a:rPr lang="en-GB" i="1" dirty="0" err="1"/>
              <a:t>moduleA</a:t>
            </a:r>
            <a:r>
              <a:rPr lang="en-GB" i="1" dirty="0"/>
              <a:t> import *) </a:t>
            </a:r>
            <a:r>
              <a:rPr lang="en-GB" dirty="0"/>
              <a:t>but this should be avoided in PEP008 compliant code.</a:t>
            </a:r>
          </a:p>
          <a:p>
            <a:endParaRPr lang="en-GB" dirty="0"/>
          </a:p>
          <a:p>
            <a:r>
              <a:rPr lang="en-GB" dirty="0"/>
              <a:t>A name prefixed with a double leading underscore (</a:t>
            </a:r>
            <a:r>
              <a:rPr lang="en-GB" dirty="0" err="1"/>
              <a:t>dunders</a:t>
            </a:r>
            <a:r>
              <a:rPr lang="en-GB" dirty="0"/>
              <a:t>) has its name mangled (changed) by the Python interpreter to avoid naming conflicts in subclasses. It will have _</a:t>
            </a:r>
            <a:r>
              <a:rPr lang="en-GB" dirty="0" err="1"/>
              <a:t>modulename</a:t>
            </a:r>
            <a:r>
              <a:rPr lang="en-GB" dirty="0"/>
              <a:t> or _class prefixed to its name. By default, all variables and methods are virtual in that they are inheritable and can be overridden by a subclass. Using the </a:t>
            </a:r>
            <a:r>
              <a:rPr lang="en-GB" dirty="0" err="1"/>
              <a:t>dunders</a:t>
            </a:r>
            <a:r>
              <a:rPr lang="en-GB" dirty="0"/>
              <a:t> makes it private to the specific class in which they are used and not accessible to its inherited child classes.</a:t>
            </a:r>
          </a:p>
          <a:p>
            <a:endParaRPr lang="en-GB" dirty="0"/>
          </a:p>
          <a:p>
            <a:r>
              <a:rPr lang="en-GB" dirty="0"/>
              <a:t>The upshot of these is that you should never have names of your own with both leading and trailing underscores - these should be reserved for system use. A single underscore prefix means that the name is not imported from a module, and names with two leading underscores are mangled to stop unintentional access.</a:t>
            </a:r>
          </a:p>
          <a:p>
            <a:r>
              <a:rPr lang="en-GB" dirty="0"/>
              <a:t>We shall be seeing examples of these conventions later.</a:t>
            </a:r>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39577235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4" name="Rectangle 3"/>
          <p:cNvSpPr>
            <a:spLocks noGrp="1" noChangeArrowheads="1"/>
          </p:cNvSpPr>
          <p:nvPr>
            <p:ph type="body" idx="1"/>
          </p:nvPr>
        </p:nvSpPr>
        <p:spPr/>
        <p:txBody>
          <a:bodyPr/>
          <a:lstStyle/>
          <a:p>
            <a:r>
              <a:rPr lang="en-GB" dirty="0"/>
              <a:t>Just about everything in Python is an object, and carrying out an operation on an object, or querying an attribute, is often done by calling a function, more correctly termed a method, from the object itself. There are several advantages to this system compared to just calling a general function. For example, you know that you are operating on the correct type - there is no other way.</a:t>
            </a:r>
          </a:p>
          <a:p>
            <a:endParaRPr lang="en-GB" dirty="0"/>
          </a:p>
          <a:p>
            <a:r>
              <a:rPr lang="en-GB" dirty="0"/>
              <a:t>In the examples, we have made up some variables:</a:t>
            </a:r>
          </a:p>
          <a:p>
            <a:pPr lvl="1"/>
            <a:r>
              <a:rPr lang="en-GB" dirty="0"/>
              <a:t>name is a string object</a:t>
            </a:r>
          </a:p>
          <a:p>
            <a:pPr lvl="1"/>
            <a:r>
              <a:rPr lang="en-GB" dirty="0"/>
              <a:t>names is a list object</a:t>
            </a:r>
          </a:p>
          <a:p>
            <a:pPr lvl="1"/>
            <a:r>
              <a:rPr lang="en-GB" dirty="0" err="1"/>
              <a:t>mydict</a:t>
            </a:r>
            <a:r>
              <a:rPr lang="en-GB" dirty="0"/>
              <a:t> is a dictionary object</a:t>
            </a:r>
          </a:p>
          <a:p>
            <a:pPr lvl="1"/>
            <a:r>
              <a:rPr lang="en-GB" dirty="0" err="1"/>
              <a:t>myfile</a:t>
            </a:r>
            <a:r>
              <a:rPr lang="en-GB" dirty="0"/>
              <a:t> is a file object</a:t>
            </a:r>
          </a:p>
          <a:p>
            <a:r>
              <a:rPr lang="en-GB" dirty="0"/>
              <a:t>The method names shown are mostly self-explanatory, but full documentation for them (and all the others) is available in the online help. The help() function prints help text (</a:t>
            </a:r>
            <a:r>
              <a:rPr lang="en-GB" dirty="0" err="1"/>
              <a:t>docstrings</a:t>
            </a:r>
            <a:r>
              <a:rPr lang="en-GB" dirty="0"/>
              <a:t>) for the class and all the methods in that class. An alternative is print (</a:t>
            </a:r>
            <a:r>
              <a:rPr lang="en-GB" dirty="0" err="1"/>
              <a:t>object._doc</a:t>
            </a:r>
            <a:r>
              <a:rPr lang="en-GB" dirty="0"/>
              <a:t>_) which displays the </a:t>
            </a:r>
            <a:r>
              <a:rPr lang="en-GB" dirty="0" err="1"/>
              <a:t>docstring</a:t>
            </a:r>
            <a:r>
              <a:rPr lang="en-GB" dirty="0"/>
              <a:t> for the class only.</a:t>
            </a:r>
          </a:p>
          <a:p>
            <a:endParaRPr lang="en-GB" dirty="0"/>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42690137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8" name="Rectangle 3"/>
          <p:cNvSpPr>
            <a:spLocks noGrp="1" noChangeArrowheads="1"/>
          </p:cNvSpPr>
          <p:nvPr>
            <p:ph type="body" idx="1"/>
          </p:nvPr>
        </p:nvSpPr>
        <p:spPr/>
        <p:txBody>
          <a:bodyPr/>
          <a:lstStyle/>
          <a:p>
            <a:r>
              <a:rPr lang="en-GB" dirty="0"/>
              <a:t>An operator is usually a symbol (see the slide after the summary) which carries out an operation on a single object (unary operator) or between two operators (binary operator). The result has a value, which may be passed to a function (like print) or used on the right-hand side of an assignment.</a:t>
            </a:r>
          </a:p>
          <a:p>
            <a:endParaRPr lang="en-GB" dirty="0"/>
          </a:p>
          <a:p>
            <a:r>
              <a:rPr lang="en-GB" dirty="0"/>
              <a:t>Arithmetic operators like + (plus), - (minus), * (multiply), /(divide), and % (modulus) have familiar meanings when used with numbers, but what do they mean when used with strings? </a:t>
            </a:r>
          </a:p>
          <a:p>
            <a:endParaRPr lang="en-GB" dirty="0"/>
          </a:p>
          <a:p>
            <a:r>
              <a:rPr lang="en-GB" dirty="0"/>
              <a:t>Operators have different meanings depending on the type of object they are operating on, some of which are not at all obvious. For example, % does string formatting - something that you would not have guessed! Therefore, it is imperative that we know what type (class) of object we are dealing with, and the type function will tell us that.</a:t>
            </a:r>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772969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2" name="Rectangle 3"/>
          <p:cNvSpPr>
            <a:spLocks noGrp="1" noChangeArrowheads="1"/>
          </p:cNvSpPr>
          <p:nvPr>
            <p:ph type="body" idx="1"/>
          </p:nvPr>
        </p:nvSpPr>
        <p:spPr/>
        <p:txBody>
          <a:bodyPr/>
          <a:lstStyle/>
          <a:p>
            <a:r>
              <a:rPr lang="en-US" dirty="0"/>
              <a:t>Augmented assignments are called Compound assignments in some languages and come from an ancient language now lost in the mists of the distant past (C).</a:t>
            </a:r>
          </a:p>
          <a:p>
            <a:endParaRPr lang="en-US" dirty="0"/>
          </a:p>
          <a:p>
            <a:r>
              <a:rPr lang="en-US" dirty="0"/>
              <a:t>The expression a += b can be read as "a is incremented by the value of b".  Therefore, in the code above, the variable stein, initially at 1 is incremented by the value of pint, which is 1. After the assignment, the value of stein becomes 2 and the value of pint remains 1.</a:t>
            </a:r>
          </a:p>
          <a:p>
            <a:r>
              <a:rPr lang="en-US" dirty="0"/>
              <a:t>Augmented assignment operators are more succinct than the long hand approach, so programmers tend to write expressions like this:</a:t>
            </a:r>
          </a:p>
          <a:p>
            <a:r>
              <a:rPr lang="en-US" dirty="0"/>
              <a:t>	total += subtotal</a:t>
            </a:r>
          </a:p>
          <a:p>
            <a:r>
              <a:rPr lang="en-US" dirty="0"/>
              <a:t>	geometric *= progression</a:t>
            </a:r>
          </a:p>
          <a:p>
            <a:r>
              <a:rPr lang="en-US" dirty="0"/>
              <a:t>Rather than like this:</a:t>
            </a:r>
          </a:p>
          <a:p>
            <a:r>
              <a:rPr lang="en-US" dirty="0"/>
              <a:t>	total = total + subtotal</a:t>
            </a:r>
          </a:p>
          <a:p>
            <a:r>
              <a:rPr lang="en-US" dirty="0"/>
              <a:t>	geometric = geometric * progression</a:t>
            </a:r>
          </a:p>
          <a:p>
            <a:r>
              <a:rPr lang="en-US" dirty="0"/>
              <a:t>Usually, the resulting code generated will be the same. Like other operators, their meaning depends on the class of the object, for example += on a string means append.  </a:t>
            </a:r>
          </a:p>
          <a:p>
            <a:pPr lvl="2"/>
            <a:r>
              <a:rPr lang="en-US" dirty="0"/>
              <a:t>a = 'Hello '</a:t>
            </a:r>
          </a:p>
          <a:p>
            <a:pPr lvl="2"/>
            <a:r>
              <a:rPr lang="en-US" dirty="0"/>
              <a:t>b = 'World!'</a:t>
            </a:r>
          </a:p>
          <a:p>
            <a:pPr lvl="2"/>
            <a:r>
              <a:rPr lang="en-US" dirty="0"/>
              <a:t>a += b</a:t>
            </a:r>
          </a:p>
          <a:p>
            <a:r>
              <a:rPr lang="en-US" dirty="0"/>
              <a:t>print(a) gives Hello World! and a new string object is created. This operation is optimised on </a:t>
            </a:r>
            <a:r>
              <a:rPr lang="en-US" dirty="0" err="1"/>
              <a:t>CPython</a:t>
            </a:r>
            <a:r>
              <a:rPr lang="en-US" dirty="0"/>
              <a:t>. Python does not support post and pre increment ++ and decrement – operators like C and Perl, as it doesn’t need them and would just add bloat to the core language. To increment and decrement in Python simply use += 1 and -= 1.</a:t>
            </a:r>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12639590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Rectangle 2"/>
          <p:cNvSpPr>
            <a:spLocks noGrp="1" noChangeArrowheads="1"/>
          </p:cNvSpPr>
          <p:nvPr>
            <p:ph type="body" idx="1"/>
          </p:nvPr>
        </p:nvSpPr>
        <p:spPr/>
        <p:txBody>
          <a:bodyPr/>
          <a:lstStyle/>
          <a:p>
            <a:r>
              <a:rPr lang="en-GB" dirty="0"/>
              <a:t>Some of these types are obvious, but some require an explanation. Note the notation for octal (base 8) numbers. In old releases of Python, any number starting with a 0 (zero) would be an octal value, in Python 2.6 the prefix 0o (zero, lowercase oh) was introduced, and at Python 3 the leading zero no longer means octal. Old Python also used a trailing L to mean 'long' and a trailing 'U' to mean 'unsigned' - both are now removed.</a:t>
            </a:r>
          </a:p>
          <a:p>
            <a:endParaRPr lang="en-GB" dirty="0"/>
          </a:p>
          <a:p>
            <a:r>
              <a:rPr lang="en-GB" dirty="0"/>
              <a:t>Strings of text are objects, and once a variable of this type has been created, a string method can be called on it.</a:t>
            </a:r>
          </a:p>
          <a:p>
            <a:endParaRPr lang="en-GB" dirty="0"/>
          </a:p>
          <a:p>
            <a:r>
              <a:rPr lang="en-GB" dirty="0"/>
              <a:t>Numbers, strings, and Tuples are immutable, that is they cannot be altered.  References to them can change to refer to different values, but the values themselves cannot. This enables Python to save space by storing just one instance of literals used in a program, regardless of how many references there are to it.</a:t>
            </a:r>
          </a:p>
          <a:p>
            <a:endParaRPr lang="en-GB" dirty="0"/>
          </a:p>
          <a:p>
            <a:r>
              <a:rPr lang="en-GB" dirty="0"/>
              <a:t>Strings, Lists and Tuples are ordered collections of objects, also known as sequences. We have a chapter on string handling later followed by a chapter on lists and tuples.</a:t>
            </a:r>
          </a:p>
          <a:p>
            <a:endParaRPr lang="en-GB" dirty="0"/>
          </a:p>
          <a:p>
            <a:r>
              <a:rPr lang="en-GB" dirty="0"/>
              <a:t>Dictionaries are collections of objects accessed by a key and are like associative arrays in awk and PHP, and hashes in Perl and Ruby.  </a:t>
            </a:r>
          </a:p>
          <a:p>
            <a:endParaRPr lang="en-GB" dirty="0"/>
          </a:p>
          <a:p>
            <a:r>
              <a:rPr lang="en-GB" dirty="0"/>
              <a:t>Sets were introduced into Python 2.4 and are described in a later chapter. There is also an immutable set: </a:t>
            </a:r>
            <a:r>
              <a:rPr lang="en-GB" dirty="0" err="1"/>
              <a:t>frozenset</a:t>
            </a:r>
            <a:r>
              <a:rPr lang="en-GB" dirty="0"/>
              <a:t>. Lists, Tuples, Dictionaries, and Sets are known as collections, and are discussed in more detail in the Collections chapter.</a:t>
            </a:r>
          </a:p>
          <a:p>
            <a:r>
              <a:rPr lang="en-GB" dirty="0"/>
              <a:t>A byte object is an immutable array of 8-bit values, whereas a </a:t>
            </a:r>
            <a:r>
              <a:rPr lang="en-GB" dirty="0" err="1"/>
              <a:t>bytearray</a:t>
            </a:r>
            <a:r>
              <a:rPr lang="en-GB" dirty="0"/>
              <a:t> is a mutable array of 8-bit values.</a:t>
            </a:r>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28940586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50" name="Rectangle 3"/>
          <p:cNvSpPr>
            <a:spLocks noGrp="1" noChangeArrowheads="1"/>
          </p:cNvSpPr>
          <p:nvPr>
            <p:ph type="body" idx="1"/>
          </p:nvPr>
        </p:nvSpPr>
        <p:spPr/>
        <p:txBody>
          <a:bodyPr/>
          <a:lstStyle/>
          <a:p>
            <a:r>
              <a:rPr lang="en-GB" dirty="0"/>
              <a:t>Like most modern languages, Python converts between numeric types automatically, generally from the narrow to the wider if there is a choice. If you really want an integer division (so the result is truncated), then use the // operator. However, with other types things are not so clear-cut.</a:t>
            </a:r>
          </a:p>
          <a:p>
            <a:endParaRPr lang="en-GB" dirty="0"/>
          </a:p>
          <a:p>
            <a:r>
              <a:rPr lang="en-GB" dirty="0"/>
              <a:t>A common error when beginning Python is the type error shown. Python does not know if the + means string concatenation or arithmetic - mixing objects of a different type is bad coding. We must explicitly tell Python what to convert and when - there is no hidden magic here.</a:t>
            </a:r>
          </a:p>
          <a:p>
            <a:endParaRPr lang="en-GB" dirty="0"/>
          </a:p>
          <a:p>
            <a:r>
              <a:rPr lang="en-GB" dirty="0"/>
              <a:t>One aid to typing is to use a naming system for your variables, for example a modified Hungarian notation which prefixes a string variable with 's', an integer with an '</a:t>
            </a:r>
            <a:r>
              <a:rPr lang="en-GB" dirty="0" err="1"/>
              <a:t>i</a:t>
            </a:r>
            <a:r>
              <a:rPr lang="en-GB" dirty="0"/>
              <a:t>', a List with an 'l', and so on. For example: </a:t>
            </a:r>
            <a:r>
              <a:rPr lang="en-GB" dirty="0" err="1"/>
              <a:t>iCount</a:t>
            </a:r>
            <a:r>
              <a:rPr lang="en-GB" dirty="0"/>
              <a:t>, </a:t>
            </a:r>
            <a:r>
              <a:rPr lang="en-GB" dirty="0" err="1"/>
              <a:t>sName</a:t>
            </a:r>
            <a:r>
              <a:rPr lang="en-GB" dirty="0"/>
              <a:t>, </a:t>
            </a:r>
            <a:r>
              <a:rPr lang="en-GB" dirty="0" err="1"/>
              <a:t>lNames</a:t>
            </a:r>
            <a:r>
              <a:rPr lang="en-GB" dirty="0"/>
              <a:t>.  This is, effectively, inventing your own </a:t>
            </a:r>
            <a:r>
              <a:rPr lang="en-GB" dirty="0" err="1"/>
              <a:t>sigil</a:t>
            </a:r>
            <a:r>
              <a:rPr lang="en-GB" dirty="0"/>
              <a:t> system. But this not commonly used in Python.</a:t>
            </a:r>
          </a:p>
          <a:p>
            <a:endParaRPr lang="en-GB" dirty="0"/>
          </a:p>
          <a:p>
            <a:r>
              <a:rPr lang="en-GB" dirty="0"/>
              <a:t>Where we appear to call functions like str(), int(), and float() [and tuple(), list() and </a:t>
            </a:r>
            <a:r>
              <a:rPr lang="en-GB" dirty="0" err="1"/>
              <a:t>dict</a:t>
            </a:r>
            <a:r>
              <a:rPr lang="en-GB" dirty="0"/>
              <a:t>() which we will see later] they are really the name of the class, so what we are really doing is constructing an object.</a:t>
            </a:r>
          </a:p>
          <a:p>
            <a:endParaRPr lang="en-GB" dirty="0"/>
          </a:p>
          <a:p>
            <a:r>
              <a:rPr lang="en-GB" dirty="0"/>
              <a:t>You can find out the memory size of an object by using the </a:t>
            </a:r>
            <a:r>
              <a:rPr lang="en-GB" dirty="0" err="1">
                <a:latin typeface="Courier New" panose="02070309020205020404" pitchFamily="49" charset="0"/>
                <a:cs typeface="Courier New" panose="02070309020205020404" pitchFamily="49" charset="0"/>
              </a:rPr>
              <a:t>sys.getsizeof</a:t>
            </a:r>
            <a:r>
              <a:rPr lang="en-GB" dirty="0">
                <a:latin typeface="Courier New" panose="02070309020205020404" pitchFamily="49" charset="0"/>
                <a:cs typeface="Courier New" panose="02070309020205020404" pitchFamily="49" charset="0"/>
              </a:rPr>
              <a:t>()</a:t>
            </a:r>
            <a:r>
              <a:rPr lang="en-GB" dirty="0"/>
              <a:t> call, for example:</a:t>
            </a:r>
          </a:p>
          <a:p>
            <a:pPr>
              <a:spcBef>
                <a:spcPts val="0"/>
              </a:spcBef>
            </a:pPr>
            <a:r>
              <a:rPr lang="en-GB" dirty="0">
                <a:latin typeface="Courier New" panose="02070309020205020404" pitchFamily="49" charset="0"/>
                <a:cs typeface="Courier New" panose="02070309020205020404" pitchFamily="49" charset="0"/>
              </a:rPr>
              <a:t>import sys</a:t>
            </a:r>
          </a:p>
          <a:p>
            <a:pPr>
              <a:spcBef>
                <a:spcPts val="0"/>
              </a:spcBef>
            </a:pPr>
            <a:r>
              <a:rPr lang="en-GB" dirty="0">
                <a:latin typeface="Courier New" panose="02070309020205020404" pitchFamily="49" charset="0"/>
                <a:cs typeface="Courier New" panose="02070309020205020404" pitchFamily="49" charset="0"/>
              </a:rPr>
              <a:t>print("Size of count", </a:t>
            </a:r>
            <a:r>
              <a:rPr lang="en-GB" dirty="0" err="1">
                <a:latin typeface="Courier New" panose="02070309020205020404" pitchFamily="49" charset="0"/>
                <a:cs typeface="Courier New" panose="02070309020205020404" pitchFamily="49" charset="0"/>
              </a:rPr>
              <a:t>sys.getsizeof</a:t>
            </a:r>
            <a:r>
              <a:rPr lang="en-GB" dirty="0">
                <a:latin typeface="Courier New" panose="02070309020205020404" pitchFamily="49" charset="0"/>
                <a:cs typeface="Courier New" panose="02070309020205020404" pitchFamily="49" charset="0"/>
              </a:rPr>
              <a:t>(count), "bytes")</a:t>
            </a:r>
          </a:p>
          <a:p>
            <a:pPr>
              <a:spcBef>
                <a:spcPts val="0"/>
              </a:spcBef>
            </a:pPr>
            <a:r>
              <a:rPr lang="en-GB" dirty="0">
                <a:latin typeface="Courier New" panose="02070309020205020404" pitchFamily="49" charset="0"/>
                <a:cs typeface="Courier New" panose="02070309020205020404" pitchFamily="49" charset="0"/>
              </a:rPr>
              <a:t>print("Size of </a:t>
            </a:r>
            <a:r>
              <a:rPr lang="en-GB" dirty="0" err="1">
                <a:latin typeface="Courier New" panose="02070309020205020404" pitchFamily="49" charset="0"/>
                <a:cs typeface="Courier New" panose="02070309020205020404" pitchFamily="49" charset="0"/>
              </a:rPr>
              <a:t>str</a:t>
            </a:r>
            <a:r>
              <a:rPr lang="en-GB" dirty="0">
                <a:latin typeface="Courier New" panose="02070309020205020404" pitchFamily="49" charset="0"/>
                <a:cs typeface="Courier New" panose="02070309020205020404" pitchFamily="49" charset="0"/>
              </a:rPr>
              <a:t>(count)",</a:t>
            </a:r>
          </a:p>
          <a:p>
            <a:pPr>
              <a:spcBef>
                <a:spcPts val="0"/>
              </a:spcBef>
            </a:pPr>
            <a:r>
              <a:rPr lang="en-GB" dirty="0" err="1">
                <a:latin typeface="Courier New" panose="02070309020205020404" pitchFamily="49" charset="0"/>
                <a:cs typeface="Courier New" panose="02070309020205020404" pitchFamily="49" charset="0"/>
              </a:rPr>
              <a:t>sys.getsizeof</a:t>
            </a:r>
            <a:r>
              <a:rPr lang="en-GB" dirty="0">
                <a:latin typeface="Courier New" panose="02070309020205020404" pitchFamily="49" charset="0"/>
                <a:cs typeface="Courier New" panose="02070309020205020404" pitchFamily="49" charset="0"/>
              </a:rPr>
              <a:t>(str(count)),"bytes")</a:t>
            </a:r>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36872359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4" name="Rectangle 3"/>
          <p:cNvSpPr>
            <a:spLocks noGrp="1" noChangeArrowheads="1"/>
          </p:cNvSpPr>
          <p:nvPr>
            <p:ph type="body" idx="1"/>
          </p:nvPr>
        </p:nvSpPr>
        <p:spPr/>
        <p:txBody>
          <a:bodyPr/>
          <a:lstStyle/>
          <a:p>
            <a:r>
              <a:rPr lang="en-GB" dirty="0"/>
              <a:t>Lists are objects containing a sequential collection of other objects, commonly called elements. Elements may be accessed by a position (counting from zero) specified within [ ] which is common in other languages. Indexing from zero is a convention for almost all languages, likely inherited from BCPL and C, and likely chosen due to pointer memory addressing starting from zero and counting from zero is more efficient. Mathematicians would say it’s just natural!</a:t>
            </a:r>
          </a:p>
          <a:p>
            <a:endParaRPr lang="en-GB" dirty="0"/>
          </a:p>
          <a:p>
            <a:r>
              <a:rPr lang="en-GB" dirty="0"/>
              <a:t>Lists are Mutable, or able to be changed, so they are like arrays in some languages. They are dynamic in that they may be extended or shrunk.  New items may be added or removed anywhere with the list.</a:t>
            </a:r>
          </a:p>
          <a:p>
            <a:endParaRPr lang="en-GB" dirty="0"/>
          </a:p>
          <a:p>
            <a:r>
              <a:rPr lang="en-GB" dirty="0"/>
              <a:t>We discuss lists in more detail in the Collections chapter.</a:t>
            </a:r>
          </a:p>
        </p:txBody>
      </p:sp>
      <p:sp>
        <p:nvSpPr>
          <p:cNvPr id="4" name="Slide Image Placeholder 3"/>
          <p:cNvSpPr>
            <a:spLocks noGrp="1" noRot="1" noChangeAspect="1"/>
          </p:cNvSpPr>
          <p:nvPr>
            <p:ph type="sldImg"/>
          </p:nvPr>
        </p:nvSpPr>
        <p:spPr/>
      </p:sp>
    </p:spTree>
    <p:extLst>
      <p:ext uri="{BB962C8B-B14F-4D97-AF65-F5344CB8AC3E}">
        <p14:creationId xmlns:p14="http://schemas.microsoft.com/office/powerpoint/2010/main" val="5444494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8" name="Rectangle 3"/>
          <p:cNvSpPr>
            <a:spLocks noGrp="1" noChangeArrowheads="1"/>
          </p:cNvSpPr>
          <p:nvPr>
            <p:ph type="body" idx="1"/>
          </p:nvPr>
        </p:nvSpPr>
        <p:spPr/>
        <p:txBody>
          <a:bodyPr/>
          <a:lstStyle/>
          <a:p>
            <a:r>
              <a:rPr lang="en-GB" dirty="0"/>
              <a:t>Tuples are Immutable (read only), for example if you attempt to append:</a:t>
            </a:r>
          </a:p>
          <a:p>
            <a:pPr lvl="1"/>
            <a:r>
              <a:rPr lang="en-GB" dirty="0" err="1"/>
              <a:t>TupleVar.append</a:t>
            </a:r>
            <a:r>
              <a:rPr lang="en-GB" dirty="0"/>
              <a:t>('Vikings')</a:t>
            </a:r>
          </a:p>
          <a:p>
            <a:pPr lvl="1"/>
            <a:r>
              <a:rPr lang="en-GB" dirty="0" err="1"/>
              <a:t>Traceback</a:t>
            </a:r>
            <a:r>
              <a:rPr lang="en-GB" dirty="0"/>
              <a:t> (most recent call last):</a:t>
            </a:r>
          </a:p>
          <a:p>
            <a:pPr lvl="1"/>
            <a:r>
              <a:rPr lang="en-GB" dirty="0"/>
              <a:t>  File "liststuples.py", line 6, in ?</a:t>
            </a:r>
          </a:p>
          <a:p>
            <a:pPr lvl="1"/>
            <a:r>
              <a:rPr lang="en-GB" dirty="0"/>
              <a:t>    </a:t>
            </a:r>
            <a:r>
              <a:rPr lang="en-GB" dirty="0" err="1"/>
              <a:t>TupleVar.append</a:t>
            </a:r>
            <a:r>
              <a:rPr lang="en-GB" dirty="0"/>
              <a:t>('Vikings')</a:t>
            </a:r>
          </a:p>
          <a:p>
            <a:pPr lvl="1"/>
            <a:r>
              <a:rPr lang="en-GB" dirty="0" err="1"/>
              <a:t>AttributeError</a:t>
            </a:r>
            <a:r>
              <a:rPr lang="en-GB" dirty="0"/>
              <a:t>: 'tuple' object has no attribute 'append’</a:t>
            </a:r>
          </a:p>
          <a:p>
            <a:pPr lvl="1"/>
            <a:endParaRPr lang="en-GB" dirty="0"/>
          </a:p>
          <a:p>
            <a:r>
              <a:rPr lang="en-GB" dirty="0"/>
              <a:t>The process of assigning values to a tuple is called packing. And likewise, the process of extracting values from a tuple to variables on the </a:t>
            </a:r>
            <a:r>
              <a:rPr lang="en-GB" dirty="0" err="1"/>
              <a:t>lhs</a:t>
            </a:r>
            <a:r>
              <a:rPr lang="en-GB" dirty="0"/>
              <a:t> (of an assignment) is called unpacking. But you cannot assign to elements within a tuple as it is immutable.</a:t>
            </a:r>
          </a:p>
          <a:p>
            <a:endParaRPr lang="en-GB" dirty="0"/>
          </a:p>
          <a:p>
            <a:r>
              <a:rPr lang="en-GB" dirty="0"/>
              <a:t>It may seem strange that Python has two seemingly similar types, tuples and lists.  While lists are more flexible than tuples, there is a penalty to pay in performance overhead. In most cases, where either could be used, tuples are most efficient than lists.</a:t>
            </a:r>
          </a:p>
          <a:p>
            <a:endParaRPr lang="en-GB" dirty="0"/>
          </a:p>
          <a:p>
            <a:r>
              <a:rPr lang="en-GB" dirty="0"/>
              <a:t>Although parentheses are often associated with tuples, these are usually optional. So, in the example on the slide, the following is equally valid and will produce the same result:</a:t>
            </a:r>
          </a:p>
          <a:p>
            <a:pPr lvl="1"/>
            <a:r>
              <a:rPr lang="en-GB" dirty="0" err="1"/>
              <a:t>mytuple</a:t>
            </a:r>
            <a:r>
              <a:rPr lang="en-GB" dirty="0"/>
              <a:t> = ('eggs', 'bacon', 'spam', 'tea')</a:t>
            </a:r>
          </a:p>
          <a:p>
            <a:endParaRPr lang="en-GB" dirty="0"/>
          </a:p>
          <a:p>
            <a:r>
              <a:rPr lang="en-GB" dirty="0"/>
              <a:t>We discuss tuples further in the Collections chapter.</a:t>
            </a:r>
          </a:p>
          <a:p>
            <a:endParaRPr lang="en-GB" dirty="0"/>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35650686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2" name="Rectangle 3"/>
          <p:cNvSpPr>
            <a:spLocks noGrp="1" noChangeArrowheads="1"/>
          </p:cNvSpPr>
          <p:nvPr>
            <p:ph type="body" idx="1"/>
          </p:nvPr>
        </p:nvSpPr>
        <p:spPr/>
        <p:txBody>
          <a:bodyPr/>
          <a:lstStyle/>
          <a:p>
            <a:r>
              <a:rPr lang="en-GB" dirty="0">
                <a:latin typeface="Montserrat"/>
              </a:rPr>
              <a:t>Dictionaries are just like associative arrays in awk and PHP, or hashes in Perl and Ruby. They are constructed from lists of </a:t>
            </a:r>
            <a:r>
              <a:rPr lang="en-GB" dirty="0" err="1">
                <a:latin typeface="Montserrat"/>
              </a:rPr>
              <a:t>key:object</a:t>
            </a:r>
            <a:r>
              <a:rPr lang="en-GB" dirty="0">
                <a:latin typeface="Montserrat"/>
              </a:rPr>
              <a:t> pairs, inside curly braces, although you may also assign them using the </a:t>
            </a:r>
            <a:r>
              <a:rPr lang="en-GB" dirty="0" err="1">
                <a:latin typeface="Montserrat"/>
              </a:rPr>
              <a:t>dict</a:t>
            </a:r>
            <a:r>
              <a:rPr lang="en-GB" dirty="0">
                <a:latin typeface="Montserrat"/>
              </a:rPr>
              <a:t>() function. </a:t>
            </a:r>
          </a:p>
          <a:p>
            <a:endParaRPr lang="en-GB" dirty="0">
              <a:latin typeface="Montserrat"/>
            </a:endParaRPr>
          </a:p>
          <a:p>
            <a:r>
              <a:rPr lang="en-GB" dirty="0">
                <a:latin typeface="Montserrat"/>
              </a:rPr>
              <a:t>For example:</a:t>
            </a:r>
          </a:p>
          <a:p>
            <a:pPr lvl="1"/>
            <a:r>
              <a:rPr lang="en-GB" dirty="0" err="1"/>
              <a:t>mydict</a:t>
            </a:r>
            <a:r>
              <a:rPr lang="en-GB" dirty="0"/>
              <a:t> = </a:t>
            </a:r>
            <a:r>
              <a:rPr lang="en-GB" dirty="0" err="1"/>
              <a:t>dict</a:t>
            </a:r>
            <a:r>
              <a:rPr lang="en-GB" dirty="0"/>
              <a:t>(Sweden='Stockholm',  Norway='Oslo')</a:t>
            </a:r>
          </a:p>
          <a:p>
            <a:pPr lvl="1"/>
            <a:endParaRPr lang="en-GB" dirty="0">
              <a:latin typeface="Montserrat"/>
            </a:endParaRPr>
          </a:p>
          <a:p>
            <a:r>
              <a:rPr lang="en-GB" dirty="0"/>
              <a:t>The key is a text string, while the value is an object of any valid class, including a list, tuple, or dictionary. No special syntax is required to access them.</a:t>
            </a:r>
          </a:p>
          <a:p>
            <a:endParaRPr lang="en-GB" dirty="0">
              <a:latin typeface="Montserrat"/>
            </a:endParaRPr>
          </a:p>
          <a:p>
            <a:r>
              <a:rPr lang="en-GB" dirty="0">
                <a:latin typeface="Montserrat"/>
              </a:rPr>
              <a:t>Traditionally in computing, this type of structure is considered an unordered collection, but becomes an ordered collection in </a:t>
            </a:r>
            <a:r>
              <a:rPr lang="en-GB" dirty="0" err="1">
                <a:latin typeface="Montserrat"/>
              </a:rPr>
              <a:t>CPython</a:t>
            </a:r>
            <a:r>
              <a:rPr lang="en-GB" dirty="0">
                <a:latin typeface="Montserrat"/>
              </a:rPr>
              <a:t> 3.6 and a language feature across all Python platforms from Python 3.7. It is ordered in "insertion order“.</a:t>
            </a:r>
          </a:p>
          <a:p>
            <a:endParaRPr lang="en-GB" dirty="0"/>
          </a:p>
          <a:p>
            <a:r>
              <a:rPr lang="en-GB" dirty="0">
                <a:latin typeface="Montserrat"/>
              </a:rPr>
              <a:t>A list of the keys may be extracted using the keys() method, and values with the values() method. </a:t>
            </a:r>
            <a:endParaRPr lang="en-GB" dirty="0"/>
          </a:p>
          <a:p>
            <a:endParaRPr lang="en-GB" dirty="0">
              <a:latin typeface="Montserrat"/>
            </a:endParaRPr>
          </a:p>
          <a:p>
            <a:r>
              <a:rPr lang="en-GB" dirty="0">
                <a:latin typeface="Montserrat"/>
              </a:rPr>
              <a:t>We discuss dictionaries, and their related type sets, in the Collections chapter.</a:t>
            </a:r>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30014474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42510005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9" name="Rectangle 2"/>
          <p:cNvSpPr>
            <a:spLocks noChangeArrowheads="1"/>
          </p:cNvSpPr>
          <p:nvPr/>
        </p:nvSpPr>
        <p:spPr bwMode="auto">
          <a:xfrm>
            <a:off x="3848100" y="11114"/>
            <a:ext cx="2946400" cy="4651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1429" tIns="45715" rIns="91429" bIns="45715" anchor="ctr"/>
          <a:lstStyle/>
          <a:p>
            <a:endParaRPr lang="en-US"/>
          </a:p>
        </p:txBody>
      </p:sp>
      <p:sp>
        <p:nvSpPr>
          <p:cNvPr id="36870" name="Rectangle 3"/>
          <p:cNvSpPr>
            <a:spLocks noChangeArrowheads="1"/>
          </p:cNvSpPr>
          <p:nvPr/>
        </p:nvSpPr>
        <p:spPr bwMode="auto">
          <a:xfrm>
            <a:off x="1" y="9444039"/>
            <a:ext cx="2944813" cy="4619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1429" tIns="45715" rIns="91429" bIns="45715" anchor="ctr"/>
          <a:lstStyle/>
          <a:p>
            <a:endParaRPr lang="en-US"/>
          </a:p>
        </p:txBody>
      </p:sp>
      <p:sp>
        <p:nvSpPr>
          <p:cNvPr id="36871" name="Rectangle 4"/>
          <p:cNvSpPr>
            <a:spLocks noChangeArrowheads="1"/>
          </p:cNvSpPr>
          <p:nvPr/>
        </p:nvSpPr>
        <p:spPr bwMode="auto">
          <a:xfrm>
            <a:off x="1" y="11114"/>
            <a:ext cx="2944813" cy="4651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1429" tIns="45715" rIns="91429" bIns="45715" anchor="ctr"/>
          <a:lstStyle/>
          <a:p>
            <a:endParaRPr lang="en-US"/>
          </a:p>
        </p:txBody>
      </p:sp>
      <p:sp>
        <p:nvSpPr>
          <p:cNvPr id="36873" name="Rectangle 6"/>
          <p:cNvSpPr>
            <a:spLocks noGrp="1" noChangeArrowheads="1"/>
          </p:cNvSpPr>
          <p:nvPr>
            <p:ph type="body" idx="1"/>
          </p:nvPr>
        </p:nvSpPr>
        <p:spPr/>
        <p:txBody>
          <a:bodyPr/>
          <a:lstStyle/>
          <a:p>
            <a:r>
              <a:rPr lang="en-GB" dirty="0"/>
              <a:t>The operators listed in reverse order of precedence (or is the lowest precedence).</a:t>
            </a:r>
          </a:p>
          <a:p>
            <a:endParaRPr lang="en-GB" dirty="0"/>
          </a:p>
          <a:p>
            <a:r>
              <a:rPr lang="en-GB" dirty="0"/>
              <a:t>Difference between / and // is best shown as an example:</a:t>
            </a:r>
          </a:p>
          <a:p>
            <a:pPr lvl="1"/>
            <a:r>
              <a:rPr lang="en-GB" dirty="0"/>
              <a:t>x = 2</a:t>
            </a:r>
          </a:p>
          <a:p>
            <a:pPr lvl="1"/>
            <a:r>
              <a:rPr lang="en-GB" dirty="0"/>
              <a:t>y = x/3	gives 0.666666666667</a:t>
            </a:r>
          </a:p>
          <a:p>
            <a:pPr lvl="1"/>
            <a:r>
              <a:rPr lang="en-GB" dirty="0"/>
              <a:t>y = x//3	gives 0</a:t>
            </a:r>
          </a:p>
          <a:p>
            <a:pPr lvl="1"/>
            <a:endParaRPr lang="en-GB" dirty="0"/>
          </a:p>
          <a:p>
            <a:r>
              <a:rPr lang="en-GB" dirty="0">
                <a:latin typeface="Courier New"/>
                <a:cs typeface="Courier New"/>
              </a:rPr>
              <a:t>Await</a:t>
            </a:r>
            <a:r>
              <a:rPr lang="en-GB" dirty="0"/>
              <a:t> is used with coroutines and becomes a keyword in 3.7, along with async. Both were introduced at 3.5 and require the </a:t>
            </a:r>
            <a:r>
              <a:rPr lang="en-GB" dirty="0" err="1"/>
              <a:t>asyncio</a:t>
            </a:r>
            <a:r>
              <a:rPr lang="en-GB" dirty="0"/>
              <a:t> module. This module is current provisional and may include changes that are not backward compatible.</a:t>
            </a:r>
          </a:p>
          <a:p>
            <a:endParaRPr lang="en-GB" dirty="0"/>
          </a:p>
          <a:p>
            <a:r>
              <a:rPr lang="en-GB" dirty="0"/>
              <a:t>The </a:t>
            </a:r>
            <a:r>
              <a:rPr lang="en-GB" dirty="0">
                <a:latin typeface="Courier New"/>
                <a:cs typeface="Courier New"/>
              </a:rPr>
              <a:t>@</a:t>
            </a:r>
            <a:r>
              <a:rPr lang="en-GB" dirty="0"/>
              <a:t> operator (</a:t>
            </a:r>
            <a:r>
              <a:rPr lang="en-GB" dirty="0" err="1">
                <a:latin typeface="Courier New"/>
                <a:cs typeface="Courier New"/>
              </a:rPr>
              <a:t>matmul</a:t>
            </a:r>
            <a:r>
              <a:rPr lang="en-GB" dirty="0"/>
              <a:t>) is intended for matrix multiplication and has the same precedence as multiplication. No built-in types currently support this operator, it is intended for third-party modules.</a:t>
            </a:r>
          </a:p>
          <a:p>
            <a:pPr lvl="1"/>
            <a:endParaRPr lang="en-GB" dirty="0"/>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5156279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4" name="Rectangle 3"/>
          <p:cNvSpPr>
            <a:spLocks noGrp="1" noChangeArrowheads="1"/>
          </p:cNvSpPr>
          <p:nvPr>
            <p:ph type="body" idx="1"/>
          </p:nvPr>
        </p:nvSpPr>
        <p:spPr/>
        <p:txBody>
          <a:bodyPr/>
          <a:lstStyle/>
          <a:p>
            <a:r>
              <a:rPr lang="en-GB" dirty="0"/>
              <a:t>Briefly, the meanings of these reserved words are:</a:t>
            </a:r>
          </a:p>
          <a:p>
            <a:pPr lvl="1">
              <a:spcBef>
                <a:spcPts val="0"/>
              </a:spcBef>
            </a:pPr>
            <a:r>
              <a:rPr lang="en-GB" dirty="0"/>
              <a:t>and, not, or		logical operators</a:t>
            </a:r>
          </a:p>
          <a:p>
            <a:pPr lvl="1">
              <a:spcBef>
                <a:spcPts val="0"/>
              </a:spcBef>
            </a:pPr>
            <a:r>
              <a:rPr lang="en-GB" dirty="0"/>
              <a:t>assert, raise		trigger an exception</a:t>
            </a:r>
          </a:p>
          <a:p>
            <a:pPr lvl="1">
              <a:spcBef>
                <a:spcPts val="0"/>
              </a:spcBef>
            </a:pPr>
            <a:r>
              <a:rPr lang="en-GB" dirty="0" err="1"/>
              <a:t>async</a:t>
            </a:r>
            <a:r>
              <a:rPr lang="en-GB" dirty="0"/>
              <a:t>, await		used with </a:t>
            </a:r>
            <a:r>
              <a:rPr lang="en-GB" dirty="0" err="1"/>
              <a:t>async</a:t>
            </a:r>
            <a:r>
              <a:rPr lang="en-GB" dirty="0"/>
              <a:t> </a:t>
            </a:r>
            <a:r>
              <a:rPr lang="en-GB" dirty="0" err="1"/>
              <a:t>coroutines</a:t>
            </a:r>
            <a:r>
              <a:rPr lang="en-GB" dirty="0"/>
              <a:t> (from 3.5, reserved at 3.7)</a:t>
            </a:r>
          </a:p>
          <a:p>
            <a:pPr lvl="1">
              <a:spcBef>
                <a:spcPts val="0"/>
              </a:spcBef>
            </a:pPr>
            <a:r>
              <a:rPr lang="en-GB" dirty="0"/>
              <a:t>break			exit the current loop</a:t>
            </a:r>
          </a:p>
          <a:p>
            <a:pPr lvl="1">
              <a:spcBef>
                <a:spcPts val="0"/>
              </a:spcBef>
            </a:pPr>
            <a:r>
              <a:rPr lang="en-GB" dirty="0"/>
              <a:t>class			create a class object</a:t>
            </a:r>
          </a:p>
          <a:p>
            <a:pPr lvl="1">
              <a:spcBef>
                <a:spcPts val="0"/>
              </a:spcBef>
            </a:pPr>
            <a:r>
              <a:rPr lang="en-GB" dirty="0"/>
              <a:t>continue		do the next iteration of the current loop </a:t>
            </a:r>
          </a:p>
          <a:p>
            <a:pPr lvl="1">
              <a:spcBef>
                <a:spcPts val="0"/>
              </a:spcBef>
            </a:pPr>
            <a:r>
              <a:rPr lang="en-GB" dirty="0"/>
              <a:t>def			create a function object</a:t>
            </a:r>
          </a:p>
          <a:p>
            <a:pPr lvl="1">
              <a:spcBef>
                <a:spcPts val="0"/>
              </a:spcBef>
            </a:pPr>
            <a:r>
              <a:rPr lang="en-GB" dirty="0"/>
              <a:t>del			delete an item from a list</a:t>
            </a:r>
          </a:p>
          <a:p>
            <a:pPr lvl="1">
              <a:spcBef>
                <a:spcPts val="0"/>
              </a:spcBef>
            </a:pPr>
            <a:r>
              <a:rPr lang="en-GB" dirty="0"/>
              <a:t>except			indicates an exception handler for a try block</a:t>
            </a:r>
          </a:p>
          <a:p>
            <a:pPr lvl="1">
              <a:spcBef>
                <a:spcPts val="0"/>
              </a:spcBef>
            </a:pPr>
            <a:r>
              <a:rPr lang="en-GB" dirty="0"/>
              <a:t>exec			execute code</a:t>
            </a:r>
          </a:p>
          <a:p>
            <a:pPr lvl="1">
              <a:spcBef>
                <a:spcPts val="0"/>
              </a:spcBef>
            </a:pPr>
            <a:r>
              <a:rPr lang="en-GB" dirty="0"/>
              <a:t>finally			statements always executed after a try block</a:t>
            </a:r>
          </a:p>
          <a:p>
            <a:pPr lvl="1">
              <a:spcBef>
                <a:spcPts val="0"/>
              </a:spcBef>
            </a:pPr>
            <a:r>
              <a:rPr lang="en-GB" dirty="0"/>
              <a:t>for			sequence iteration loops</a:t>
            </a:r>
          </a:p>
          <a:p>
            <a:pPr lvl="1">
              <a:spcBef>
                <a:spcPts val="0"/>
              </a:spcBef>
            </a:pPr>
            <a:r>
              <a:rPr lang="en-GB" dirty="0"/>
              <a:t>from			used with 'import' to specify imported names</a:t>
            </a:r>
          </a:p>
          <a:p>
            <a:pPr lvl="1">
              <a:spcBef>
                <a:spcPts val="0"/>
              </a:spcBef>
            </a:pPr>
            <a:r>
              <a:rPr lang="en-GB" dirty="0"/>
              <a:t>global			declare variable as global</a:t>
            </a:r>
          </a:p>
          <a:p>
            <a:pPr lvl="1">
              <a:spcBef>
                <a:spcPts val="0"/>
              </a:spcBef>
            </a:pPr>
            <a:r>
              <a:rPr lang="en-GB" dirty="0"/>
              <a:t>if, else, </a:t>
            </a:r>
            <a:r>
              <a:rPr lang="en-GB" dirty="0" err="1"/>
              <a:t>elif</a:t>
            </a:r>
            <a:r>
              <a:rPr lang="en-GB" dirty="0"/>
              <a:t>		conditional clauses	</a:t>
            </a:r>
          </a:p>
          <a:p>
            <a:pPr lvl="1">
              <a:spcBef>
                <a:spcPts val="0"/>
              </a:spcBef>
            </a:pPr>
            <a:r>
              <a:rPr lang="en-GB" dirty="0"/>
              <a:t>import			find and load a module</a:t>
            </a:r>
          </a:p>
          <a:p>
            <a:pPr lvl="1">
              <a:spcBef>
                <a:spcPts val="0"/>
              </a:spcBef>
            </a:pPr>
            <a:r>
              <a:rPr lang="en-GB" dirty="0"/>
              <a:t>in			tests sequence membership</a:t>
            </a:r>
          </a:p>
          <a:p>
            <a:pPr lvl="1">
              <a:spcBef>
                <a:spcPts val="0"/>
              </a:spcBef>
            </a:pPr>
            <a:r>
              <a:rPr lang="en-GB" dirty="0"/>
              <a:t>is			identity test</a:t>
            </a:r>
          </a:p>
          <a:p>
            <a:pPr lvl="1">
              <a:spcBef>
                <a:spcPts val="0"/>
              </a:spcBef>
            </a:pPr>
            <a:r>
              <a:rPr lang="en-GB" dirty="0"/>
              <a:t>lambda		create an anonymous function</a:t>
            </a:r>
          </a:p>
          <a:p>
            <a:pPr lvl="1">
              <a:spcBef>
                <a:spcPts val="0"/>
              </a:spcBef>
            </a:pPr>
            <a:r>
              <a:rPr lang="en-GB" dirty="0"/>
              <a:t>pass			empty statement (no-op)</a:t>
            </a:r>
          </a:p>
          <a:p>
            <a:pPr lvl="1">
              <a:spcBef>
                <a:spcPts val="0"/>
              </a:spcBef>
            </a:pPr>
            <a:r>
              <a:rPr lang="en-GB" dirty="0"/>
              <a:t>print			write to </a:t>
            </a:r>
            <a:r>
              <a:rPr lang="en-GB" dirty="0" err="1"/>
              <a:t>stdout</a:t>
            </a:r>
            <a:r>
              <a:rPr lang="en-GB" dirty="0"/>
              <a:t>, appending a "\n"</a:t>
            </a:r>
          </a:p>
          <a:p>
            <a:pPr lvl="1">
              <a:spcBef>
                <a:spcPts val="0"/>
              </a:spcBef>
            </a:pPr>
            <a:r>
              <a:rPr lang="en-GB" dirty="0"/>
              <a:t>return			return a value from a function</a:t>
            </a:r>
          </a:p>
          <a:p>
            <a:pPr lvl="1">
              <a:spcBef>
                <a:spcPts val="0"/>
              </a:spcBef>
            </a:pPr>
            <a:r>
              <a:rPr lang="en-GB" dirty="0"/>
              <a:t>try			catches exceptions</a:t>
            </a:r>
          </a:p>
          <a:p>
            <a:pPr lvl="1">
              <a:spcBef>
                <a:spcPts val="0"/>
              </a:spcBef>
            </a:pPr>
            <a:r>
              <a:rPr lang="en-GB" dirty="0"/>
              <a:t>while			conditional loop statement</a:t>
            </a:r>
          </a:p>
          <a:p>
            <a:pPr lvl="1">
              <a:spcBef>
                <a:spcPts val="0"/>
              </a:spcBef>
            </a:pPr>
            <a:r>
              <a:rPr lang="en-GB"/>
              <a:t>with, as</a:t>
            </a:r>
            <a:r>
              <a:rPr lang="en-GB" dirty="0"/>
              <a:t>		a context resource manager</a:t>
            </a:r>
          </a:p>
          <a:p>
            <a:pPr lvl="1">
              <a:spcBef>
                <a:spcPts val="0"/>
              </a:spcBef>
            </a:pPr>
            <a:r>
              <a:rPr lang="en-GB" dirty="0"/>
              <a:t>yield			creates a generator function</a:t>
            </a:r>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2078377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Q&amp;A/what's next">
    <p:bg>
      <p:bgPr>
        <a:solidFill>
          <a:srgbClr val="EDCD3C"/>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135880" y="0"/>
            <a:ext cx="705612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1280981"/>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llow us">
    <p:bg>
      <p:bgPr>
        <a:solidFill>
          <a:srgbClr val="28CFF9"/>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875020" y="0"/>
            <a:ext cx="631698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86434422"/>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ction Tips">
    <p:bg>
      <p:bgPr>
        <a:solidFill>
          <a:srgbClr val="EB622E"/>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254240" y="0"/>
            <a:ext cx="493776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 name="Group 1"/>
          <p:cNvGrpSpPr/>
          <p:nvPr userDrawn="1"/>
        </p:nvGrpSpPr>
        <p:grpSpPr>
          <a:xfrm>
            <a:off x="-1420" y="3503895"/>
            <a:ext cx="6359624" cy="2437013"/>
            <a:chOff x="-1420" y="3503895"/>
            <a:chExt cx="6359624" cy="2437013"/>
          </a:xfrm>
          <a:solidFill>
            <a:srgbClr val="004050"/>
          </a:solidFill>
        </p:grpSpPr>
        <p:sp>
          <p:nvSpPr>
            <p:cNvPr id="36" name="Freeform 35">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37" name="Freeform 36">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19887642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rgbClr val="09EDB8"/>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6644640" y="15240"/>
            <a:ext cx="5547360" cy="684276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16" name="Group 15"/>
          <p:cNvGrpSpPr/>
          <p:nvPr userDrawn="1"/>
        </p:nvGrpSpPr>
        <p:grpSpPr>
          <a:xfrm>
            <a:off x="-1420" y="3503895"/>
            <a:ext cx="6359624" cy="2437013"/>
            <a:chOff x="-1420" y="3503895"/>
            <a:chExt cx="6359624" cy="2437013"/>
          </a:xfrm>
          <a:solidFill>
            <a:srgbClr val="004050"/>
          </a:solidFill>
        </p:grpSpPr>
        <p:sp>
          <p:nvSpPr>
            <p:cNvPr id="17" name="Freeform 16">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65610577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4276879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Meet &amp; Greet 1">
    <p:bg>
      <p:bgPr>
        <a:solidFill>
          <a:srgbClr val="38E2BB"/>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108881" y="-11575"/>
            <a:ext cx="8079261" cy="6875362"/>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002556" cy="808123"/>
          </a:xfrm>
        </p:spPr>
        <p:txBody>
          <a:bodyPr anchor="t" anchorCtr="0">
            <a:noAutofit/>
          </a:bodyPr>
          <a:lstStyle>
            <a:lvl1pPr algn="l">
              <a:lnSpc>
                <a:spcPts val="6000"/>
              </a:lnSpc>
              <a:defRPr sz="36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915404"/>
            <a:ext cx="4278655" cy="34015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_03 Section Divider">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grpSp>
        <p:nvGrpSpPr>
          <p:cNvPr id="27" name="Group 26"/>
          <p:cNvGrpSpPr/>
          <p:nvPr userDrawn="1"/>
        </p:nvGrpSpPr>
        <p:grpSpPr>
          <a:xfrm>
            <a:off x="-2229" y="2361812"/>
            <a:ext cx="11067619" cy="4502135"/>
            <a:chOff x="-2229" y="2361812"/>
            <a:chExt cx="11067619" cy="4502135"/>
          </a:xfrm>
          <a:solidFill>
            <a:srgbClr val="004050"/>
          </a:solidFill>
        </p:grpSpPr>
        <p:sp>
          <p:nvSpPr>
            <p:cNvPr id="28" name="Freeform 27">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2F450B4C-241D-A544-BBEF-175E01D6A139}"/>
                </a:ext>
              </a:extLst>
            </p:cNvPr>
            <p:cNvSpPr/>
            <p:nvPr userDrawn="1"/>
          </p:nvSpPr>
          <p:spPr>
            <a:xfrm flipV="1">
              <a:off x="-2229"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002921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9EDB8"/>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Tree>
    <p:extLst>
      <p:ext uri="{BB962C8B-B14F-4D97-AF65-F5344CB8AC3E}">
        <p14:creationId xmlns:p14="http://schemas.microsoft.com/office/powerpoint/2010/main" val="35899453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rrow Left">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5"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grpSp>
        <p:nvGrpSpPr>
          <p:cNvPr id="19" name="Group 18"/>
          <p:cNvGrpSpPr/>
          <p:nvPr userDrawn="1"/>
        </p:nvGrpSpPr>
        <p:grpSpPr>
          <a:xfrm>
            <a:off x="-6058" y="3531457"/>
            <a:ext cx="5797612" cy="2365031"/>
            <a:chOff x="-2229" y="2361812"/>
            <a:chExt cx="11067619" cy="4514835"/>
          </a:xfrm>
          <a:solidFill>
            <a:srgbClr val="09EDB8"/>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3703584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EDB3"/>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121148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rgbClr val="0EEE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8688700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4_01 Section Divider">
    <p:bg>
      <p:bgPr>
        <a:solidFill>
          <a:schemeClr val="tx1"/>
        </a:solidFill>
        <a:effectLst/>
      </p:bgPr>
    </p:bg>
    <p:spTree>
      <p:nvGrpSpPr>
        <p:cNvPr id="1" name=""/>
        <p:cNvGrpSpPr/>
        <p:nvPr/>
      </p:nvGrpSpPr>
      <p:grpSpPr>
        <a:xfrm>
          <a:off x="0" y="0"/>
          <a:ext cx="0" cy="0"/>
          <a:chOff x="0" y="0"/>
          <a:chExt cx="0" cy="0"/>
        </a:xfrm>
      </p:grpSpPr>
      <p:sp>
        <p:nvSpPr>
          <p:cNvPr id="5" name="Rectangle 4"/>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rgbClr val="004050"/>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779800"/>
            <a:ext cx="5627171" cy="1682133"/>
          </a:xfrm>
        </p:spPr>
        <p:txBody>
          <a:bodyPr anchor="b" anchorCtr="0">
            <a:noAutofit/>
          </a:bodyPr>
          <a:lstStyle>
            <a:lvl1pPr algn="l">
              <a:lnSpc>
                <a:spcPts val="6000"/>
              </a:lnSpc>
              <a:defRPr sz="3600" spc="60" baseline="0">
                <a:solidFill>
                  <a:srgbClr val="004050"/>
                </a:solidFill>
              </a:defRPr>
            </a:lvl1pPr>
          </a:lstStyle>
          <a:p>
            <a:r>
              <a:rPr lang="en-US" noProof="0" dirty="0"/>
              <a:t>CLICK TO EDIT MASTER TITLE STYLE</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280405" y="399619"/>
            <a:ext cx="857393" cy="522401"/>
          </a:xfrm>
          <a:prstGeom prst="rect">
            <a:avLst/>
          </a:prstGeom>
        </p:spPr>
      </p:pic>
      <p:sp>
        <p:nvSpPr>
          <p:cNvPr id="7" name="Rectangle 6"/>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161448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7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1" name="Freeform 10">
            <a:extLst>
              <a:ext uri="{FF2B5EF4-FFF2-40B4-BE49-F238E27FC236}">
                <a16:creationId xmlns:a16="http://schemas.microsoft.com/office/drawing/2014/main" id="{35B5D0DF-4895-DB4F-85D9-C3FFDE55B8C8}"/>
              </a:ext>
            </a:extLst>
          </p:cNvPr>
          <p:cNvSpPr/>
          <p:nvPr userDrawn="1"/>
        </p:nvSpPr>
        <p:spPr>
          <a:xfrm>
            <a:off x="384784" y="4708688"/>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endParaRPr lang="en-GB"/>
          </a:p>
        </p:txBody>
      </p:sp>
      <p:pic>
        <p:nvPicPr>
          <p:cNvPr id="2" name="Graphic 31">
            <a:extLst>
              <a:ext uri="{FF2B5EF4-FFF2-40B4-BE49-F238E27FC236}">
                <a16:creationId xmlns:a16="http://schemas.microsoft.com/office/drawing/2014/main" id="{54AECF59-B41D-D4E0-6D39-A34D53A4BA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3" name="Slide Number Placeholder 5">
            <a:extLst>
              <a:ext uri="{FF2B5EF4-FFF2-40B4-BE49-F238E27FC236}">
                <a16:creationId xmlns:a16="http://schemas.microsoft.com/office/drawing/2014/main" id="{96937E7C-204C-B2E4-7124-8AFF23EFBE1E}"/>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27488700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7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8"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1" name="Group 20"/>
          <p:cNvGrpSpPr/>
          <p:nvPr userDrawn="1"/>
        </p:nvGrpSpPr>
        <p:grpSpPr>
          <a:xfrm>
            <a:off x="-6058" y="3531457"/>
            <a:ext cx="5797612" cy="2365031"/>
            <a:chOff x="-2229" y="2361812"/>
            <a:chExt cx="11067619" cy="4514835"/>
          </a:xfrm>
          <a:solidFill>
            <a:srgbClr val="28CFF9"/>
          </a:solidFill>
        </p:grpSpPr>
        <p:sp>
          <p:nvSpPr>
            <p:cNvPr id="22" name="Freeform 21">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8221067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FF9"/>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47252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28CFF9"/>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2894767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5_03 Section Divider">
    <p:bg>
      <p:bgPr>
        <a:solidFill>
          <a:srgbClr val="F3622C"/>
        </a:solidFill>
        <a:effectLst/>
      </p:bgPr>
    </p:bg>
    <p:spTree>
      <p:nvGrpSpPr>
        <p:cNvPr id="1" name=""/>
        <p:cNvGrpSpPr/>
        <p:nvPr/>
      </p:nvGrpSpPr>
      <p:grpSpPr>
        <a:xfrm>
          <a:off x="0" y="0"/>
          <a:ext cx="0" cy="0"/>
          <a:chOff x="0" y="0"/>
          <a:chExt cx="0" cy="0"/>
        </a:xfrm>
      </p:grpSpPr>
      <p:sp>
        <p:nvSpPr>
          <p:cNvPr id="16" name="Rectangle 15"/>
          <p:cNvSpPr/>
          <p:nvPr userDrawn="1"/>
        </p:nvSpPr>
        <p:spPr>
          <a:xfrm>
            <a:off x="760859" y="768561"/>
            <a:ext cx="379608" cy="11049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1">
            <a:extLst>
              <a:ext uri="{FF2B5EF4-FFF2-40B4-BE49-F238E27FC236}">
                <a16:creationId xmlns:a16="http://schemas.microsoft.com/office/drawing/2014/main" id="{EBBB6D40-B4C9-8B4A-B2A6-126F64906376}"/>
              </a:ext>
            </a:extLst>
          </p:cNvPr>
          <p:cNvSpPr>
            <a:spLocks noGrp="1"/>
          </p:cNvSpPr>
          <p:nvPr userDrawn="1">
            <p:ph type="ctrTitle" hasCustomPrompt="1"/>
          </p:nvPr>
        </p:nvSpPr>
        <p:spPr>
          <a:xfrm>
            <a:off x="376239" y="1556247"/>
            <a:ext cx="5810250" cy="2277604"/>
          </a:xfrm>
        </p:spPr>
        <p:txBody>
          <a:bodyPr anchor="b" anchorCtr="0">
            <a:noAutofit/>
          </a:bodyPr>
          <a:lstStyle>
            <a:lvl1pPr algn="l">
              <a:lnSpc>
                <a:spcPct val="90000"/>
              </a:lnSpc>
              <a:defRPr sz="3600" spc="60" baseline="0">
                <a:solidFill>
                  <a:schemeClr val="bg1"/>
                </a:solidFill>
              </a:defRPr>
            </a:lvl1pPr>
          </a:lstStyle>
          <a:p>
            <a:r>
              <a:rPr lang="en-US" noProof="0" dirty="0"/>
              <a:t>CLICK TO EDIT </a:t>
            </a:r>
            <a:br>
              <a:rPr lang="en-US" noProof="0" dirty="0"/>
            </a:br>
            <a:r>
              <a:rPr lang="en-US" noProof="0" dirty="0"/>
              <a:t>MASTER TITLE STYLE</a:t>
            </a:r>
            <a:endParaRPr lang="en-GB" noProof="0" dirty="0"/>
          </a:p>
        </p:txBody>
      </p:sp>
      <p:grpSp>
        <p:nvGrpSpPr>
          <p:cNvPr id="6" name="Group 5"/>
          <p:cNvGrpSpPr/>
          <p:nvPr userDrawn="1"/>
        </p:nvGrpSpPr>
        <p:grpSpPr>
          <a:xfrm>
            <a:off x="-2229" y="2361812"/>
            <a:ext cx="11067619" cy="4502135"/>
            <a:chOff x="-2229" y="2361812"/>
            <a:chExt cx="11067619" cy="4502135"/>
          </a:xfrm>
        </p:grpSpPr>
        <p:sp>
          <p:nvSpPr>
            <p:cNvPr id="10" name="Freeform 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2F450B4C-241D-A544-BBEF-175E01D6A139}"/>
                </a:ext>
              </a:extLst>
            </p:cNvPr>
            <p:cNvSpPr/>
            <p:nvPr userDrawn="1"/>
          </p:nvSpPr>
          <p:spPr>
            <a:xfrm flipV="1">
              <a:off x="-467"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35614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4" name="Group 3"/>
          <p:cNvGrpSpPr/>
          <p:nvPr userDrawn="1"/>
        </p:nvGrpSpPr>
        <p:grpSpPr>
          <a:xfrm>
            <a:off x="-1717" y="4568506"/>
            <a:ext cx="4628886" cy="1406446"/>
            <a:chOff x="-1717" y="4568506"/>
            <a:chExt cx="4628886" cy="1406446"/>
          </a:xfrm>
        </p:grpSpPr>
        <p:sp>
          <p:nvSpPr>
            <p:cNvPr id="11" name="Freeform 10">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98918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Text Slide A">
    <p:spTree>
      <p:nvGrpSpPr>
        <p:cNvPr id="1" name=""/>
        <p:cNvGrpSpPr/>
        <p:nvPr/>
      </p:nvGrpSpPr>
      <p:grpSpPr>
        <a:xfrm>
          <a:off x="0" y="0"/>
          <a:ext cx="0" cy="0"/>
          <a:chOff x="0" y="0"/>
          <a:chExt cx="0" cy="0"/>
        </a:xfrm>
      </p:grpSpPr>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8" name="Group 27"/>
          <p:cNvGrpSpPr/>
          <p:nvPr userDrawn="1"/>
        </p:nvGrpSpPr>
        <p:grpSpPr>
          <a:xfrm>
            <a:off x="-6058" y="3531457"/>
            <a:ext cx="5797612" cy="2365031"/>
            <a:chOff x="-2229" y="2361812"/>
            <a:chExt cx="11067619" cy="4514835"/>
          </a:xfrm>
        </p:grpSpPr>
        <p:sp>
          <p:nvSpPr>
            <p:cNvPr id="29" name="Freeform 28">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3622C"/>
            </a:solidFill>
            <a:ln w="6350"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4161484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F1612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008657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rgbClr val="F3622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solidFill>
                <a:schemeClr val="bg1"/>
              </a:solidFill>
            </a:endParaRPr>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3771122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3_02 Section Divider">
    <p:bg>
      <p:bgPr>
        <a:solidFill>
          <a:srgbClr val="7E007C"/>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F91258"/>
          </a:solidFill>
          <a:ln w="6350" cap="flat">
            <a:noFill/>
            <a:prstDash val="solid"/>
            <a:miter/>
          </a:ln>
        </p:spPr>
        <p:txBody>
          <a:bodyPr rtlCol="0" anchor="ctr"/>
          <a:lstStyle/>
          <a:p>
            <a:endParaRPr lang="en-GB"/>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5627171" cy="2353439"/>
          </a:xfrm>
        </p:spPr>
        <p:txBody>
          <a:bodyPr anchor="b" anchorCtr="0">
            <a:noAutofit/>
          </a:bodyPr>
          <a:lstStyle>
            <a:lvl1pPr algn="l">
              <a:lnSpc>
                <a:spcPts val="6000"/>
              </a:lnSpc>
              <a:defRPr sz="3600" spc="60" baseline="0">
                <a:solidFill>
                  <a:schemeClr val="bg1"/>
                </a:solidFill>
              </a:defRPr>
            </a:lvl1pPr>
          </a:lstStyle>
          <a:p>
            <a:r>
              <a:rPr lang="en-US" noProof="0" dirty="0"/>
              <a:t>CLICK TO EDIT MASTER TITLE STYLE</a:t>
            </a:r>
            <a:endParaRPr lang="en-GB" noProof="0" dirty="0"/>
          </a:p>
        </p:txBody>
      </p:sp>
    </p:spTree>
    <p:extLst>
      <p:ext uri="{BB962C8B-B14F-4D97-AF65-F5344CB8AC3E}">
        <p14:creationId xmlns:p14="http://schemas.microsoft.com/office/powerpoint/2010/main" val="3996745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E0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33" name="Group 32"/>
          <p:cNvGrpSpPr/>
          <p:nvPr userDrawn="1"/>
        </p:nvGrpSpPr>
        <p:grpSpPr>
          <a:xfrm>
            <a:off x="-1717" y="4568506"/>
            <a:ext cx="4628886" cy="1406446"/>
            <a:chOff x="-1717" y="4568506"/>
            <a:chExt cx="4628886" cy="1406446"/>
          </a:xfrm>
          <a:solidFill>
            <a:srgbClr val="F91258"/>
          </a:solidFill>
        </p:grpSpPr>
        <p:sp>
          <p:nvSpPr>
            <p:cNvPr id="34" name="Freeform 33">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33457880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4" name="Group 23"/>
          <p:cNvGrpSpPr/>
          <p:nvPr userDrawn="1"/>
        </p:nvGrpSpPr>
        <p:grpSpPr>
          <a:xfrm>
            <a:off x="-6058" y="3531457"/>
            <a:ext cx="5797612" cy="2365031"/>
            <a:chOff x="-2229" y="2361812"/>
            <a:chExt cx="11067619" cy="4514835"/>
          </a:xfrm>
          <a:solidFill>
            <a:srgbClr val="7E007C"/>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5961484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7E007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54640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rgbClr val="7E007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8"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Tree>
    <p:extLst>
      <p:ext uri="{BB962C8B-B14F-4D97-AF65-F5344CB8AC3E}">
        <p14:creationId xmlns:p14="http://schemas.microsoft.com/office/powerpoint/2010/main" val="317568088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guide id="2" pos="3840" userDrawn="1">
          <p15:clr>
            <a:srgbClr val="FBAE40"/>
          </p15:clr>
        </p15:guide>
        <p15:guide id="3" orient="horz" pos="2160" userDrawn="1">
          <p15:clr>
            <a:srgbClr val="FBAE40"/>
          </p15:clr>
        </p15:guide>
        <p15:guide id="4" orient="horz" pos="2260" userDrawn="1">
          <p15:clr>
            <a:srgbClr val="FBAE40"/>
          </p15:clr>
        </p15:guide>
        <p15:guide id="5" pos="39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2" name="Rectangle 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3915446001"/>
      </p:ext>
    </p:extLst>
  </p:cSld>
  <p:clrMapOvr>
    <a:masterClrMapping/>
  </p:clrMapOvr>
  <p:extLst>
    <p:ext uri="{DCECCB84-F9BA-43D5-87BE-67443E8EF086}">
      <p15:sldGuideLst xmlns:p15="http://schemas.microsoft.com/office/powerpoint/2012/main">
        <p15:guide id="1" orient="horz" pos="777">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059427" y="3673998"/>
            <a:ext cx="2124159" cy="2749952"/>
          </a:xfrm>
        </p:spPr>
        <p:txBody>
          <a:bodyPr/>
          <a:lstStyle>
            <a:lvl1pPr marL="0" indent="0">
              <a:lnSpc>
                <a:spcPct val="100000"/>
              </a:lnSpc>
              <a:buFont typeface="Arial" panose="020B0604020202020204" pitchFamily="34" charset="0"/>
              <a:buNone/>
              <a:defRPr sz="2000" b="0"/>
            </a:lvl1pPr>
            <a:lvl2pPr marL="0" indent="0">
              <a:buFont typeface="Arial" panose="020B0604020202020204" pitchFamily="34" charset="0"/>
              <a:buNone/>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4" name="Text Placeholder 4"/>
          <p:cNvSpPr>
            <a:spLocks noGrp="1"/>
          </p:cNvSpPr>
          <p:nvPr>
            <p:ph type="body" sz="quarter" idx="16" hasCustomPrompt="1"/>
          </p:nvPr>
        </p:nvSpPr>
        <p:spPr>
          <a:xfrm>
            <a:off x="3639645" y="3673998"/>
            <a:ext cx="2068065"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6" name="Text Placeholder 4"/>
          <p:cNvSpPr>
            <a:spLocks noGrp="1"/>
          </p:cNvSpPr>
          <p:nvPr>
            <p:ph type="body" sz="quarter" idx="17" hasCustomPrompt="1"/>
          </p:nvPr>
        </p:nvSpPr>
        <p:spPr>
          <a:xfrm>
            <a:off x="6149996" y="3673998"/>
            <a:ext cx="2130523"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7" name="Picture Placeholder 21"/>
          <p:cNvSpPr>
            <a:spLocks noGrp="1"/>
          </p:cNvSpPr>
          <p:nvPr>
            <p:ph type="pic" sz="quarter" idx="18" hasCustomPrompt="1"/>
          </p:nvPr>
        </p:nvSpPr>
        <p:spPr>
          <a:xfrm>
            <a:off x="1059428" y="1993484"/>
            <a:ext cx="1437932" cy="1437930"/>
          </a:xfrm>
        </p:spPr>
        <p:txBody>
          <a:bodyPr/>
          <a:lstStyle>
            <a:lvl1pPr marL="0" indent="0">
              <a:buNone/>
              <a:defRPr/>
            </a:lvl1pPr>
          </a:lstStyle>
          <a:p>
            <a:r>
              <a:rPr lang="en-GB" dirty="0"/>
              <a:t>icon</a:t>
            </a:r>
          </a:p>
        </p:txBody>
      </p:sp>
      <p:sp>
        <p:nvSpPr>
          <p:cNvPr id="8" name="Picture Placeholder 21"/>
          <p:cNvSpPr>
            <a:spLocks noGrp="1"/>
          </p:cNvSpPr>
          <p:nvPr>
            <p:ph type="pic" sz="quarter" idx="19" hasCustomPrompt="1"/>
          </p:nvPr>
        </p:nvSpPr>
        <p:spPr>
          <a:xfrm>
            <a:off x="3639646" y="1986408"/>
            <a:ext cx="1437932" cy="1437930"/>
          </a:xfrm>
        </p:spPr>
        <p:txBody>
          <a:bodyPr/>
          <a:lstStyle>
            <a:lvl1pPr marL="0" indent="0">
              <a:buNone/>
              <a:defRPr/>
            </a:lvl1pPr>
          </a:lstStyle>
          <a:p>
            <a:r>
              <a:rPr lang="en-GB" dirty="0"/>
              <a:t>icon</a:t>
            </a:r>
          </a:p>
        </p:txBody>
      </p:sp>
      <p:sp>
        <p:nvSpPr>
          <p:cNvPr id="9" name="Picture Placeholder 21"/>
          <p:cNvSpPr>
            <a:spLocks noGrp="1"/>
          </p:cNvSpPr>
          <p:nvPr>
            <p:ph type="pic" sz="quarter" idx="20" hasCustomPrompt="1"/>
          </p:nvPr>
        </p:nvSpPr>
        <p:spPr>
          <a:xfrm>
            <a:off x="6149997" y="1993484"/>
            <a:ext cx="1437932" cy="1437930"/>
          </a:xfrm>
        </p:spPr>
        <p:txBody>
          <a:bodyPr/>
          <a:lstStyle>
            <a:lvl1pPr marL="0" indent="0">
              <a:buNone/>
              <a:defRPr/>
            </a:lvl1pPr>
          </a:lstStyle>
          <a:p>
            <a:r>
              <a:rPr lang="en-GB" dirty="0"/>
              <a:t>icon</a:t>
            </a:r>
          </a:p>
        </p:txBody>
      </p:sp>
      <p:sp>
        <p:nvSpPr>
          <p:cNvPr id="10" name="Text Placeholder 4"/>
          <p:cNvSpPr>
            <a:spLocks noGrp="1"/>
          </p:cNvSpPr>
          <p:nvPr>
            <p:ph type="body" sz="quarter" idx="21" hasCustomPrompt="1"/>
          </p:nvPr>
        </p:nvSpPr>
        <p:spPr>
          <a:xfrm>
            <a:off x="8637070" y="3688989"/>
            <a:ext cx="2183449"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11" name="Picture Placeholder 21"/>
          <p:cNvSpPr>
            <a:spLocks noGrp="1"/>
          </p:cNvSpPr>
          <p:nvPr>
            <p:ph type="pic" sz="quarter" idx="22" hasCustomPrompt="1"/>
          </p:nvPr>
        </p:nvSpPr>
        <p:spPr>
          <a:xfrm>
            <a:off x="8637071" y="2008475"/>
            <a:ext cx="1437932" cy="1437930"/>
          </a:xfrm>
        </p:spPr>
        <p:txBody>
          <a:bodyPr/>
          <a:lstStyle>
            <a:lvl1pPr marL="0" indent="0">
              <a:buNone/>
              <a:defRPr/>
            </a:lvl1pPr>
          </a:lstStyle>
          <a:p>
            <a:r>
              <a:rPr lang="en-GB" dirty="0"/>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3" name="Rectangle 1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413896832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065907"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3511826"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Text Placeholder 7"/>
          <p:cNvSpPr>
            <a:spLocks noGrp="1"/>
          </p:cNvSpPr>
          <p:nvPr>
            <p:ph type="body" sz="quarter" idx="14" hasCustomPrompt="1"/>
          </p:nvPr>
        </p:nvSpPr>
        <p:spPr>
          <a:xfrm>
            <a:off x="5957745" y="1986353"/>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Text Placeholder 7"/>
          <p:cNvSpPr>
            <a:spLocks noGrp="1"/>
          </p:cNvSpPr>
          <p:nvPr>
            <p:ph type="body" sz="quarter" idx="15" hasCustomPrompt="1"/>
          </p:nvPr>
        </p:nvSpPr>
        <p:spPr>
          <a:xfrm>
            <a:off x="8403664" y="1986352"/>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Rectangle 8"/>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271956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5915467" y="1992793"/>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1069809" y="1992792"/>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Rectangle 6"/>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26361177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1080209"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sz="1800"/>
            </a:lvl2pPr>
            <a:lvl3pPr marL="0" indent="0">
              <a:buNone/>
              <a:defRPr sz="1800"/>
            </a:lvl3pPr>
            <a:lvl4pPr>
              <a:defRPr sz="1800"/>
            </a:lvl4pPr>
            <a:lvl5pPr>
              <a:defRPr sz="1800"/>
            </a:lvl5pPr>
          </a:lstStyle>
          <a:p>
            <a:pPr lvl="0"/>
            <a:r>
              <a:rPr lang="en-US" dirty="0"/>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1080209" y="2003204"/>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5925914" y="2003203"/>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8" name="Text Placeholder 7"/>
          <p:cNvSpPr>
            <a:spLocks noGrp="1"/>
          </p:cNvSpPr>
          <p:nvPr>
            <p:ph type="body" sz="quarter" idx="11" hasCustomPrompt="1"/>
          </p:nvPr>
        </p:nvSpPr>
        <p:spPr>
          <a:xfrm>
            <a:off x="5925868"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a:lvl2pPr>
          </a:lstStyle>
          <a:p>
            <a:pPr lvl="0"/>
            <a:r>
              <a:rPr lang="en-US" dirty="0"/>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Rectangle 1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625944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3" name="Rectangle 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Graphic 31">
            <a:extLst>
              <a:ext uri="{FF2B5EF4-FFF2-40B4-BE49-F238E27FC236}">
                <a16:creationId xmlns:a16="http://schemas.microsoft.com/office/drawing/2014/main" id="{FE246F34-D45D-35E6-9EE3-5E1E8669D83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2879135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QA Template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71466" y="2130432"/>
            <a:ext cx="11049077" cy="1470025"/>
          </a:xfrm>
        </p:spPr>
        <p:txBody>
          <a:bodyPr>
            <a:normAutofit/>
          </a:bodyPr>
          <a:lstStyle>
            <a:lvl1pPr algn="ctr">
              <a:defRPr sz="3600">
                <a:solidFill>
                  <a:srgbClr val="0070C0"/>
                </a:solidFill>
              </a:defRPr>
            </a:lvl1pPr>
          </a:lstStyle>
          <a:p>
            <a:r>
              <a:rPr lang="en-US"/>
              <a:t>Click to edit Master title style</a:t>
            </a:r>
            <a:endParaRPr lang="en-GB" dirty="0"/>
          </a:p>
        </p:txBody>
      </p:sp>
      <p:sp>
        <p:nvSpPr>
          <p:cNvPr id="3" name="Subtitle 2"/>
          <p:cNvSpPr>
            <a:spLocks noGrp="1"/>
          </p:cNvSpPr>
          <p:nvPr>
            <p:ph type="subTitle" idx="1"/>
          </p:nvPr>
        </p:nvSpPr>
        <p:spPr>
          <a:xfrm>
            <a:off x="1828800" y="3886200"/>
            <a:ext cx="8534400" cy="1752600"/>
          </a:xfrm>
        </p:spPr>
        <p:txBody>
          <a:bodyPr>
            <a:normAutofit/>
          </a:bodyPr>
          <a:lstStyle>
            <a:lvl1pPr marL="0" indent="0" algn="ctr">
              <a:buNone/>
              <a:defRPr sz="2400" b="1">
                <a:solidFill>
                  <a:srgbClr val="AAAAAA"/>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Tree>
    <p:extLst>
      <p:ext uri="{BB962C8B-B14F-4D97-AF65-F5344CB8AC3E}">
        <p14:creationId xmlns:p14="http://schemas.microsoft.com/office/powerpoint/2010/main" val="200701196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22844342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cSld name="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duotone>
              <a:prstClr val="black"/>
              <a:schemeClr val="tx1">
                <a:lumMod val="50000"/>
                <a:lumOff val="50000"/>
                <a:tint val="45000"/>
                <a:satMod val="400000"/>
              </a:schemeClr>
            </a:duotone>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400000"/>
                    </a14:imgEffect>
                    <a14:imgEffect>
                      <a14:brightnessContrast bright="32000" contrast="-3000"/>
                    </a14:imgEffect>
                  </a14:imgLayer>
                </a14:imgProps>
              </a:ex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3037302727"/>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1"/>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280422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4" y="6584738"/>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dirty="0"/>
          </a:p>
        </p:txBody>
      </p:sp>
      <p:pic>
        <p:nvPicPr>
          <p:cNvPr id="4" name="Graphic 31">
            <a:extLst>
              <a:ext uri="{FF2B5EF4-FFF2-40B4-BE49-F238E27FC236}">
                <a16:creationId xmlns:a16="http://schemas.microsoft.com/office/drawing/2014/main" id="{2D4F8CE8-AACC-D076-0EE9-A52A4C67697A}"/>
              </a:ext>
            </a:extLst>
          </p:cNvPr>
          <p:cNvPicPr>
            <a:picLocks noChangeAspect="1"/>
          </p:cNvPicPr>
          <p:nvPr userDrawn="1"/>
        </p:nvPicPr>
        <p:blipFill>
          <a:blip r:embed="rId40">
            <a:extLst>
              <a:ext uri="{96DAC541-7B7A-43D3-8B79-37D633B846F1}">
                <asvg:svgBlip xmlns:asvg="http://schemas.microsoft.com/office/drawing/2016/SVG/main" r:embed="rId41"/>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798" r:id="rId4"/>
    <p:sldLayoutId id="2147483806" r:id="rId5"/>
    <p:sldLayoutId id="2147483709" r:id="rId6"/>
    <p:sldLayoutId id="2147483822" r:id="rId7"/>
    <p:sldLayoutId id="2147483802" r:id="rId8"/>
    <p:sldLayoutId id="2147483792" r:id="rId9"/>
    <p:sldLayoutId id="2147483810" r:id="rId10"/>
    <p:sldLayoutId id="2147483804" r:id="rId11"/>
    <p:sldLayoutId id="2147483821" r:id="rId12"/>
    <p:sldLayoutId id="2147483824" r:id="rId13"/>
    <p:sldLayoutId id="2147483828" r:id="rId14"/>
    <p:sldLayoutId id="2147483853" r:id="rId15"/>
    <p:sldLayoutId id="2147483899" r:id="rId16"/>
    <p:sldLayoutId id="2147483832" r:id="rId17"/>
    <p:sldLayoutId id="2147483833" r:id="rId18"/>
    <p:sldLayoutId id="2147483836" r:id="rId19"/>
    <p:sldLayoutId id="2147483852" r:id="rId20"/>
    <p:sldLayoutId id="2147483900" r:id="rId21"/>
    <p:sldLayoutId id="2147483820" r:id="rId22"/>
    <p:sldLayoutId id="2147483842" r:id="rId23"/>
    <p:sldLayoutId id="2147483845" r:id="rId24"/>
    <p:sldLayoutId id="2147483851" r:id="rId25"/>
    <p:sldLayoutId id="2147483901" r:id="rId26"/>
    <p:sldLayoutId id="2147483650" r:id="rId27"/>
    <p:sldLayoutId id="2147483734" r:id="rId28"/>
    <p:sldLayoutId id="2147483796" r:id="rId29"/>
    <p:sldLayoutId id="2147483719" r:id="rId30"/>
    <p:sldLayoutId id="2147483721" r:id="rId31"/>
    <p:sldLayoutId id="2147483724" r:id="rId32"/>
    <p:sldLayoutId id="2147483797" r:id="rId33"/>
    <p:sldLayoutId id="2147483814" r:id="rId34"/>
    <p:sldLayoutId id="2147483902" r:id="rId35"/>
    <p:sldLayoutId id="2147483903" r:id="rId36"/>
    <p:sldLayoutId id="2147483904" r:id="rId37"/>
    <p:sldLayoutId id="2147483905" r:id="rId38"/>
  </p:sldLayoutIdLst>
  <p:hf hdr="0" ftr="0" dt="0"/>
  <p:txStyles>
    <p:titleStyle>
      <a:lvl1pPr algn="l" defTabSz="914400" rtl="0" eaLnBrk="1" latinLnBrk="0" hangingPunct="1">
        <a:lnSpc>
          <a:spcPct val="100000"/>
        </a:lnSpc>
        <a:spcBef>
          <a:spcPct val="0"/>
        </a:spcBef>
        <a:buNone/>
        <a:defRPr sz="3600" b="0" i="0" kern="1200" cap="none" baseline="0">
          <a:solidFill>
            <a:schemeClr val="tx1"/>
          </a:solidFill>
          <a:latin typeface="Montserrat Black" panose="00000A00000000000000" pitchFamily="2" charset="0"/>
          <a:ea typeface="+mj-ea"/>
          <a:cs typeface="+mj-cs"/>
        </a:defRPr>
      </a:lvl1pPr>
    </p:titleStyle>
    <p:body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42"/>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42"/>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42"/>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42"/>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83"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8.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33.xml"/><Relationship Id="rId5" Type="http://schemas.openxmlformats.org/officeDocument/2006/relationships/image" Target="../media/image16.emf"/><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7.xml"/><Relationship Id="rId4" Type="http://schemas.openxmlformats.org/officeDocument/2006/relationships/image" Target="../media/image18.e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393333" y="1766544"/>
            <a:ext cx="6596062" cy="2431485"/>
          </a:xfrm>
        </p:spPr>
        <p:txBody>
          <a:bodyPr>
            <a:normAutofit/>
          </a:bodyPr>
          <a:lstStyle/>
          <a:p>
            <a:r>
              <a:rPr lang="en-GB" dirty="0">
                <a:solidFill>
                  <a:srgbClr val="004050"/>
                </a:solidFill>
              </a:rPr>
              <a:t>Python 3 Programming</a:t>
            </a:r>
            <a:endParaRPr lang="en-US" dirty="0">
              <a:solidFill>
                <a:srgbClr val="004050"/>
              </a:solidFill>
              <a:latin typeface="Arial" charset="0"/>
              <a:cs typeface="Arial" charset="0"/>
            </a:endParaRPr>
          </a:p>
        </p:txBody>
      </p:sp>
      <p:sp>
        <p:nvSpPr>
          <p:cNvPr id="4099" name="Subtitle 2"/>
          <p:cNvSpPr>
            <a:spLocks noGrp="1"/>
          </p:cNvSpPr>
          <p:nvPr>
            <p:ph type="body" sz="quarter" idx="10"/>
          </p:nvPr>
        </p:nvSpPr>
        <p:spPr>
          <a:xfrm>
            <a:off x="384785" y="4503180"/>
            <a:ext cx="6604609" cy="709613"/>
          </a:xfrm>
        </p:spPr>
        <p:txBody>
          <a:bodyPr/>
          <a:lstStyle/>
          <a:p>
            <a:r>
              <a:rPr lang="en-GB" sz="2400" b="1" dirty="0">
                <a:solidFill>
                  <a:srgbClr val="004050"/>
                </a:solidFill>
              </a:rPr>
              <a:t>Fundamental variables</a:t>
            </a:r>
            <a:endParaRPr lang="en-US" sz="2400" b="1" dirty="0">
              <a:solidFill>
                <a:srgbClr val="004050"/>
              </a:solidFill>
              <a:latin typeface="Arial" charset="0"/>
              <a:cs typeface="Arial" charset="0"/>
            </a:endParaRPr>
          </a:p>
        </p:txBody>
      </p:sp>
    </p:spTree>
    <p:extLst>
      <p:ext uri="{BB962C8B-B14F-4D97-AF65-F5344CB8AC3E}">
        <p14:creationId xmlns:p14="http://schemas.microsoft.com/office/powerpoint/2010/main" val="2054584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noChangeArrowheads="1"/>
          </p:cNvSpPr>
          <p:nvPr>
            <p:ph type="body" sz="quarter" idx="10"/>
          </p:nvPr>
        </p:nvSpPr>
        <p:spPr/>
        <p:txBody>
          <a:bodyPr>
            <a:normAutofit/>
          </a:bodyPr>
          <a:lstStyle/>
          <a:p>
            <a:r>
              <a:rPr lang="en-GB" sz="2800" dirty="0"/>
              <a:t>Fundamental variables</a:t>
            </a:r>
          </a:p>
        </p:txBody>
      </p:sp>
      <p:sp>
        <p:nvSpPr>
          <p:cNvPr id="2" name="Text Placeholder 1">
            <a:extLst>
              <a:ext uri="{FF2B5EF4-FFF2-40B4-BE49-F238E27FC236}">
                <a16:creationId xmlns:a16="http://schemas.microsoft.com/office/drawing/2014/main" id="{92CA05E3-7830-4BCB-AA5A-4348F90D8CD4}"/>
              </a:ext>
            </a:extLst>
          </p:cNvPr>
          <p:cNvSpPr>
            <a:spLocks noGrp="1"/>
          </p:cNvSpPr>
          <p:nvPr>
            <p:ph type="body" sz="quarter" idx="15"/>
          </p:nvPr>
        </p:nvSpPr>
        <p:spPr>
          <a:xfrm>
            <a:off x="4905162" y="511000"/>
            <a:ext cx="6770687" cy="5112343"/>
          </a:xfrm>
        </p:spPr>
        <p:txBody>
          <a:bodyPr/>
          <a:lstStyle/>
          <a:p>
            <a:r>
              <a:rPr lang="en-GB" sz="2400" b="1" dirty="0"/>
              <a:t>Contents</a:t>
            </a:r>
          </a:p>
          <a:p>
            <a:pPr lvl="1"/>
            <a:r>
              <a:rPr lang="en-GB" sz="2400" dirty="0"/>
              <a:t>Python objects</a:t>
            </a:r>
          </a:p>
          <a:p>
            <a:pPr lvl="1"/>
            <a:r>
              <a:rPr lang="en-GB" sz="2400" dirty="0"/>
              <a:t>Python variables </a:t>
            </a:r>
          </a:p>
          <a:p>
            <a:pPr lvl="2"/>
            <a:r>
              <a:rPr lang="en-GB" sz="2400" dirty="0"/>
              <a:t>Type specific methods</a:t>
            </a:r>
          </a:p>
          <a:p>
            <a:pPr lvl="1"/>
            <a:r>
              <a:rPr lang="en-GB" sz="2400" dirty="0"/>
              <a:t>Augmented assignments</a:t>
            </a:r>
          </a:p>
          <a:p>
            <a:pPr lvl="1"/>
            <a:r>
              <a:rPr lang="en-GB" sz="2400" dirty="0"/>
              <a:t>Python types</a:t>
            </a:r>
          </a:p>
          <a:p>
            <a:pPr lvl="1"/>
            <a:r>
              <a:rPr lang="en-GB" sz="2400" dirty="0"/>
              <a:t>Python lists</a:t>
            </a:r>
          </a:p>
          <a:p>
            <a:pPr lvl="1"/>
            <a:r>
              <a:rPr lang="en-GB" sz="2400" dirty="0"/>
              <a:t>Python tuples</a:t>
            </a:r>
          </a:p>
          <a:p>
            <a:pPr lvl="1"/>
            <a:r>
              <a:rPr lang="en-GB" sz="2400" dirty="0"/>
              <a:t>Python dictionaries</a:t>
            </a:r>
          </a:p>
          <a:p>
            <a:pPr lvl="1"/>
            <a:endParaRPr lang="en-GB" sz="2400" dirty="0"/>
          </a:p>
          <a:p>
            <a:r>
              <a:rPr lang="en-GB" sz="2400" b="1" dirty="0"/>
              <a:t>Summary</a:t>
            </a:r>
          </a:p>
          <a:p>
            <a:pPr lvl="1"/>
            <a:r>
              <a:rPr lang="en-GB" sz="2400" dirty="0"/>
              <a:t>Python operators</a:t>
            </a:r>
          </a:p>
          <a:p>
            <a:pPr lvl="1"/>
            <a:r>
              <a:rPr lang="en-GB" sz="2400" dirty="0"/>
              <a:t>Python reserved words</a:t>
            </a:r>
          </a:p>
          <a:p>
            <a:endParaRPr lang="en-GB" sz="2400" dirty="0"/>
          </a:p>
        </p:txBody>
      </p:sp>
      <p:sp>
        <p:nvSpPr>
          <p:cNvPr id="3" name="Slide Number Placeholder 2">
            <a:extLst>
              <a:ext uri="{FF2B5EF4-FFF2-40B4-BE49-F238E27FC236}">
                <a16:creationId xmlns:a16="http://schemas.microsoft.com/office/drawing/2014/main" id="{230A5395-3ED2-3414-38B3-5F5912B77E48}"/>
              </a:ext>
            </a:extLst>
          </p:cNvPr>
          <p:cNvSpPr>
            <a:spLocks noGrp="1"/>
          </p:cNvSpPr>
          <p:nvPr>
            <p:ph type="sldNum" sz="quarter" idx="4"/>
          </p:nvPr>
        </p:nvSpPr>
        <p:spPr/>
        <p:txBody>
          <a:bodyPr/>
          <a:lstStyle/>
          <a:p>
            <a:fld id="{EF892D59-8F09-EF4B-AD6D-DA609442F868}" type="slidenum">
              <a:rPr lang="en-GB" smtClean="0"/>
              <a:pPr/>
              <a:t>2</a:t>
            </a:fld>
            <a:endParaRPr lang="en-GB"/>
          </a:p>
        </p:txBody>
      </p:sp>
    </p:spTree>
    <p:extLst>
      <p:ext uri="{BB962C8B-B14F-4D97-AF65-F5344CB8AC3E}">
        <p14:creationId xmlns:p14="http://schemas.microsoft.com/office/powerpoint/2010/main" val="170543200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1061187" y="341509"/>
            <a:ext cx="11517312" cy="804863"/>
          </a:xfrm>
        </p:spPr>
        <p:txBody>
          <a:bodyPr/>
          <a:lstStyle/>
          <a:p>
            <a:pPr eaLnBrk="1" hangingPunct="1"/>
            <a:r>
              <a:rPr lang="en-GB" sz="3600" dirty="0"/>
              <a:t>Python is object oriented</a:t>
            </a:r>
          </a:p>
        </p:txBody>
      </p:sp>
      <p:sp>
        <p:nvSpPr>
          <p:cNvPr id="7171" name="Rectangle 3"/>
          <p:cNvSpPr>
            <a:spLocks noGrp="1" noChangeArrowheads="1"/>
          </p:cNvSpPr>
          <p:nvPr>
            <p:ph idx="4294967295"/>
          </p:nvPr>
        </p:nvSpPr>
        <p:spPr>
          <a:xfrm>
            <a:off x="398732" y="1105724"/>
            <a:ext cx="7614052" cy="4954588"/>
          </a:xfrm>
        </p:spPr>
        <p:txBody>
          <a:bodyPr>
            <a:normAutofit/>
          </a:bodyPr>
          <a:lstStyle/>
          <a:p>
            <a:r>
              <a:rPr lang="en-GB" sz="2000" b="1" dirty="0">
                <a:latin typeface="Montserrat"/>
              </a:rPr>
              <a:t>So, what is an object?</a:t>
            </a:r>
          </a:p>
          <a:p>
            <a:pPr marL="457200" lvl="1" indent="-228600">
              <a:buFont typeface="Arial" panose="020B0604020202020204" pitchFamily="34" charset="0"/>
              <a:buChar char="•"/>
            </a:pPr>
            <a:r>
              <a:rPr lang="en-GB" sz="2000" dirty="0">
                <a:latin typeface="Montserrat"/>
              </a:rPr>
              <a:t>To a mathematician, the term describes a ‘thing’.</a:t>
            </a:r>
          </a:p>
          <a:p>
            <a:pPr marL="457200" lvl="1" indent="-228600">
              <a:buFont typeface="Arial" panose="020B0604020202020204" pitchFamily="34" charset="0"/>
              <a:buChar char="•"/>
            </a:pPr>
            <a:r>
              <a:rPr lang="en-GB" sz="2000" dirty="0">
                <a:latin typeface="Montserrat"/>
              </a:rPr>
              <a:t>To a programmer, the term describes a specific area of memory.</a:t>
            </a:r>
          </a:p>
          <a:p>
            <a:r>
              <a:rPr lang="en-GB" sz="2000" b="1" dirty="0"/>
              <a:t>Objects have type, state, and identity</a:t>
            </a:r>
          </a:p>
          <a:p>
            <a:pPr marL="457200" lvl="1" indent="-228600">
              <a:buFont typeface="Arial" panose="020B0604020202020204" pitchFamily="34" charset="0"/>
              <a:buChar char="•"/>
            </a:pPr>
            <a:endParaRPr lang="en-GB" sz="1800" i="1" dirty="0"/>
          </a:p>
        </p:txBody>
      </p:sp>
      <p:pic>
        <p:nvPicPr>
          <p:cNvPr id="3" name="Picture 3" descr="A picture containing text, person, old&#10;&#10;Description automatically generated">
            <a:extLst>
              <a:ext uri="{FF2B5EF4-FFF2-40B4-BE49-F238E27FC236}">
                <a16:creationId xmlns:a16="http://schemas.microsoft.com/office/drawing/2014/main" id="{622E74A4-8757-EC42-0C01-584FD7ACE4D6}"/>
              </a:ext>
            </a:extLst>
          </p:cNvPr>
          <p:cNvPicPr>
            <a:picLocks noChangeAspect="1"/>
          </p:cNvPicPr>
          <p:nvPr/>
        </p:nvPicPr>
        <p:blipFill>
          <a:blip r:embed="rId3"/>
          <a:stretch>
            <a:fillRect/>
          </a:stretch>
        </p:blipFill>
        <p:spPr>
          <a:xfrm>
            <a:off x="8600475" y="234734"/>
            <a:ext cx="1398073" cy="1941616"/>
          </a:xfrm>
          <a:prstGeom prst="rect">
            <a:avLst/>
          </a:prstGeom>
        </p:spPr>
      </p:pic>
      <p:pic>
        <p:nvPicPr>
          <p:cNvPr id="4" name="Picture 4">
            <a:extLst>
              <a:ext uri="{FF2B5EF4-FFF2-40B4-BE49-F238E27FC236}">
                <a16:creationId xmlns:a16="http://schemas.microsoft.com/office/drawing/2014/main" id="{D07C5169-48AC-0D26-D213-D3CAC5EDEBCC}"/>
              </a:ext>
            </a:extLst>
          </p:cNvPr>
          <p:cNvPicPr>
            <a:picLocks noChangeAspect="1"/>
          </p:cNvPicPr>
          <p:nvPr/>
        </p:nvPicPr>
        <p:blipFill>
          <a:blip r:embed="rId4"/>
          <a:stretch>
            <a:fillRect/>
          </a:stretch>
        </p:blipFill>
        <p:spPr>
          <a:xfrm>
            <a:off x="9942821" y="897773"/>
            <a:ext cx="1850448" cy="1991097"/>
          </a:xfrm>
          <a:prstGeom prst="rect">
            <a:avLst/>
          </a:prstGeom>
        </p:spPr>
      </p:pic>
      <p:sp>
        <p:nvSpPr>
          <p:cNvPr id="2" name="Slide Number Placeholder 1">
            <a:extLst>
              <a:ext uri="{FF2B5EF4-FFF2-40B4-BE49-F238E27FC236}">
                <a16:creationId xmlns:a16="http://schemas.microsoft.com/office/drawing/2014/main" id="{D459A75B-6E17-5FC4-B8A4-2EE3F47886E8}"/>
              </a:ext>
            </a:extLst>
          </p:cNvPr>
          <p:cNvSpPr>
            <a:spLocks noGrp="1"/>
          </p:cNvSpPr>
          <p:nvPr>
            <p:ph type="sldNum" sz="quarter" idx="4"/>
          </p:nvPr>
        </p:nvSpPr>
        <p:spPr/>
        <p:txBody>
          <a:bodyPr/>
          <a:lstStyle/>
          <a:p>
            <a:fld id="{EF892D59-8F09-EF4B-AD6D-DA609442F868}" type="slidenum">
              <a:rPr lang="en-GB" smtClean="0"/>
              <a:pPr/>
              <a:t>3</a:t>
            </a:fld>
            <a:endParaRPr lang="en-GB"/>
          </a:p>
        </p:txBody>
      </p:sp>
      <p:pic>
        <p:nvPicPr>
          <p:cNvPr id="7" name="Picture 6">
            <a:extLst>
              <a:ext uri="{FF2B5EF4-FFF2-40B4-BE49-F238E27FC236}">
                <a16:creationId xmlns:a16="http://schemas.microsoft.com/office/drawing/2014/main" id="{4B38823D-105C-2DDA-350E-496717D45F5E}"/>
              </a:ext>
            </a:extLst>
          </p:cNvPr>
          <p:cNvPicPr>
            <a:picLocks noChangeAspect="1"/>
          </p:cNvPicPr>
          <p:nvPr/>
        </p:nvPicPr>
        <p:blipFill>
          <a:blip r:embed="rId5"/>
          <a:stretch>
            <a:fillRect/>
          </a:stretch>
        </p:blipFill>
        <p:spPr>
          <a:xfrm>
            <a:off x="1749457" y="2977059"/>
            <a:ext cx="8693086" cy="3509431"/>
          </a:xfrm>
          <a:prstGeom prst="rect">
            <a:avLst/>
          </a:prstGeom>
        </p:spPr>
      </p:pic>
    </p:spTree>
    <p:extLst>
      <p:ext uri="{BB962C8B-B14F-4D97-AF65-F5344CB8AC3E}">
        <p14:creationId xmlns:p14="http://schemas.microsoft.com/office/powerpoint/2010/main" val="35021804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965982" y="317176"/>
            <a:ext cx="11517818" cy="805001"/>
          </a:xfrm>
        </p:spPr>
        <p:txBody>
          <a:bodyPr/>
          <a:lstStyle/>
          <a:p>
            <a:pPr eaLnBrk="1" hangingPunct="1"/>
            <a:r>
              <a:rPr lang="en-GB" dirty="0"/>
              <a:t>Python variables</a:t>
            </a:r>
          </a:p>
        </p:txBody>
      </p:sp>
      <p:sp>
        <p:nvSpPr>
          <p:cNvPr id="8195" name="Rectangle 3"/>
          <p:cNvSpPr>
            <a:spLocks noGrp="1" noChangeArrowheads="1"/>
          </p:cNvSpPr>
          <p:nvPr>
            <p:ph type="body" idx="1"/>
          </p:nvPr>
        </p:nvSpPr>
        <p:spPr>
          <a:xfrm>
            <a:off x="336359" y="1260701"/>
            <a:ext cx="11516239" cy="4955354"/>
          </a:xfrm>
        </p:spPr>
        <p:txBody>
          <a:bodyPr/>
          <a:lstStyle/>
          <a:p>
            <a:pPr>
              <a:spcBef>
                <a:spcPts val="600"/>
              </a:spcBef>
            </a:pPr>
            <a:r>
              <a:rPr lang="en-GB" b="1" dirty="0"/>
              <a:t>Python variables are references to objects</a:t>
            </a:r>
            <a:endParaRPr lang="en-US" dirty="0"/>
          </a:p>
          <a:p>
            <a:pPr lvl="1">
              <a:spcBef>
                <a:spcPts val="600"/>
              </a:spcBef>
            </a:pPr>
            <a:endParaRPr lang="en-GB" dirty="0"/>
          </a:p>
          <a:p>
            <a:pPr lvl="2">
              <a:spcBef>
                <a:spcPts val="600"/>
              </a:spcBef>
            </a:pPr>
            <a:endParaRPr lang="en-GB" dirty="0"/>
          </a:p>
          <a:p>
            <a:pPr>
              <a:spcBef>
                <a:spcPts val="600"/>
              </a:spcBef>
            </a:pPr>
            <a:r>
              <a:rPr lang="en-GB" b="1" dirty="0"/>
              <a:t>Variables are defined automatically</a:t>
            </a:r>
          </a:p>
          <a:p>
            <a:pPr marL="457200" lvl="1" indent="-228600">
              <a:spcBef>
                <a:spcPts val="600"/>
              </a:spcBef>
              <a:buFont typeface="Arial"/>
              <a:buChar char="•"/>
            </a:pPr>
            <a:r>
              <a:rPr lang="en-GB" sz="1800" dirty="0">
                <a:latin typeface="Montserrat"/>
              </a:rPr>
              <a:t>An undefined variable refers to a special object called </a:t>
            </a:r>
            <a:r>
              <a:rPr lang="en-GB" sz="1800" dirty="0">
                <a:solidFill>
                  <a:srgbClr val="000000"/>
                </a:solidFill>
                <a:latin typeface="Montserrat"/>
              </a:rPr>
              <a:t>None</a:t>
            </a:r>
          </a:p>
          <a:p>
            <a:pPr>
              <a:spcBef>
                <a:spcPts val="600"/>
              </a:spcBef>
            </a:pPr>
            <a:r>
              <a:rPr lang="en-GB" b="1" dirty="0"/>
              <a:t>Variables can be deleted with </a:t>
            </a:r>
            <a:r>
              <a:rPr lang="en-GB" b="1" dirty="0">
                <a:latin typeface="Courier New" panose="02070309020205020404" pitchFamily="49" charset="0"/>
              </a:rPr>
              <a:t>del</a:t>
            </a:r>
            <a:endParaRPr lang="en-GB" b="1" dirty="0">
              <a:latin typeface="Courier New" panose="02070309020205020404" pitchFamily="49" charset="0"/>
              <a:cs typeface="Courier New" panose="02070309020205020404" pitchFamily="49" charset="0"/>
            </a:endParaRPr>
          </a:p>
          <a:p>
            <a:pPr marL="457200" lvl="1" indent="-228600">
              <a:spcBef>
                <a:spcPts val="600"/>
              </a:spcBef>
              <a:buFont typeface="Arial"/>
              <a:buChar char="•"/>
            </a:pPr>
            <a:r>
              <a:rPr lang="en-GB" sz="1800" b="0" dirty="0">
                <a:latin typeface="Montserrat"/>
              </a:rPr>
              <a:t>An object's memory can be reused when it is no longer referenced</a:t>
            </a:r>
          </a:p>
          <a:p>
            <a:pPr>
              <a:spcBef>
                <a:spcPts val="600"/>
              </a:spcBef>
            </a:pPr>
            <a:r>
              <a:rPr lang="en-GB" b="1" dirty="0"/>
              <a:t>Variables are local by default</a:t>
            </a:r>
          </a:p>
          <a:p>
            <a:pPr marL="457200" lvl="1" indent="-228600">
              <a:spcBef>
                <a:spcPts val="600"/>
              </a:spcBef>
              <a:buFont typeface="Arial"/>
              <a:buChar char="•"/>
            </a:pPr>
            <a:r>
              <a:rPr lang="en-GB" sz="1800" dirty="0"/>
              <a:t> If created within a user written function</a:t>
            </a:r>
          </a:p>
          <a:p>
            <a:pPr marL="457200" lvl="1" indent="-228600">
              <a:spcBef>
                <a:spcPts val="600"/>
              </a:spcBef>
              <a:buFont typeface="Arial"/>
              <a:buChar char="•"/>
            </a:pPr>
            <a:r>
              <a:rPr lang="en-GB" sz="1800" dirty="0"/>
              <a:t> More on </a:t>
            </a:r>
            <a:r>
              <a:rPr lang="en-GB" sz="1800" b="0" dirty="0">
                <a:latin typeface="Courier New" panose="02070309020205020404" pitchFamily="49" charset="0"/>
                <a:cs typeface="Courier New" panose="02070309020205020404" pitchFamily="49" charset="0"/>
              </a:rPr>
              <a:t>global</a:t>
            </a:r>
            <a:r>
              <a:rPr lang="en-GB" sz="1800" dirty="0"/>
              <a:t> variables and scope later…</a:t>
            </a:r>
          </a:p>
          <a:p>
            <a:pPr marL="457200" lvl="1" indent="-228600">
              <a:spcBef>
                <a:spcPts val="600"/>
              </a:spcBef>
              <a:buFont typeface="Arial"/>
              <a:buChar char="•"/>
            </a:pPr>
            <a:r>
              <a:rPr lang="en-GB" sz="1800" dirty="0"/>
              <a:t> Display local variables with </a:t>
            </a:r>
            <a:r>
              <a:rPr lang="en-GB" sz="1800" b="0" dirty="0">
                <a:latin typeface="Courier New" panose="02070309020205020404" pitchFamily="49" charset="0"/>
                <a:cs typeface="Courier New" panose="02070309020205020404" pitchFamily="49" charset="0"/>
              </a:rPr>
              <a:t>print(locals())</a:t>
            </a:r>
            <a:endParaRPr lang="en-GB" sz="1800" dirty="0">
              <a:latin typeface="Courier New" panose="02070309020205020404" pitchFamily="49" charset="0"/>
              <a:cs typeface="Courier New" panose="02070309020205020404" pitchFamily="49" charset="0"/>
            </a:endParaRPr>
          </a:p>
          <a:p>
            <a:pPr marL="457200" lvl="1" indent="-228600">
              <a:spcBef>
                <a:spcPts val="600"/>
              </a:spcBef>
              <a:buFont typeface="Arial"/>
              <a:buChar char="•"/>
            </a:pPr>
            <a:r>
              <a:rPr lang="en-GB" sz="1800" dirty="0"/>
              <a:t> Display global variables with </a:t>
            </a:r>
            <a:r>
              <a:rPr lang="en-GB" sz="1800" b="0" dirty="0">
                <a:latin typeface="Courier New" panose="02070309020205020404" pitchFamily="49" charset="0"/>
                <a:cs typeface="Courier New" panose="02070309020205020404" pitchFamily="49" charset="0"/>
              </a:rPr>
              <a:t>print(</a:t>
            </a:r>
            <a:r>
              <a:rPr lang="en-GB" sz="1800" dirty="0" err="1">
                <a:latin typeface="Courier New" panose="02070309020205020404" pitchFamily="49" charset="0"/>
                <a:cs typeface="Courier New" panose="02070309020205020404" pitchFamily="49" charset="0"/>
              </a:rPr>
              <a:t>globals</a:t>
            </a:r>
            <a:r>
              <a:rPr lang="en-GB" sz="1800" b="0" dirty="0">
                <a:latin typeface="Courier New" panose="02070309020205020404" pitchFamily="49" charset="0"/>
                <a:cs typeface="Courier New" panose="02070309020205020404" pitchFamily="49" charset="0"/>
              </a:rPr>
              <a:t>())</a:t>
            </a:r>
          </a:p>
        </p:txBody>
      </p:sp>
      <p:sp>
        <p:nvSpPr>
          <p:cNvPr id="8196" name="Text Box 4"/>
          <p:cNvSpPr txBox="1">
            <a:spLocks noChangeArrowheads="1"/>
          </p:cNvSpPr>
          <p:nvPr/>
        </p:nvSpPr>
        <p:spPr bwMode="auto">
          <a:xfrm>
            <a:off x="10594108" y="5736841"/>
            <a:ext cx="184731"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lgn="ctr">
              <a:spcBef>
                <a:spcPct val="0"/>
              </a:spcBef>
            </a:pPr>
            <a:endParaRPr lang="en-US" sz="1800" b="1" dirty="0"/>
          </a:p>
        </p:txBody>
      </p:sp>
      <p:grpSp>
        <p:nvGrpSpPr>
          <p:cNvPr id="8197" name="Group 12"/>
          <p:cNvGrpSpPr>
            <a:grpSpLocks/>
          </p:cNvGrpSpPr>
          <p:nvPr/>
        </p:nvGrpSpPr>
        <p:grpSpPr bwMode="auto">
          <a:xfrm>
            <a:off x="1039187" y="1637312"/>
            <a:ext cx="3825875" cy="658813"/>
            <a:chOff x="735" y="994"/>
            <a:chExt cx="2410" cy="415"/>
          </a:xfrm>
          <a:effectLst>
            <a:outerShdw blurRad="50800" dist="38100" dir="2700000" algn="tl" rotWithShape="0">
              <a:prstClr val="black">
                <a:alpha val="40000"/>
              </a:prstClr>
            </a:outerShdw>
          </a:effectLst>
        </p:grpSpPr>
        <p:sp>
          <p:nvSpPr>
            <p:cNvPr id="8200" name="Text Box 7"/>
            <p:cNvSpPr txBox="1">
              <a:spLocks noChangeArrowheads="1"/>
            </p:cNvSpPr>
            <p:nvPr/>
          </p:nvSpPr>
          <p:spPr bwMode="auto">
            <a:xfrm>
              <a:off x="1321" y="1176"/>
              <a:ext cx="418" cy="233"/>
            </a:xfrm>
            <a:prstGeom prst="rect">
              <a:avLst/>
            </a:prstGeom>
            <a:solidFill>
              <a:schemeClr val="tx2">
                <a:lumMod val="20000"/>
                <a:lumOff val="80000"/>
              </a:schemeClr>
            </a:solidFill>
            <a:ln w="9525">
              <a:solidFill>
                <a:schemeClr val="tx1"/>
              </a:solidFill>
              <a:miter lim="800000"/>
              <a:headEnd/>
              <a:tailEnd/>
            </a:ln>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lgn="ctr"/>
              <a:r>
                <a:rPr lang="en-GB" sz="1800" dirty="0" err="1">
                  <a:latin typeface="Courier New" panose="02070309020205020404" pitchFamily="49" charset="0"/>
                  <a:cs typeface="Courier New" panose="02070309020205020404" pitchFamily="49" charset="0"/>
                </a:rPr>
                <a:t>num</a:t>
              </a:r>
              <a:endParaRPr lang="en-GB" sz="1800" dirty="0">
                <a:latin typeface="Courier New" panose="02070309020205020404" pitchFamily="49" charset="0"/>
                <a:cs typeface="Courier New" panose="02070309020205020404" pitchFamily="49" charset="0"/>
              </a:endParaRPr>
            </a:p>
          </p:txBody>
        </p:sp>
        <p:sp>
          <p:nvSpPr>
            <p:cNvPr id="8201" name="Text Box 8"/>
            <p:cNvSpPr txBox="1">
              <a:spLocks noChangeArrowheads="1"/>
            </p:cNvSpPr>
            <p:nvPr/>
          </p:nvSpPr>
          <p:spPr bwMode="auto">
            <a:xfrm>
              <a:off x="2089" y="1180"/>
              <a:ext cx="191" cy="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dirty="0"/>
                <a:t>=</a:t>
              </a:r>
            </a:p>
          </p:txBody>
        </p:sp>
        <p:sp>
          <p:nvSpPr>
            <p:cNvPr id="8202" name="Text Box 9"/>
            <p:cNvSpPr txBox="1">
              <a:spLocks noChangeArrowheads="1"/>
            </p:cNvSpPr>
            <p:nvPr/>
          </p:nvSpPr>
          <p:spPr bwMode="auto">
            <a:xfrm>
              <a:off x="735" y="1188"/>
              <a:ext cx="563" cy="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i="1" dirty="0"/>
                <a:t>variable</a:t>
              </a:r>
            </a:p>
          </p:txBody>
        </p:sp>
        <p:sp>
          <p:nvSpPr>
            <p:cNvPr id="8203" name="Text Box 10"/>
            <p:cNvSpPr txBox="1">
              <a:spLocks noChangeArrowheads="1"/>
            </p:cNvSpPr>
            <p:nvPr/>
          </p:nvSpPr>
          <p:spPr bwMode="auto">
            <a:xfrm>
              <a:off x="2688" y="994"/>
              <a:ext cx="457" cy="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i="1" dirty="0"/>
                <a:t>object</a:t>
              </a:r>
            </a:p>
          </p:txBody>
        </p:sp>
      </p:grpSp>
      <p:sp>
        <p:nvSpPr>
          <p:cNvPr id="8198" name="Text Box 11"/>
          <p:cNvSpPr txBox="1">
            <a:spLocks noChangeArrowheads="1"/>
          </p:cNvSpPr>
          <p:nvPr/>
        </p:nvSpPr>
        <p:spPr bwMode="auto">
          <a:xfrm>
            <a:off x="2803673" y="1609475"/>
            <a:ext cx="1144587"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i="1" dirty="0"/>
              <a:t>references</a:t>
            </a:r>
          </a:p>
        </p:txBody>
      </p:sp>
      <p:pic>
        <p:nvPicPr>
          <p:cNvPr id="2" name="Picture 2" descr="Graphical user interface, application&#10;&#10;Description automatically generated">
            <a:extLst>
              <a:ext uri="{FF2B5EF4-FFF2-40B4-BE49-F238E27FC236}">
                <a16:creationId xmlns:a16="http://schemas.microsoft.com/office/drawing/2014/main" id="{03E98888-F7A3-E5B6-9201-EA7C99EA5FB0}"/>
              </a:ext>
            </a:extLst>
          </p:cNvPr>
          <p:cNvPicPr>
            <a:picLocks noChangeAspect="1"/>
          </p:cNvPicPr>
          <p:nvPr/>
        </p:nvPicPr>
        <p:blipFill>
          <a:blip r:embed="rId3"/>
          <a:stretch>
            <a:fillRect/>
          </a:stretch>
        </p:blipFill>
        <p:spPr>
          <a:xfrm>
            <a:off x="7832436" y="1005739"/>
            <a:ext cx="3662878" cy="2261716"/>
          </a:xfrm>
          <a:prstGeom prst="rect">
            <a:avLst/>
          </a:prstGeom>
        </p:spPr>
      </p:pic>
      <p:sp>
        <p:nvSpPr>
          <p:cNvPr id="4" name="Text Box 7">
            <a:extLst>
              <a:ext uri="{FF2B5EF4-FFF2-40B4-BE49-F238E27FC236}">
                <a16:creationId xmlns:a16="http://schemas.microsoft.com/office/drawing/2014/main" id="{9EF07BE8-BF49-4AF7-5A0D-561172FE426F}"/>
              </a:ext>
            </a:extLst>
          </p:cNvPr>
          <p:cNvSpPr txBox="1">
            <a:spLocks noChangeArrowheads="1"/>
          </p:cNvSpPr>
          <p:nvPr/>
        </p:nvSpPr>
        <p:spPr bwMode="auto">
          <a:xfrm>
            <a:off x="4196724" y="1926236"/>
            <a:ext cx="663575" cy="369332"/>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lgn="ctr"/>
            <a:r>
              <a:rPr lang="en-GB" sz="1800" dirty="0">
                <a:latin typeface="Courier New" panose="02070309020205020404" pitchFamily="49" charset="0"/>
                <a:cs typeface="Courier New" panose="02070309020205020404" pitchFamily="49" charset="0"/>
              </a:rPr>
              <a:t>42</a:t>
            </a:r>
          </a:p>
        </p:txBody>
      </p:sp>
      <p:pic>
        <p:nvPicPr>
          <p:cNvPr id="14" name="Picture 13">
            <a:extLst>
              <a:ext uri="{FF2B5EF4-FFF2-40B4-BE49-F238E27FC236}">
                <a16:creationId xmlns:a16="http://schemas.microsoft.com/office/drawing/2014/main" id="{0ADEBE2F-5946-69E3-CFFA-499B9FC89C4B}"/>
              </a:ext>
            </a:extLst>
          </p:cNvPr>
          <p:cNvPicPr>
            <a:picLocks noChangeAspect="1"/>
          </p:cNvPicPr>
          <p:nvPr/>
        </p:nvPicPr>
        <p:blipFill>
          <a:blip r:embed="rId4"/>
          <a:stretch>
            <a:fillRect/>
          </a:stretch>
        </p:blipFill>
        <p:spPr>
          <a:xfrm>
            <a:off x="6743363" y="4318529"/>
            <a:ext cx="5247853" cy="2539471"/>
          </a:xfrm>
          <a:prstGeom prst="rect">
            <a:avLst/>
          </a:prstGeom>
        </p:spPr>
      </p:pic>
      <p:sp>
        <p:nvSpPr>
          <p:cNvPr id="3" name="Slide Number Placeholder 2">
            <a:extLst>
              <a:ext uri="{FF2B5EF4-FFF2-40B4-BE49-F238E27FC236}">
                <a16:creationId xmlns:a16="http://schemas.microsoft.com/office/drawing/2014/main" id="{4D4F0DB0-EB5D-E87B-37BA-31D4C3F418C1}"/>
              </a:ext>
            </a:extLst>
          </p:cNvPr>
          <p:cNvSpPr>
            <a:spLocks noGrp="1"/>
          </p:cNvSpPr>
          <p:nvPr>
            <p:ph type="sldNum" sz="quarter" idx="4"/>
          </p:nvPr>
        </p:nvSpPr>
        <p:spPr/>
        <p:txBody>
          <a:bodyPr/>
          <a:lstStyle/>
          <a:p>
            <a:fld id="{EF892D59-8F09-EF4B-AD6D-DA609442F868}" type="slidenum">
              <a:rPr lang="en-GB" smtClean="0"/>
              <a:pPr/>
              <a:t>4</a:t>
            </a:fld>
            <a:endParaRPr lang="en-GB" dirty="0"/>
          </a:p>
        </p:txBody>
      </p:sp>
    </p:spTree>
    <p:extLst>
      <p:ext uri="{BB962C8B-B14F-4D97-AF65-F5344CB8AC3E}">
        <p14:creationId xmlns:p14="http://schemas.microsoft.com/office/powerpoint/2010/main" val="16951411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1136602" y="411146"/>
            <a:ext cx="11517312" cy="804863"/>
          </a:xfrm>
        </p:spPr>
        <p:txBody>
          <a:bodyPr/>
          <a:lstStyle/>
          <a:p>
            <a:pPr eaLnBrk="1" hangingPunct="1"/>
            <a:r>
              <a:rPr lang="en-GB" sz="3600" dirty="0"/>
              <a:t>Variable names</a:t>
            </a:r>
          </a:p>
        </p:txBody>
      </p:sp>
      <p:sp>
        <p:nvSpPr>
          <p:cNvPr id="9219" name="Rectangle 3"/>
          <p:cNvSpPr>
            <a:spLocks noGrp="1" noChangeArrowheads="1"/>
          </p:cNvSpPr>
          <p:nvPr>
            <p:ph idx="4294967295"/>
          </p:nvPr>
        </p:nvSpPr>
        <p:spPr>
          <a:xfrm>
            <a:off x="1036949" y="1440378"/>
            <a:ext cx="10694988" cy="5573712"/>
          </a:xfrm>
        </p:spPr>
        <p:txBody>
          <a:bodyPr>
            <a:normAutofit/>
          </a:bodyPr>
          <a:lstStyle/>
          <a:p>
            <a:pPr>
              <a:lnSpc>
                <a:spcPct val="110000"/>
              </a:lnSpc>
            </a:pPr>
            <a:r>
              <a:rPr lang="en-GB" sz="2000" b="1" dirty="0">
                <a:latin typeface="Montserrat"/>
              </a:rPr>
              <a:t>Naming rules</a:t>
            </a:r>
            <a:endParaRPr lang="en-US" sz="2000" dirty="0"/>
          </a:p>
          <a:p>
            <a:pPr marL="457200" indent="-228600">
              <a:lnSpc>
                <a:spcPct val="110000"/>
              </a:lnSpc>
              <a:buFont typeface="Arial"/>
              <a:buChar char="•"/>
            </a:pPr>
            <a:r>
              <a:rPr lang="en-GB" sz="2000" b="1" dirty="0" err="1">
                <a:latin typeface="Montserrat"/>
              </a:rPr>
              <a:t>CaSe</a:t>
            </a:r>
            <a:r>
              <a:rPr lang="en-GB" sz="2000" b="1" dirty="0">
                <a:latin typeface="Montserrat"/>
              </a:rPr>
              <a:t> </a:t>
            </a:r>
            <a:r>
              <a:rPr lang="en-GB" sz="2000" dirty="0">
                <a:latin typeface="Montserrat"/>
              </a:rPr>
              <a:t>sensitive.</a:t>
            </a:r>
            <a:endParaRPr lang="en-GB" sz="2000" dirty="0"/>
          </a:p>
          <a:p>
            <a:pPr marL="457200" indent="-228600">
              <a:lnSpc>
                <a:spcPct val="110000"/>
              </a:lnSpc>
              <a:buFont typeface="Arial"/>
              <a:buChar char="•"/>
            </a:pPr>
            <a:r>
              <a:rPr lang="en-GB" sz="2000" dirty="0">
                <a:latin typeface="Montserrat"/>
              </a:rPr>
              <a:t>Must start with an underscore or a letter.</a:t>
            </a:r>
            <a:endParaRPr lang="en-GB" sz="2000" dirty="0"/>
          </a:p>
          <a:p>
            <a:pPr marL="457200" lvl="1" indent="-228600">
              <a:lnSpc>
                <a:spcPct val="100000"/>
              </a:lnSpc>
              <a:buFont typeface="Arial"/>
              <a:buChar char="•"/>
            </a:pPr>
            <a:r>
              <a:rPr lang="en-GB" sz="2000" dirty="0">
                <a:latin typeface="Montserrat"/>
              </a:rPr>
              <a:t>Followed by any number of letters, digits, or underscores.</a:t>
            </a:r>
          </a:p>
          <a:p>
            <a:pPr>
              <a:lnSpc>
                <a:spcPct val="110000"/>
              </a:lnSpc>
            </a:pPr>
            <a:r>
              <a:rPr lang="en-GB" sz="2000" b="1" dirty="0">
                <a:latin typeface="Montserrat"/>
              </a:rPr>
              <a:t>Conventions with underscores</a:t>
            </a:r>
          </a:p>
          <a:p>
            <a:pPr marL="457200" lvl="1" indent="-228600">
              <a:lnSpc>
                <a:spcPct val="100000"/>
              </a:lnSpc>
              <a:buFont typeface="Arial"/>
              <a:buChar char="•"/>
            </a:pPr>
            <a:r>
              <a:rPr lang="en-GB" sz="2000" dirty="0">
                <a:latin typeface="Montserrat"/>
              </a:rPr>
              <a:t>Names beginning with one underscore are private to a module/class.</a:t>
            </a:r>
          </a:p>
          <a:p>
            <a:pPr lvl="2">
              <a:lnSpc>
                <a:spcPct val="100000"/>
              </a:lnSpc>
            </a:pPr>
            <a:endParaRPr lang="en-GB" sz="2000" dirty="0"/>
          </a:p>
          <a:p>
            <a:pPr marL="457200" lvl="1" indent="-228600">
              <a:lnSpc>
                <a:spcPct val="100000"/>
              </a:lnSpc>
              <a:buFont typeface="Arial"/>
              <a:buChar char="•"/>
            </a:pPr>
            <a:r>
              <a:rPr lang="en-GB" sz="2000" dirty="0">
                <a:latin typeface="Montserrat"/>
              </a:rPr>
              <a:t>Names beginning with two underscores are mangled.</a:t>
            </a:r>
          </a:p>
          <a:p>
            <a:pPr lvl="2">
              <a:lnSpc>
                <a:spcPct val="100000"/>
              </a:lnSpc>
            </a:pPr>
            <a:endParaRPr lang="en-GB" sz="2000" dirty="0"/>
          </a:p>
          <a:p>
            <a:pPr marL="457200" lvl="1" indent="-228600">
              <a:lnSpc>
                <a:spcPct val="100000"/>
              </a:lnSpc>
              <a:buFont typeface="Arial"/>
              <a:buChar char="•"/>
            </a:pPr>
            <a:r>
              <a:rPr lang="en-GB" sz="2000" dirty="0">
                <a:latin typeface="Montserrat"/>
              </a:rPr>
              <a:t>Names beginning and ending with two underscores are special.</a:t>
            </a:r>
          </a:p>
          <a:p>
            <a:pPr lvl="2">
              <a:lnSpc>
                <a:spcPct val="100000"/>
              </a:lnSpc>
            </a:pPr>
            <a:endParaRPr lang="en-GB" sz="2000" dirty="0"/>
          </a:p>
          <a:p>
            <a:pPr marL="457200" lvl="1" indent="-228600">
              <a:lnSpc>
                <a:spcPct val="100000"/>
              </a:lnSpc>
              <a:buFont typeface="Arial"/>
              <a:buChar char="•"/>
            </a:pPr>
            <a:r>
              <a:rPr lang="en-GB" sz="2000" dirty="0">
                <a:latin typeface="Montserrat"/>
              </a:rPr>
              <a:t>The character _ represents the result of the previous command.</a:t>
            </a:r>
          </a:p>
        </p:txBody>
      </p:sp>
      <p:sp>
        <p:nvSpPr>
          <p:cNvPr id="9220" name="Text Box 4"/>
          <p:cNvSpPr txBox="1">
            <a:spLocks noChangeArrowheads="1"/>
          </p:cNvSpPr>
          <p:nvPr/>
        </p:nvSpPr>
        <p:spPr bwMode="auto">
          <a:xfrm>
            <a:off x="2304217" y="3860522"/>
            <a:ext cx="2670175"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440" tIns="45720" rIns="91440" bIns="45720" anchor="t">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solidFill>
                  <a:srgbClr val="00B0F0"/>
                </a:solidFill>
                <a:latin typeface="Courier New"/>
                <a:cs typeface="Courier New"/>
              </a:rPr>
              <a:t>_private_to_module</a:t>
            </a:r>
          </a:p>
        </p:txBody>
      </p:sp>
      <p:sp>
        <p:nvSpPr>
          <p:cNvPr id="9221" name="Text Box 5"/>
          <p:cNvSpPr txBox="1">
            <a:spLocks noChangeArrowheads="1"/>
          </p:cNvSpPr>
          <p:nvPr/>
        </p:nvSpPr>
        <p:spPr bwMode="auto">
          <a:xfrm>
            <a:off x="2304216" y="4624869"/>
            <a:ext cx="2670175"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440" tIns="45720" rIns="91440" bIns="45720" anchor="t">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solidFill>
                  <a:srgbClr val="00B0F0"/>
                </a:solidFill>
                <a:latin typeface="Courier New"/>
                <a:cs typeface="Courier New"/>
              </a:rPr>
              <a:t>__private_to_class</a:t>
            </a:r>
          </a:p>
        </p:txBody>
      </p:sp>
      <p:sp>
        <p:nvSpPr>
          <p:cNvPr id="9222" name="Text Box 6"/>
          <p:cNvSpPr txBox="1">
            <a:spLocks noChangeArrowheads="1"/>
          </p:cNvSpPr>
          <p:nvPr/>
        </p:nvSpPr>
        <p:spPr bwMode="auto">
          <a:xfrm>
            <a:off x="2304217" y="5389216"/>
            <a:ext cx="2670175"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440" tIns="45720" rIns="91440" bIns="45720" anchor="t">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solidFill>
                  <a:srgbClr val="00B0F0"/>
                </a:solidFill>
                <a:latin typeface="Courier New"/>
                <a:cs typeface="Courier New"/>
              </a:rPr>
              <a:t>__itsakindamagic__</a:t>
            </a:r>
          </a:p>
        </p:txBody>
      </p:sp>
      <p:sp>
        <p:nvSpPr>
          <p:cNvPr id="2" name="Slide Number Placeholder 1">
            <a:extLst>
              <a:ext uri="{FF2B5EF4-FFF2-40B4-BE49-F238E27FC236}">
                <a16:creationId xmlns:a16="http://schemas.microsoft.com/office/drawing/2014/main" id="{21F38DA2-A870-2DF8-E701-4C2A1E9DB561}"/>
              </a:ext>
            </a:extLst>
          </p:cNvPr>
          <p:cNvSpPr>
            <a:spLocks noGrp="1"/>
          </p:cNvSpPr>
          <p:nvPr>
            <p:ph type="sldNum" sz="quarter" idx="4"/>
          </p:nvPr>
        </p:nvSpPr>
        <p:spPr/>
        <p:txBody>
          <a:bodyPr/>
          <a:lstStyle/>
          <a:p>
            <a:fld id="{EF892D59-8F09-EF4B-AD6D-DA609442F868}" type="slidenum">
              <a:rPr lang="en-GB" smtClean="0"/>
              <a:pPr/>
              <a:t>5</a:t>
            </a:fld>
            <a:endParaRPr lang="en-GB"/>
          </a:p>
        </p:txBody>
      </p:sp>
    </p:spTree>
    <p:extLst>
      <p:ext uri="{BB962C8B-B14F-4D97-AF65-F5344CB8AC3E}">
        <p14:creationId xmlns:p14="http://schemas.microsoft.com/office/powerpoint/2010/main" val="27764220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016864" y="348302"/>
            <a:ext cx="11517818" cy="805001"/>
          </a:xfrm>
        </p:spPr>
        <p:txBody>
          <a:bodyPr/>
          <a:lstStyle/>
          <a:p>
            <a:pPr eaLnBrk="1" hangingPunct="1"/>
            <a:r>
              <a:rPr lang="en-GB" dirty="0"/>
              <a:t>Type specific methods</a:t>
            </a:r>
          </a:p>
        </p:txBody>
      </p:sp>
      <p:sp>
        <p:nvSpPr>
          <p:cNvPr id="10243" name="Rectangle 3"/>
          <p:cNvSpPr>
            <a:spLocks noGrp="1" noChangeArrowheads="1"/>
          </p:cNvSpPr>
          <p:nvPr>
            <p:ph type="body" idx="1"/>
          </p:nvPr>
        </p:nvSpPr>
        <p:spPr/>
        <p:txBody>
          <a:bodyPr/>
          <a:lstStyle/>
          <a:p>
            <a:pPr>
              <a:spcBef>
                <a:spcPts val="600"/>
              </a:spcBef>
            </a:pPr>
            <a:r>
              <a:rPr lang="en-GB" b="1" dirty="0"/>
              <a:t>Actions on objects are done by calling </a:t>
            </a:r>
            <a:r>
              <a:rPr lang="en-GB" b="1" i="1" dirty="0"/>
              <a:t>methods</a:t>
            </a:r>
          </a:p>
          <a:p>
            <a:pPr marL="457200" lvl="1" indent="-228600">
              <a:spcBef>
                <a:spcPts val="600"/>
              </a:spcBef>
              <a:buFont typeface="Arial" panose="020B0604020202020204" pitchFamily="34" charset="0"/>
              <a:buChar char="•"/>
            </a:pPr>
            <a:r>
              <a:rPr lang="en-GB" sz="1800" dirty="0">
                <a:latin typeface="Montserrat"/>
              </a:rPr>
              <a:t>A method is implemented as a </a:t>
            </a:r>
            <a:r>
              <a:rPr lang="en-GB" sz="1800" i="1" dirty="0">
                <a:latin typeface="Montserrat"/>
              </a:rPr>
              <a:t>function</a:t>
            </a:r>
            <a:r>
              <a:rPr lang="en-GB" sz="1800" dirty="0">
                <a:latin typeface="Montserrat"/>
              </a:rPr>
              <a:t> - a named code block.</a:t>
            </a:r>
          </a:p>
          <a:p>
            <a:pPr marL="457200" lvl="2" indent="-228600">
              <a:spcBef>
                <a:spcPts val="600"/>
              </a:spcBef>
            </a:pPr>
            <a:endParaRPr lang="en-GB" dirty="0"/>
          </a:p>
          <a:p>
            <a:pPr marL="457200" lvl="2" indent="-228600">
              <a:spcBef>
                <a:spcPts val="600"/>
              </a:spcBef>
            </a:pPr>
            <a:endParaRPr lang="en-GB" sz="800" dirty="0"/>
          </a:p>
          <a:p>
            <a:pPr marL="457200" lvl="1" indent="-228600">
              <a:spcBef>
                <a:spcPts val="600"/>
              </a:spcBef>
              <a:buFont typeface="Arial" panose="020B0604020202020204" pitchFamily="34" charset="0"/>
              <a:buChar char="•"/>
            </a:pPr>
            <a:r>
              <a:rPr lang="en-GB" sz="1800" b="0" i="1" dirty="0"/>
              <a:t>object</a:t>
            </a:r>
            <a:r>
              <a:rPr lang="en-GB" sz="1800" dirty="0"/>
              <a:t> need not be a variable.</a:t>
            </a:r>
          </a:p>
          <a:p>
            <a:pPr>
              <a:spcBef>
                <a:spcPts val="600"/>
              </a:spcBef>
            </a:pPr>
            <a:r>
              <a:rPr lang="en-GB" b="1" dirty="0"/>
              <a:t>Which methods may be used?</a:t>
            </a:r>
          </a:p>
          <a:p>
            <a:pPr marL="457200" lvl="1" indent="-228600">
              <a:spcBef>
                <a:spcPts val="600"/>
              </a:spcBef>
              <a:buFont typeface="Arial" panose="020B0604020202020204" pitchFamily="34" charset="0"/>
              <a:buChar char="•"/>
            </a:pPr>
            <a:r>
              <a:rPr lang="en-GB" sz="1800" dirty="0">
                <a:latin typeface="Montserrat"/>
              </a:rPr>
              <a:t>Depends on the Class (type) of the object.</a:t>
            </a:r>
          </a:p>
          <a:p>
            <a:pPr marL="457200" lvl="1" indent="-228600">
              <a:spcBef>
                <a:spcPts val="600"/>
              </a:spcBef>
              <a:buFont typeface="Arial" panose="020B0604020202020204" pitchFamily="34" charset="0"/>
              <a:buChar char="•"/>
            </a:pPr>
            <a:r>
              <a:rPr lang="en-GB" sz="1800" dirty="0">
                <a:latin typeface="Courier New"/>
                <a:cs typeface="Courier New"/>
              </a:rPr>
              <a:t>dir(</a:t>
            </a:r>
            <a:r>
              <a:rPr lang="en-GB" sz="1800" b="0" i="1" dirty="0">
                <a:latin typeface="Montserrat"/>
              </a:rPr>
              <a:t>object</a:t>
            </a:r>
            <a:r>
              <a:rPr lang="en-GB" sz="1800" dirty="0">
                <a:latin typeface="Courier New"/>
                <a:cs typeface="Courier New"/>
              </a:rPr>
              <a:t>)</a:t>
            </a:r>
            <a:r>
              <a:rPr lang="en-GB" sz="1800" dirty="0">
                <a:latin typeface="Montserrat"/>
              </a:rPr>
              <a:t>lists the methods available.</a:t>
            </a:r>
            <a:endParaRPr lang="en-GB" sz="1800" dirty="0">
              <a:latin typeface="Courier New"/>
              <a:cs typeface="Courier New"/>
            </a:endParaRPr>
          </a:p>
          <a:p>
            <a:pPr marL="457200" lvl="1" indent="-228600">
              <a:spcBef>
                <a:spcPts val="600"/>
              </a:spcBef>
              <a:buFont typeface="Arial" panose="020B0604020202020204" pitchFamily="34" charset="0"/>
              <a:buChar char="•"/>
            </a:pPr>
            <a:r>
              <a:rPr lang="en-GB" sz="1800" dirty="0">
                <a:latin typeface="Courier New"/>
                <a:cs typeface="Courier New"/>
              </a:rPr>
              <a:t>help(</a:t>
            </a:r>
            <a:r>
              <a:rPr lang="en-GB" sz="1800" i="1" dirty="0" err="1">
                <a:latin typeface="Montserrat"/>
                <a:cs typeface="Courier New"/>
              </a:rPr>
              <a:t>class.method</a:t>
            </a:r>
            <a:r>
              <a:rPr lang="en-GB" sz="1800" dirty="0">
                <a:latin typeface="Courier New"/>
                <a:cs typeface="Courier New"/>
              </a:rPr>
              <a:t>)</a:t>
            </a:r>
            <a:r>
              <a:rPr lang="en-GB" sz="1800" dirty="0">
                <a:latin typeface="Montserrat"/>
                <a:cs typeface="Courier New"/>
              </a:rPr>
              <a:t>for help on specific method.</a:t>
            </a:r>
            <a:endParaRPr lang="en-GB" sz="1800" dirty="0">
              <a:latin typeface="Montserrat"/>
            </a:endParaRPr>
          </a:p>
          <a:p>
            <a:pPr>
              <a:spcBef>
                <a:spcPts val="600"/>
              </a:spcBef>
            </a:pPr>
            <a:r>
              <a:rPr lang="en-GB" b="1" dirty="0"/>
              <a:t>Examples:</a:t>
            </a:r>
          </a:p>
        </p:txBody>
      </p:sp>
      <p:sp>
        <p:nvSpPr>
          <p:cNvPr id="10244" name="Text Box 4"/>
          <p:cNvSpPr txBox="1">
            <a:spLocks noChangeArrowheads="1"/>
          </p:cNvSpPr>
          <p:nvPr/>
        </p:nvSpPr>
        <p:spPr bwMode="auto">
          <a:xfrm>
            <a:off x="792564" y="2164728"/>
            <a:ext cx="4101076" cy="369332"/>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lIns="91440" tIns="45720" rIns="91440" bIns="45720" anchor="t">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i="1" dirty="0"/>
              <a:t>object</a:t>
            </a:r>
            <a:r>
              <a:rPr lang="en-GB" sz="1800" dirty="0"/>
              <a:t>.</a:t>
            </a:r>
            <a:r>
              <a:rPr lang="en-GB" sz="1800" i="1" dirty="0"/>
              <a:t>method </a:t>
            </a:r>
            <a:r>
              <a:rPr lang="en-GB" sz="1800" dirty="0"/>
              <a:t>([</a:t>
            </a:r>
            <a:r>
              <a:rPr lang="en-GB" sz="1800" i="1" dirty="0"/>
              <a:t>arg1</a:t>
            </a:r>
            <a:r>
              <a:rPr lang="en-GB" sz="1800" dirty="0"/>
              <a:t>[,</a:t>
            </a:r>
            <a:r>
              <a:rPr lang="en-GB" sz="1800" i="1" dirty="0"/>
              <a:t>arg2</a:t>
            </a:r>
            <a:r>
              <a:rPr lang="en-GB" sz="1800" dirty="0"/>
              <a:t>…]])</a:t>
            </a:r>
          </a:p>
        </p:txBody>
      </p:sp>
      <p:sp>
        <p:nvSpPr>
          <p:cNvPr id="10245" name="Text Box 5"/>
          <p:cNvSpPr txBox="1">
            <a:spLocks noChangeArrowheads="1"/>
          </p:cNvSpPr>
          <p:nvPr/>
        </p:nvSpPr>
        <p:spPr bwMode="auto">
          <a:xfrm>
            <a:off x="792564" y="5712519"/>
            <a:ext cx="5784850" cy="979487"/>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10000"/>
              </a:spcBef>
            </a:pPr>
            <a:r>
              <a:rPr lang="en-GB" sz="1800" dirty="0">
                <a:latin typeface="Courier New" panose="02070309020205020404" pitchFamily="49" charset="0"/>
                <a:cs typeface="Courier New" panose="02070309020205020404" pitchFamily="49" charset="0"/>
              </a:rPr>
              <a:t>name.upper()			names.pop()</a:t>
            </a:r>
          </a:p>
          <a:p>
            <a:pPr>
              <a:spcBef>
                <a:spcPct val="10000"/>
              </a:spcBef>
            </a:pPr>
            <a:r>
              <a:rPr lang="en-GB" sz="1800" dirty="0">
                <a:latin typeface="Courier New" panose="02070309020205020404" pitchFamily="49" charset="0"/>
                <a:cs typeface="Courier New" panose="02070309020205020404" pitchFamily="49" charset="0"/>
              </a:rPr>
              <a:t>name.isupper()		mydict.keys()</a:t>
            </a:r>
          </a:p>
          <a:p>
            <a:pPr>
              <a:spcBef>
                <a:spcPct val="10000"/>
              </a:spcBef>
            </a:pPr>
            <a:r>
              <a:rPr lang="en-GB" sz="1800" dirty="0">
                <a:latin typeface="Courier New" panose="02070309020205020404" pitchFamily="49" charset="0"/>
                <a:cs typeface="Courier New" panose="02070309020205020404" pitchFamily="49" charset="0"/>
              </a:rPr>
              <a:t>names.count()			myfile.flush()</a:t>
            </a:r>
          </a:p>
        </p:txBody>
      </p:sp>
      <p:sp>
        <p:nvSpPr>
          <p:cNvPr id="2" name="Slide Number Placeholder 1">
            <a:extLst>
              <a:ext uri="{FF2B5EF4-FFF2-40B4-BE49-F238E27FC236}">
                <a16:creationId xmlns:a16="http://schemas.microsoft.com/office/drawing/2014/main" id="{7F200AC9-AB47-EFAE-9EF6-835876BDEB1D}"/>
              </a:ext>
            </a:extLst>
          </p:cNvPr>
          <p:cNvSpPr>
            <a:spLocks noGrp="1"/>
          </p:cNvSpPr>
          <p:nvPr>
            <p:ph type="sldNum" sz="quarter" idx="4"/>
          </p:nvPr>
        </p:nvSpPr>
        <p:spPr/>
        <p:txBody>
          <a:bodyPr/>
          <a:lstStyle/>
          <a:p>
            <a:fld id="{EF892D59-8F09-EF4B-AD6D-DA609442F868}" type="slidenum">
              <a:rPr lang="en-GB" smtClean="0"/>
              <a:pPr/>
              <a:t>6</a:t>
            </a:fld>
            <a:endParaRPr lang="en-GB" dirty="0"/>
          </a:p>
        </p:txBody>
      </p:sp>
    </p:spTree>
    <p:extLst>
      <p:ext uri="{BB962C8B-B14F-4D97-AF65-F5344CB8AC3E}">
        <p14:creationId xmlns:p14="http://schemas.microsoft.com/office/powerpoint/2010/main" val="13219745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028740" y="335594"/>
            <a:ext cx="11517818" cy="805001"/>
          </a:xfrm>
        </p:spPr>
        <p:txBody>
          <a:bodyPr/>
          <a:lstStyle/>
          <a:p>
            <a:pPr eaLnBrk="1" hangingPunct="1"/>
            <a:r>
              <a:rPr lang="en-GB" dirty="0"/>
              <a:t>Operators and type</a:t>
            </a:r>
          </a:p>
        </p:txBody>
      </p:sp>
      <p:sp>
        <p:nvSpPr>
          <p:cNvPr id="11267" name="Rectangle 3"/>
          <p:cNvSpPr>
            <a:spLocks noGrp="1" noChangeArrowheads="1"/>
          </p:cNvSpPr>
          <p:nvPr>
            <p:ph type="body" sz="half" idx="4294967295"/>
          </p:nvPr>
        </p:nvSpPr>
        <p:spPr>
          <a:xfrm>
            <a:off x="417512" y="1300540"/>
            <a:ext cx="10883520" cy="5568950"/>
          </a:xfrm>
        </p:spPr>
        <p:txBody>
          <a:bodyPr/>
          <a:lstStyle/>
          <a:p>
            <a:r>
              <a:rPr lang="en-GB" b="1" dirty="0"/>
              <a:t>An operator carries out an operation on an object</a:t>
            </a:r>
          </a:p>
          <a:p>
            <a:pPr marL="457200" lvl="1" indent="-228600">
              <a:buFont typeface="Arial" panose="020B0604020202020204" pitchFamily="34" charset="0"/>
              <a:buChar char="•"/>
            </a:pPr>
            <a:r>
              <a:rPr lang="en-GB" sz="1800" dirty="0"/>
              <a:t>Produces a result which does not (usually) alter the object.</a:t>
            </a:r>
          </a:p>
          <a:p>
            <a:pPr marL="457200" lvl="1" indent="-228600">
              <a:buFont typeface="Arial" panose="020B0604020202020204" pitchFamily="34" charset="0"/>
              <a:buChar char="•"/>
            </a:pPr>
            <a:r>
              <a:rPr lang="en-GB" sz="1800" dirty="0"/>
              <a:t>The operation depends on the Class (type) of the object.</a:t>
            </a:r>
          </a:p>
          <a:p>
            <a:pPr marL="457200" lvl="2" indent="-228600">
              <a:buFont typeface="Arial"/>
              <a:buChar char="•"/>
            </a:pPr>
            <a:r>
              <a:rPr lang="en-GB" sz="1800" dirty="0">
                <a:latin typeface="Montserrat"/>
              </a:rPr>
              <a:t>List the Class using the </a:t>
            </a:r>
            <a:r>
              <a:rPr lang="en-GB" sz="1800" b="1" dirty="0">
                <a:latin typeface="Courier New"/>
                <a:cs typeface="Courier New"/>
              </a:rPr>
              <a:t>type</a:t>
            </a:r>
            <a:r>
              <a:rPr lang="en-GB" sz="1800" dirty="0">
                <a:latin typeface="Montserrat"/>
              </a:rPr>
              <a:t> built-in function.</a:t>
            </a:r>
          </a:p>
          <a:p>
            <a:pPr lvl="1"/>
            <a:endParaRPr lang="en-GB" dirty="0"/>
          </a:p>
          <a:p>
            <a:pPr lvl="1"/>
            <a:endParaRPr lang="en-GB" dirty="0"/>
          </a:p>
          <a:p>
            <a:pPr lvl="1"/>
            <a:endParaRPr lang="en-GB" dirty="0"/>
          </a:p>
          <a:p>
            <a:pPr lvl="1"/>
            <a:endParaRPr lang="en-GB" dirty="0"/>
          </a:p>
          <a:p>
            <a:pPr lvl="1"/>
            <a:endParaRPr lang="en-GB" dirty="0"/>
          </a:p>
          <a:p>
            <a:pPr lvl="1"/>
            <a:endParaRPr lang="en-GB" dirty="0"/>
          </a:p>
          <a:p>
            <a:pPr marL="88900" lvl="1" indent="0">
              <a:buNone/>
            </a:pPr>
            <a:endParaRPr lang="en-GB" sz="2400" dirty="0"/>
          </a:p>
          <a:p>
            <a:pPr marL="88900" lvl="1" indent="0">
              <a:buNone/>
            </a:pPr>
            <a:endParaRPr lang="en-GB" sz="2400" dirty="0"/>
          </a:p>
          <a:p>
            <a:pPr marL="457200" lvl="1" indent="-228600">
              <a:buFont typeface="Arial" panose="020B0604020202020204" pitchFamily="34" charset="0"/>
              <a:buChar char="•"/>
            </a:pPr>
            <a:r>
              <a:rPr lang="en-GB" sz="1800" dirty="0"/>
              <a:t>A list of Python operators is given after the chapter summary.</a:t>
            </a:r>
          </a:p>
        </p:txBody>
      </p:sp>
      <p:sp>
        <p:nvSpPr>
          <p:cNvPr id="11268" name="Text Box 4"/>
          <p:cNvSpPr txBox="1">
            <a:spLocks noChangeArrowheads="1"/>
          </p:cNvSpPr>
          <p:nvPr/>
        </p:nvSpPr>
        <p:spPr bwMode="auto">
          <a:xfrm>
            <a:off x="2612890" y="2970510"/>
            <a:ext cx="2533650" cy="2576512"/>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a:latin typeface="Courier New" panose="02070309020205020404" pitchFamily="49" charset="0"/>
                <a:cs typeface="Courier New" panose="02070309020205020404" pitchFamily="49" charset="0"/>
              </a:rPr>
              <a:t>a = 42</a:t>
            </a:r>
          </a:p>
          <a:p>
            <a:pPr>
              <a:spcBef>
                <a:spcPct val="0"/>
              </a:spcBef>
            </a:pPr>
            <a:r>
              <a:rPr lang="en-US" sz="1800" dirty="0">
                <a:latin typeface="Courier New" panose="02070309020205020404" pitchFamily="49" charset="0"/>
                <a:cs typeface="Courier New" panose="02070309020205020404" pitchFamily="49" charset="0"/>
              </a:rPr>
              <a:t>b = 9</a:t>
            </a:r>
          </a:p>
          <a:p>
            <a:pPr>
              <a:spcBef>
                <a:spcPct val="0"/>
              </a:spcBef>
            </a:pPr>
            <a:r>
              <a:rPr lang="en-US" sz="1800" dirty="0">
                <a:latin typeface="Courier New" panose="02070309020205020404" pitchFamily="49" charset="0"/>
                <a:cs typeface="Courier New" panose="02070309020205020404" pitchFamily="49" charset="0"/>
              </a:rPr>
              <a:t>print(a + b)</a:t>
            </a:r>
          </a:p>
          <a:p>
            <a:pPr>
              <a:spcBef>
                <a:spcPct val="0"/>
              </a:spcBef>
            </a:pPr>
            <a:r>
              <a:rPr lang="en-US" sz="1800" dirty="0">
                <a:latin typeface="Courier New" panose="02070309020205020404" pitchFamily="49" charset="0"/>
                <a:cs typeface="Courier New" panose="02070309020205020404" pitchFamily="49" charset="0"/>
              </a:rPr>
              <a:t>print(type(a))</a:t>
            </a:r>
          </a:p>
          <a:p>
            <a:pPr>
              <a:spcBef>
                <a:spcPct val="0"/>
              </a:spcBef>
            </a:pPr>
            <a:endParaRPr lang="en-US" sz="1800" dirty="0">
              <a:latin typeface="Courier New" panose="02070309020205020404" pitchFamily="49" charset="0"/>
              <a:cs typeface="Courier New" panose="02070309020205020404" pitchFamily="49" charset="0"/>
            </a:endParaRPr>
          </a:p>
          <a:p>
            <a:pPr>
              <a:spcBef>
                <a:spcPct val="0"/>
              </a:spcBef>
            </a:pPr>
            <a:r>
              <a:rPr lang="en-US" sz="1800" dirty="0">
                <a:latin typeface="Courier New" panose="02070309020205020404" pitchFamily="49" charset="0"/>
                <a:cs typeface="Courier New" panose="02070309020205020404" pitchFamily="49" charset="0"/>
              </a:rPr>
              <a:t>a = 'Hello '</a:t>
            </a:r>
          </a:p>
          <a:p>
            <a:pPr>
              <a:spcBef>
                <a:spcPct val="0"/>
              </a:spcBef>
            </a:pPr>
            <a:r>
              <a:rPr lang="en-US" sz="1800" dirty="0">
                <a:latin typeface="Courier New" panose="02070309020205020404" pitchFamily="49" charset="0"/>
                <a:cs typeface="Courier New" panose="02070309020205020404" pitchFamily="49" charset="0"/>
              </a:rPr>
              <a:t>b = 'World!'</a:t>
            </a:r>
          </a:p>
          <a:p>
            <a:pPr>
              <a:spcBef>
                <a:spcPct val="0"/>
              </a:spcBef>
            </a:pPr>
            <a:r>
              <a:rPr lang="en-US" sz="1800" dirty="0">
                <a:latin typeface="Courier New" panose="02070309020205020404" pitchFamily="49" charset="0"/>
                <a:cs typeface="Courier New" panose="02070309020205020404" pitchFamily="49" charset="0"/>
              </a:rPr>
              <a:t>print(a + b)</a:t>
            </a:r>
          </a:p>
          <a:p>
            <a:pPr>
              <a:spcBef>
                <a:spcPct val="0"/>
              </a:spcBef>
            </a:pPr>
            <a:r>
              <a:rPr lang="en-GB" sz="1800" dirty="0">
                <a:latin typeface="Courier New" panose="02070309020205020404" pitchFamily="49" charset="0"/>
                <a:cs typeface="Courier New" panose="02070309020205020404" pitchFamily="49" charset="0"/>
              </a:rPr>
              <a:t>print(type(a))</a:t>
            </a:r>
          </a:p>
        </p:txBody>
      </p:sp>
      <p:sp>
        <p:nvSpPr>
          <p:cNvPr id="11269" name="Text Box 5"/>
          <p:cNvSpPr txBox="1">
            <a:spLocks noChangeArrowheads="1"/>
          </p:cNvSpPr>
          <p:nvPr/>
        </p:nvSpPr>
        <p:spPr bwMode="auto">
          <a:xfrm>
            <a:off x="5235152" y="4339484"/>
            <a:ext cx="3453185"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2000" dirty="0"/>
              <a:t>a and b now refer to strings</a:t>
            </a:r>
          </a:p>
        </p:txBody>
      </p:sp>
      <p:sp>
        <p:nvSpPr>
          <p:cNvPr id="11270" name="Text Box 6"/>
          <p:cNvSpPr txBox="1">
            <a:spLocks noChangeArrowheads="1"/>
          </p:cNvSpPr>
          <p:nvPr/>
        </p:nvSpPr>
        <p:spPr bwMode="auto">
          <a:xfrm>
            <a:off x="7408912" y="3610770"/>
            <a:ext cx="1989137" cy="650875"/>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cs typeface="Courier New" panose="02070309020205020404" pitchFamily="49" charset="0"/>
              </a:rPr>
              <a:t>51</a:t>
            </a:r>
          </a:p>
          <a:p>
            <a:pPr>
              <a:spcBef>
                <a:spcPct val="0"/>
              </a:spcBef>
            </a:pPr>
            <a:r>
              <a:rPr lang="en-GB" sz="1800" dirty="0">
                <a:latin typeface="Courier New" panose="02070309020205020404" pitchFamily="49" charset="0"/>
                <a:cs typeface="Courier New" panose="02070309020205020404" pitchFamily="49" charset="0"/>
              </a:rPr>
              <a:t>&lt;class 'int'&gt;</a:t>
            </a:r>
          </a:p>
        </p:txBody>
      </p:sp>
      <p:sp>
        <p:nvSpPr>
          <p:cNvPr id="11272" name="Text Box 8"/>
          <p:cNvSpPr txBox="1">
            <a:spLocks noChangeArrowheads="1"/>
          </p:cNvSpPr>
          <p:nvPr/>
        </p:nvSpPr>
        <p:spPr bwMode="auto">
          <a:xfrm>
            <a:off x="5235152" y="2970510"/>
            <a:ext cx="2955645"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2000" dirty="0"/>
              <a:t>a and b refer to integers</a:t>
            </a:r>
          </a:p>
        </p:txBody>
      </p:sp>
      <p:sp>
        <p:nvSpPr>
          <p:cNvPr id="11273" name="Text Box 9"/>
          <p:cNvSpPr txBox="1">
            <a:spLocks noChangeArrowheads="1"/>
          </p:cNvSpPr>
          <p:nvPr/>
        </p:nvSpPr>
        <p:spPr bwMode="auto">
          <a:xfrm>
            <a:off x="7411317" y="4908218"/>
            <a:ext cx="1989138" cy="650875"/>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cs typeface="Courier New" panose="02070309020205020404" pitchFamily="49" charset="0"/>
              </a:rPr>
              <a:t>Hello World!</a:t>
            </a:r>
          </a:p>
          <a:p>
            <a:pPr>
              <a:spcBef>
                <a:spcPct val="0"/>
              </a:spcBef>
            </a:pPr>
            <a:r>
              <a:rPr lang="en-GB" sz="1800" dirty="0">
                <a:latin typeface="Courier New" panose="02070309020205020404" pitchFamily="49" charset="0"/>
                <a:cs typeface="Courier New" panose="02070309020205020404" pitchFamily="49" charset="0"/>
              </a:rPr>
              <a:t>&lt;class '</a:t>
            </a:r>
            <a:r>
              <a:rPr lang="en-GB" sz="1800" dirty="0" err="1">
                <a:latin typeface="Courier New" panose="02070309020205020404" pitchFamily="49" charset="0"/>
                <a:cs typeface="Courier New" panose="02070309020205020404" pitchFamily="49" charset="0"/>
              </a:rPr>
              <a:t>str</a:t>
            </a:r>
            <a:r>
              <a:rPr lang="en-GB" sz="1800" dirty="0">
                <a:latin typeface="Courier New" panose="02070309020205020404" pitchFamily="49" charset="0"/>
                <a:cs typeface="Courier New" panose="02070309020205020404" pitchFamily="49" charset="0"/>
              </a:rPr>
              <a:t>'&gt;</a:t>
            </a:r>
          </a:p>
        </p:txBody>
      </p:sp>
      <p:sp>
        <p:nvSpPr>
          <p:cNvPr id="11274" name="Line 10"/>
          <p:cNvSpPr>
            <a:spLocks noChangeShapeType="1"/>
          </p:cNvSpPr>
          <p:nvPr/>
        </p:nvSpPr>
        <p:spPr bwMode="auto">
          <a:xfrm>
            <a:off x="5233288" y="3930894"/>
            <a:ext cx="2043642" cy="16602"/>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a:p>
        </p:txBody>
      </p:sp>
      <p:sp>
        <p:nvSpPr>
          <p:cNvPr id="2" name="Line 10">
            <a:extLst>
              <a:ext uri="{FF2B5EF4-FFF2-40B4-BE49-F238E27FC236}">
                <a16:creationId xmlns:a16="http://schemas.microsoft.com/office/drawing/2014/main" id="{8863843D-CA7A-337C-9EBB-43FEF2F063AD}"/>
              </a:ext>
            </a:extLst>
          </p:cNvPr>
          <p:cNvSpPr>
            <a:spLocks noChangeShapeType="1"/>
          </p:cNvSpPr>
          <p:nvPr/>
        </p:nvSpPr>
        <p:spPr bwMode="auto">
          <a:xfrm>
            <a:off x="5233288" y="5229117"/>
            <a:ext cx="2043642" cy="16602"/>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endParaRPr lang="en-GB"/>
          </a:p>
        </p:txBody>
      </p:sp>
      <p:sp>
        <p:nvSpPr>
          <p:cNvPr id="3" name="Slide Number Placeholder 2">
            <a:extLst>
              <a:ext uri="{FF2B5EF4-FFF2-40B4-BE49-F238E27FC236}">
                <a16:creationId xmlns:a16="http://schemas.microsoft.com/office/drawing/2014/main" id="{FADCF640-A510-45C8-270B-343941DF8288}"/>
              </a:ext>
            </a:extLst>
          </p:cNvPr>
          <p:cNvSpPr>
            <a:spLocks noGrp="1"/>
          </p:cNvSpPr>
          <p:nvPr>
            <p:ph type="sldNum" sz="quarter" idx="4"/>
          </p:nvPr>
        </p:nvSpPr>
        <p:spPr/>
        <p:txBody>
          <a:bodyPr/>
          <a:lstStyle/>
          <a:p>
            <a:fld id="{EF892D59-8F09-EF4B-AD6D-DA609442F868}" type="slidenum">
              <a:rPr lang="en-GB" smtClean="0"/>
              <a:pPr/>
              <a:t>7</a:t>
            </a:fld>
            <a:endParaRPr lang="en-GB" dirty="0"/>
          </a:p>
        </p:txBody>
      </p:sp>
    </p:spTree>
    <p:extLst>
      <p:ext uri="{BB962C8B-B14F-4D97-AF65-F5344CB8AC3E}">
        <p14:creationId xmlns:p14="http://schemas.microsoft.com/office/powerpoint/2010/main" val="18609250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064366" y="313681"/>
            <a:ext cx="11517818" cy="805001"/>
          </a:xfrm>
        </p:spPr>
        <p:txBody>
          <a:bodyPr/>
          <a:lstStyle/>
          <a:p>
            <a:pPr eaLnBrk="1" hangingPunct="1"/>
            <a:r>
              <a:rPr lang="en-GB" dirty="0"/>
              <a:t>Augmented assignments</a:t>
            </a:r>
            <a:endParaRPr lang="en-US" dirty="0"/>
          </a:p>
        </p:txBody>
      </p:sp>
      <p:sp>
        <p:nvSpPr>
          <p:cNvPr id="12291" name="Rectangle 3"/>
          <p:cNvSpPr>
            <a:spLocks noGrp="1" noChangeArrowheads="1"/>
          </p:cNvSpPr>
          <p:nvPr>
            <p:ph idx="1"/>
          </p:nvPr>
        </p:nvSpPr>
        <p:spPr/>
        <p:txBody>
          <a:bodyPr/>
          <a:lstStyle/>
          <a:p>
            <a:r>
              <a:rPr lang="en-US" b="1" dirty="0"/>
              <a:t>A convenient shorthand for some assignments</a:t>
            </a:r>
          </a:p>
          <a:p>
            <a:endParaRPr lang="en-US" b="1" dirty="0"/>
          </a:p>
          <a:p>
            <a:endParaRPr lang="en-US" b="1" dirty="0"/>
          </a:p>
          <a:p>
            <a:endParaRPr lang="en-US" b="1" dirty="0"/>
          </a:p>
          <a:p>
            <a:endParaRPr lang="en-US" b="1" dirty="0"/>
          </a:p>
          <a:p>
            <a:r>
              <a:rPr lang="en-US" b="1" dirty="0"/>
              <a:t>Use any arithmetic operator</a:t>
            </a:r>
          </a:p>
        </p:txBody>
      </p:sp>
      <p:sp>
        <p:nvSpPr>
          <p:cNvPr id="12292" name="Rectangle 4"/>
          <p:cNvSpPr>
            <a:spLocks noChangeArrowheads="1"/>
          </p:cNvSpPr>
          <p:nvPr/>
        </p:nvSpPr>
        <p:spPr bwMode="auto">
          <a:xfrm>
            <a:off x="1950069" y="1825161"/>
            <a:ext cx="3273425" cy="650875"/>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lIns="90488" tIns="44450" rIns="90488" bIns="44450">
            <a:spAutoFit/>
          </a:bodyPr>
          <a:lstStyle/>
          <a:p>
            <a:pPr defTabSz="739775">
              <a:spcBef>
                <a:spcPct val="0"/>
              </a:spcBef>
            </a:pPr>
            <a:r>
              <a:rPr lang="en-US" dirty="0">
                <a:latin typeface="Courier New" panose="02070309020205020404" pitchFamily="49" charset="0"/>
                <a:cs typeface="Courier New" panose="02070309020205020404" pitchFamily="49" charset="0"/>
              </a:rPr>
              <a:t>stein = 1</a:t>
            </a:r>
          </a:p>
          <a:p>
            <a:pPr defTabSz="739775">
              <a:spcBef>
                <a:spcPct val="0"/>
              </a:spcBef>
            </a:pPr>
            <a:r>
              <a:rPr lang="en-US" dirty="0">
                <a:latin typeface="Courier New" panose="02070309020205020404" pitchFamily="49" charset="0"/>
                <a:cs typeface="Courier New" panose="02070309020205020404" pitchFamily="49" charset="0"/>
              </a:rPr>
              <a:t>pint  = 1</a:t>
            </a:r>
          </a:p>
        </p:txBody>
      </p:sp>
      <p:sp>
        <p:nvSpPr>
          <p:cNvPr id="12294" name="Rectangle 7"/>
          <p:cNvSpPr>
            <a:spLocks noChangeArrowheads="1"/>
          </p:cNvSpPr>
          <p:nvPr/>
        </p:nvSpPr>
        <p:spPr bwMode="auto">
          <a:xfrm>
            <a:off x="1950068" y="2731625"/>
            <a:ext cx="3273425" cy="376237"/>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lIns="90488" tIns="44450" rIns="90488" bIns="44450">
            <a:spAutoFit/>
          </a:bodyPr>
          <a:lstStyle/>
          <a:p>
            <a:pPr defTabSz="739775">
              <a:spcBef>
                <a:spcPct val="0"/>
              </a:spcBef>
            </a:pPr>
            <a:r>
              <a:rPr lang="en-US" dirty="0">
                <a:latin typeface="Courier New" panose="02070309020205020404" pitchFamily="49" charset="0"/>
                <a:cs typeface="Courier New" panose="02070309020205020404" pitchFamily="49" charset="0"/>
              </a:rPr>
              <a:t>stein = stein + pint</a:t>
            </a:r>
          </a:p>
        </p:txBody>
      </p:sp>
      <p:sp>
        <p:nvSpPr>
          <p:cNvPr id="12295" name="Rectangle 8"/>
          <p:cNvSpPr>
            <a:spLocks noChangeArrowheads="1"/>
          </p:cNvSpPr>
          <p:nvPr/>
        </p:nvSpPr>
        <p:spPr bwMode="auto">
          <a:xfrm>
            <a:off x="6767418" y="2731623"/>
            <a:ext cx="2289175" cy="376238"/>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lIns="90488" tIns="44450" rIns="90488" bIns="44450">
            <a:spAutoFit/>
          </a:bodyPr>
          <a:lstStyle/>
          <a:p>
            <a:pPr defTabSz="739775">
              <a:spcBef>
                <a:spcPct val="0"/>
              </a:spcBef>
            </a:pPr>
            <a:r>
              <a:rPr lang="en-US" dirty="0">
                <a:latin typeface="Courier New" panose="02070309020205020404" pitchFamily="49" charset="0"/>
                <a:cs typeface="Courier New" panose="02070309020205020404" pitchFamily="49" charset="0"/>
              </a:rPr>
              <a:t>stein += pint</a:t>
            </a:r>
          </a:p>
        </p:txBody>
      </p:sp>
      <p:sp>
        <p:nvSpPr>
          <p:cNvPr id="12297" name="Rectangle 10"/>
          <p:cNvSpPr>
            <a:spLocks noChangeArrowheads="1"/>
          </p:cNvSpPr>
          <p:nvPr/>
        </p:nvSpPr>
        <p:spPr bwMode="auto">
          <a:xfrm>
            <a:off x="6772935" y="3858589"/>
            <a:ext cx="2289175" cy="1474788"/>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wrap="square" lIns="90488" tIns="44450" rIns="90488" bIns="44450">
            <a:spAutoFit/>
          </a:bodyPr>
          <a:lstStyle/>
          <a:p>
            <a:pPr defTabSz="739775">
              <a:spcBef>
                <a:spcPct val="0"/>
              </a:spcBef>
            </a:pPr>
            <a:r>
              <a:rPr lang="en-US" dirty="0">
                <a:latin typeface="Courier New" panose="02070309020205020404" pitchFamily="49" charset="0"/>
                <a:cs typeface="Courier New" panose="02070309020205020404" pitchFamily="49" charset="0"/>
              </a:rPr>
              <a:t>lhs += </a:t>
            </a:r>
            <a:r>
              <a:rPr lang="en-US" dirty="0" err="1">
                <a:latin typeface="Courier New" panose="02070309020205020404" pitchFamily="49" charset="0"/>
                <a:cs typeface="Courier New" panose="02070309020205020404" pitchFamily="49" charset="0"/>
              </a:rPr>
              <a:t>rhs</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lhs -= </a:t>
            </a:r>
            <a:r>
              <a:rPr lang="en-US" dirty="0" err="1">
                <a:latin typeface="Courier New" panose="02070309020205020404" pitchFamily="49" charset="0"/>
                <a:cs typeface="Courier New" panose="02070309020205020404" pitchFamily="49" charset="0"/>
              </a:rPr>
              <a:t>rhs</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lhs *= </a:t>
            </a:r>
            <a:r>
              <a:rPr lang="en-US" dirty="0" err="1">
                <a:latin typeface="Courier New" panose="02070309020205020404" pitchFamily="49" charset="0"/>
                <a:cs typeface="Courier New" panose="02070309020205020404" pitchFamily="49" charset="0"/>
              </a:rPr>
              <a:t>rhs</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lhs /= </a:t>
            </a:r>
            <a:r>
              <a:rPr lang="en-US" dirty="0" err="1">
                <a:latin typeface="Courier New" panose="02070309020205020404" pitchFamily="49" charset="0"/>
                <a:cs typeface="Courier New" panose="02070309020205020404" pitchFamily="49" charset="0"/>
              </a:rPr>
              <a:t>rhs</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lhs %= </a:t>
            </a:r>
            <a:r>
              <a:rPr lang="en-US" dirty="0" err="1">
                <a:latin typeface="Courier New" panose="02070309020205020404" pitchFamily="49" charset="0"/>
                <a:cs typeface="Courier New" panose="02070309020205020404" pitchFamily="49" charset="0"/>
              </a:rPr>
              <a:t>rhs</a:t>
            </a:r>
            <a:endParaRPr lang="en-US" dirty="0">
              <a:latin typeface="Courier New" panose="02070309020205020404" pitchFamily="49" charset="0"/>
              <a:cs typeface="Courier New" panose="02070309020205020404" pitchFamily="49" charset="0"/>
            </a:endParaRPr>
          </a:p>
        </p:txBody>
      </p:sp>
      <p:sp>
        <p:nvSpPr>
          <p:cNvPr id="12299" name="Rectangle 30"/>
          <p:cNvSpPr>
            <a:spLocks noChangeArrowheads="1"/>
          </p:cNvSpPr>
          <p:nvPr/>
        </p:nvSpPr>
        <p:spPr bwMode="auto">
          <a:xfrm>
            <a:off x="1928822" y="3858589"/>
            <a:ext cx="3228975" cy="1474788"/>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wrap="square" lIns="90488" tIns="44450" rIns="90488" bIns="44450">
            <a:spAutoFit/>
          </a:bodyPr>
          <a:lstStyle/>
          <a:p>
            <a:pPr defTabSz="739775">
              <a:spcBef>
                <a:spcPct val="0"/>
              </a:spcBef>
            </a:pPr>
            <a:r>
              <a:rPr lang="en-US" dirty="0">
                <a:latin typeface="Courier New" panose="02070309020205020404" pitchFamily="49" charset="0"/>
                <a:cs typeface="Courier New" panose="02070309020205020404" pitchFamily="49" charset="0"/>
              </a:rPr>
              <a:t>lhs = lhs + </a:t>
            </a:r>
            <a:r>
              <a:rPr lang="en-US" dirty="0" err="1">
                <a:latin typeface="Courier New" panose="02070309020205020404" pitchFamily="49" charset="0"/>
                <a:cs typeface="Courier New" panose="02070309020205020404" pitchFamily="49" charset="0"/>
              </a:rPr>
              <a:t>rhs</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lhs = lhs - </a:t>
            </a:r>
            <a:r>
              <a:rPr lang="en-US" dirty="0" err="1">
                <a:latin typeface="Courier New" panose="02070309020205020404" pitchFamily="49" charset="0"/>
                <a:cs typeface="Courier New" panose="02070309020205020404" pitchFamily="49" charset="0"/>
              </a:rPr>
              <a:t>rhs</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lhs = lhs * </a:t>
            </a:r>
            <a:r>
              <a:rPr lang="en-US" dirty="0" err="1">
                <a:latin typeface="Courier New" panose="02070309020205020404" pitchFamily="49" charset="0"/>
                <a:cs typeface="Courier New" panose="02070309020205020404" pitchFamily="49" charset="0"/>
              </a:rPr>
              <a:t>rhs</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lhs = lhs / </a:t>
            </a:r>
            <a:r>
              <a:rPr lang="en-US" dirty="0" err="1">
                <a:latin typeface="Courier New" panose="02070309020205020404" pitchFamily="49" charset="0"/>
                <a:cs typeface="Courier New" panose="02070309020205020404" pitchFamily="49" charset="0"/>
              </a:rPr>
              <a:t>rhs</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lhs = lhs % </a:t>
            </a:r>
            <a:r>
              <a:rPr lang="en-US" dirty="0" err="1">
                <a:latin typeface="Courier New" panose="02070309020205020404" pitchFamily="49" charset="0"/>
                <a:cs typeface="Courier New" panose="02070309020205020404" pitchFamily="49" charset="0"/>
              </a:rPr>
              <a:t>rhs</a:t>
            </a:r>
            <a:endParaRPr lang="en-US" dirty="0">
              <a:latin typeface="Courier New" panose="02070309020205020404" pitchFamily="49" charset="0"/>
              <a:cs typeface="Courier New" panose="02070309020205020404" pitchFamily="49" charset="0"/>
            </a:endParaRPr>
          </a:p>
        </p:txBody>
      </p:sp>
      <p:sp>
        <p:nvSpPr>
          <p:cNvPr id="12300" name="AutoShape 31"/>
          <p:cNvSpPr>
            <a:spLocks noChangeArrowheads="1"/>
          </p:cNvSpPr>
          <p:nvPr/>
        </p:nvSpPr>
        <p:spPr bwMode="auto">
          <a:xfrm>
            <a:off x="5669767" y="4367383"/>
            <a:ext cx="735012" cy="457200"/>
          </a:xfrm>
          <a:prstGeom prst="rightArrow">
            <a:avLst>
              <a:gd name="adj1" fmla="val 50000"/>
              <a:gd name="adj2" fmla="val 40191"/>
            </a:avLst>
          </a:prstGeom>
          <a:solidFill>
            <a:schemeClr val="bg2"/>
          </a:solidFill>
          <a:ln w="12700">
            <a:solidFill>
              <a:schemeClr val="tx1"/>
            </a:solidFill>
            <a:miter lim="800000"/>
            <a:headEnd/>
            <a:tailEnd/>
          </a:ln>
          <a:effectLst>
            <a:outerShdw blurRad="50800" dist="38100" dir="2700000" algn="tl" rotWithShape="0">
              <a:prstClr val="black">
                <a:alpha val="40000"/>
              </a:prstClr>
            </a:outerShdw>
          </a:effectLst>
        </p:spPr>
        <p:txBody>
          <a:bodyPr wrap="none" anchor="ctr"/>
          <a:lstStyle/>
          <a:p>
            <a:endParaRPr lang="en-US"/>
          </a:p>
        </p:txBody>
      </p:sp>
      <p:sp>
        <p:nvSpPr>
          <p:cNvPr id="12301" name="Rectangle 32"/>
          <p:cNvSpPr>
            <a:spLocks noChangeArrowheads="1"/>
          </p:cNvSpPr>
          <p:nvPr/>
        </p:nvSpPr>
        <p:spPr bwMode="auto">
          <a:xfrm>
            <a:off x="3990047" y="5626099"/>
            <a:ext cx="4849812" cy="5822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39775">
              <a:spcBef>
                <a:spcPct val="0"/>
              </a:spcBef>
            </a:pPr>
            <a:r>
              <a:rPr lang="en-US" sz="1600" b="1" i="1" dirty="0"/>
              <a:t>Augmented assignment is an assignment!</a:t>
            </a:r>
            <a:br>
              <a:rPr lang="en-US" sz="1600" b="1" i="1" dirty="0"/>
            </a:br>
            <a:r>
              <a:rPr lang="en-US" sz="1600" b="1" i="1" dirty="0"/>
              <a:t>It has a result, which is usually ignored.</a:t>
            </a:r>
            <a:endParaRPr lang="en-US" sz="1600" b="1" dirty="0"/>
          </a:p>
        </p:txBody>
      </p:sp>
      <p:sp>
        <p:nvSpPr>
          <p:cNvPr id="2" name="AutoShape 31">
            <a:extLst>
              <a:ext uri="{FF2B5EF4-FFF2-40B4-BE49-F238E27FC236}">
                <a16:creationId xmlns:a16="http://schemas.microsoft.com/office/drawing/2014/main" id="{23835CBA-037A-4360-AC26-7ACBB92B49CC}"/>
              </a:ext>
            </a:extLst>
          </p:cNvPr>
          <p:cNvSpPr>
            <a:spLocks noChangeArrowheads="1"/>
          </p:cNvSpPr>
          <p:nvPr/>
        </p:nvSpPr>
        <p:spPr bwMode="auto">
          <a:xfrm>
            <a:off x="5669767" y="2688024"/>
            <a:ext cx="735012" cy="469691"/>
          </a:xfrm>
          <a:prstGeom prst="rightArrow">
            <a:avLst>
              <a:gd name="adj1" fmla="val 50000"/>
              <a:gd name="adj2" fmla="val 40191"/>
            </a:avLst>
          </a:prstGeom>
          <a:solidFill>
            <a:schemeClr val="bg2"/>
          </a:solidFill>
          <a:ln w="12700">
            <a:solidFill>
              <a:schemeClr val="tx1"/>
            </a:solidFill>
            <a:miter lim="800000"/>
            <a:headEnd/>
            <a:tailEnd/>
          </a:ln>
          <a:effectLst>
            <a:outerShdw blurRad="50800" dist="38100" dir="2700000" algn="tl" rotWithShape="0">
              <a:prstClr val="black">
                <a:alpha val="40000"/>
              </a:prstClr>
            </a:outerShdw>
          </a:effectLst>
        </p:spPr>
        <p:txBody>
          <a:bodyPr wrap="none" anchor="ctr"/>
          <a:lstStyle/>
          <a:p>
            <a:endParaRPr lang="en-US"/>
          </a:p>
        </p:txBody>
      </p:sp>
      <p:sp>
        <p:nvSpPr>
          <p:cNvPr id="3" name="Slide Number Placeholder 2">
            <a:extLst>
              <a:ext uri="{FF2B5EF4-FFF2-40B4-BE49-F238E27FC236}">
                <a16:creationId xmlns:a16="http://schemas.microsoft.com/office/drawing/2014/main" id="{4B4D83AA-A1E3-1137-73A8-5128E85AF64D}"/>
              </a:ext>
            </a:extLst>
          </p:cNvPr>
          <p:cNvSpPr>
            <a:spLocks noGrp="1"/>
          </p:cNvSpPr>
          <p:nvPr>
            <p:ph type="sldNum" sz="quarter" idx="4"/>
          </p:nvPr>
        </p:nvSpPr>
        <p:spPr/>
        <p:txBody>
          <a:bodyPr/>
          <a:lstStyle/>
          <a:p>
            <a:fld id="{EF892D59-8F09-EF4B-AD6D-DA609442F868}" type="slidenum">
              <a:rPr lang="en-GB" smtClean="0"/>
              <a:pPr/>
              <a:t>8</a:t>
            </a:fld>
            <a:endParaRPr lang="en-GB" dirty="0"/>
          </a:p>
        </p:txBody>
      </p:sp>
    </p:spTree>
    <p:extLst>
      <p:ext uri="{BB962C8B-B14F-4D97-AF65-F5344CB8AC3E}">
        <p14:creationId xmlns:p14="http://schemas.microsoft.com/office/powerpoint/2010/main" val="1613877910"/>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5" name="Rectangle 6"/>
          <p:cNvSpPr>
            <a:spLocks noGrp="1" noChangeArrowheads="1"/>
          </p:cNvSpPr>
          <p:nvPr>
            <p:ph type="title"/>
          </p:nvPr>
        </p:nvSpPr>
        <p:spPr>
          <a:xfrm>
            <a:off x="1028794" y="300980"/>
            <a:ext cx="11517818" cy="805001"/>
          </a:xfrm>
        </p:spPr>
        <p:txBody>
          <a:bodyPr/>
          <a:lstStyle/>
          <a:p>
            <a:pPr eaLnBrk="1" hangingPunct="1"/>
            <a:r>
              <a:rPr lang="en-GB" dirty="0"/>
              <a:t>Python 3 types</a:t>
            </a:r>
          </a:p>
        </p:txBody>
      </p:sp>
      <p:grpSp>
        <p:nvGrpSpPr>
          <p:cNvPr id="11" name="Group 2">
            <a:extLst>
              <a:ext uri="{FF2B5EF4-FFF2-40B4-BE49-F238E27FC236}">
                <a16:creationId xmlns:a16="http://schemas.microsoft.com/office/drawing/2014/main" id="{68406191-EAE4-4D95-A8A1-03971AC6C528}"/>
              </a:ext>
            </a:extLst>
          </p:cNvPr>
          <p:cNvGrpSpPr>
            <a:grpSpLocks/>
          </p:cNvGrpSpPr>
          <p:nvPr/>
        </p:nvGrpSpPr>
        <p:grpSpPr bwMode="auto">
          <a:xfrm>
            <a:off x="1875547" y="1199178"/>
            <a:ext cx="7758128" cy="4137775"/>
            <a:chOff x="-57" y="1221"/>
            <a:chExt cx="5731" cy="1676"/>
          </a:xfrm>
        </p:grpSpPr>
        <p:sp>
          <p:nvSpPr>
            <p:cNvPr id="12" name="Rectangle 4">
              <a:extLst>
                <a:ext uri="{FF2B5EF4-FFF2-40B4-BE49-F238E27FC236}">
                  <a16:creationId xmlns:a16="http://schemas.microsoft.com/office/drawing/2014/main" id="{5F04669A-0DDE-4AF8-B591-D39C83A836F9}"/>
                </a:ext>
              </a:extLst>
            </p:cNvPr>
            <p:cNvSpPr>
              <a:spLocks noChangeArrowheads="1"/>
            </p:cNvSpPr>
            <p:nvPr/>
          </p:nvSpPr>
          <p:spPr bwMode="auto">
            <a:xfrm>
              <a:off x="-57" y="1451"/>
              <a:ext cx="5731" cy="1446"/>
            </a:xfrm>
            <a:prstGeom prst="rect">
              <a:avLst/>
            </a:prstGeom>
            <a:solidFill>
              <a:srgbClr val="EAEAEA"/>
            </a:solidFill>
            <a:ln w="9525">
              <a:solidFill>
                <a:schemeClr val="tx1"/>
              </a:solidFill>
              <a:miter lim="800000"/>
              <a:headEnd/>
              <a:tailEnd/>
            </a:ln>
          </p:spPr>
          <p:txBody>
            <a:bodyPr wrap="square" anchor="ctr">
              <a:spAutoFit/>
            </a:bodyPr>
            <a:lstStyle/>
            <a:p>
              <a:endParaRPr lang="en-US"/>
            </a:p>
          </p:txBody>
        </p:sp>
        <p:sp>
          <p:nvSpPr>
            <p:cNvPr id="13" name="Text Box 3">
              <a:extLst>
                <a:ext uri="{FF2B5EF4-FFF2-40B4-BE49-F238E27FC236}">
                  <a16:creationId xmlns:a16="http://schemas.microsoft.com/office/drawing/2014/main" id="{89894284-E2CD-456D-A968-792A114BEAE8}"/>
                </a:ext>
              </a:extLst>
            </p:cNvPr>
            <p:cNvSpPr txBox="1">
              <a:spLocks noChangeArrowheads="1"/>
            </p:cNvSpPr>
            <p:nvPr/>
          </p:nvSpPr>
          <p:spPr bwMode="auto">
            <a:xfrm>
              <a:off x="4677" y="1221"/>
              <a:ext cx="992" cy="141"/>
            </a:xfrm>
            <a:prstGeom prst="rect">
              <a:avLst/>
            </a:prstGeom>
            <a:solidFill>
              <a:srgbClr val="EAEAEA"/>
            </a:solidFill>
            <a:ln w="9525">
              <a:solidFill>
                <a:schemeClr val="tx1"/>
              </a:solidFill>
              <a:miter lim="800000"/>
              <a:headEnd/>
              <a:tailEnd/>
            </a:ln>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a:ea typeface="MS PGothic" pitchFamily="34" charset="-128"/>
                </a:rPr>
                <a:t>Sequences</a:t>
              </a:r>
            </a:p>
          </p:txBody>
        </p:sp>
        <p:sp>
          <p:nvSpPr>
            <p:cNvPr id="14" name="Line 5">
              <a:extLst>
                <a:ext uri="{FF2B5EF4-FFF2-40B4-BE49-F238E27FC236}">
                  <a16:creationId xmlns:a16="http://schemas.microsoft.com/office/drawing/2014/main" id="{42F37A72-AC2F-4101-A085-9DE7DAFB99DA}"/>
                </a:ext>
              </a:extLst>
            </p:cNvPr>
            <p:cNvSpPr>
              <a:spLocks noChangeShapeType="1"/>
            </p:cNvSpPr>
            <p:nvPr/>
          </p:nvSpPr>
          <p:spPr bwMode="auto">
            <a:xfrm>
              <a:off x="5173" y="1376"/>
              <a:ext cx="0" cy="149"/>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a:spAutoFit/>
            </a:bodyPr>
            <a:lstStyle/>
            <a:p>
              <a:endParaRPr lang="en-GB"/>
            </a:p>
          </p:txBody>
        </p:sp>
      </p:grpSp>
      <p:sp>
        <p:nvSpPr>
          <p:cNvPr id="19" name="Rectangle 7">
            <a:extLst>
              <a:ext uri="{FF2B5EF4-FFF2-40B4-BE49-F238E27FC236}">
                <a16:creationId xmlns:a16="http://schemas.microsoft.com/office/drawing/2014/main" id="{982418FF-4714-4D08-9F05-E26325AA654E}"/>
              </a:ext>
            </a:extLst>
          </p:cNvPr>
          <p:cNvSpPr txBox="1">
            <a:spLocks noChangeArrowheads="1"/>
          </p:cNvSpPr>
          <p:nvPr/>
        </p:nvSpPr>
        <p:spPr>
          <a:xfrm>
            <a:off x="1926810" y="1198563"/>
            <a:ext cx="8556625" cy="5659437"/>
          </a:xfrm>
          <a:prstGeom prst="rect">
            <a:avLst/>
          </a:prstGeom>
        </p:spPr>
        <p:txBody>
          <a:bodyPr vert="horz" lIns="0" tIns="0" rIns="0" bIns="0" rtlCol="0" anchor="t" anchorCtr="0">
            <a:normAutofit/>
          </a:bodyPr>
          <a:lst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3"/>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3"/>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3"/>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3"/>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8900" lvl="2" indent="-88900">
              <a:spcAft>
                <a:spcPct val="0"/>
              </a:spcAft>
              <a:buNone/>
            </a:pPr>
            <a:r>
              <a:rPr lang="en-GB" dirty="0"/>
              <a:t>Numbers (float, int, complex)</a:t>
            </a:r>
            <a:endParaRPr lang="en-US" dirty="0"/>
          </a:p>
          <a:p>
            <a:pPr marL="88900" lvl="3" indent="368300">
              <a:buNone/>
            </a:pPr>
            <a:r>
              <a:rPr lang="en-GB" sz="1800" dirty="0">
                <a:latin typeface="Courier New"/>
                <a:cs typeface="Courier New"/>
              </a:rPr>
              <a:t>3.142, 42, 0x2a, 0o52, 0b101010 (20+3j)</a:t>
            </a:r>
            <a:endParaRPr lang="en-GB" sz="1800" dirty="0">
              <a:latin typeface="Courier New" panose="02070309020205020404" pitchFamily="49" charset="0"/>
              <a:cs typeface="Courier New" panose="02070309020205020404" pitchFamily="49" charset="0"/>
            </a:endParaRPr>
          </a:p>
          <a:p>
            <a:pPr marL="88900" lvl="2" indent="-88900">
              <a:spcAft>
                <a:spcPct val="0"/>
              </a:spcAft>
              <a:buNone/>
            </a:pPr>
            <a:r>
              <a:rPr lang="en-GB" dirty="0"/>
              <a:t>Bytes</a:t>
            </a:r>
          </a:p>
          <a:p>
            <a:pPr marL="88900" lvl="3" indent="368300">
              <a:buNone/>
            </a:pPr>
            <a:r>
              <a:rPr lang="en-GB" sz="1800" dirty="0" err="1">
                <a:latin typeface="Courier New"/>
                <a:cs typeface="Courier New"/>
              </a:rPr>
              <a:t>b'Norwegian</a:t>
            </a:r>
            <a:r>
              <a:rPr lang="en-GB" sz="1800" dirty="0">
                <a:latin typeface="Courier New"/>
                <a:cs typeface="Courier New"/>
              </a:rPr>
              <a:t> Blue', </a:t>
            </a:r>
            <a:r>
              <a:rPr lang="en-GB" sz="1800" dirty="0" err="1">
                <a:latin typeface="Courier New"/>
                <a:cs typeface="Courier New"/>
              </a:rPr>
              <a:t>b"Mr</a:t>
            </a:r>
            <a:r>
              <a:rPr lang="en-GB" sz="1800" dirty="0">
                <a:latin typeface="Courier New"/>
                <a:cs typeface="Courier New"/>
              </a:rPr>
              <a:t>. Khan's bike"</a:t>
            </a:r>
          </a:p>
          <a:p>
            <a:pPr marL="88900" lvl="2" indent="-88900">
              <a:spcAft>
                <a:spcPct val="0"/>
              </a:spcAft>
              <a:buNone/>
            </a:pPr>
            <a:r>
              <a:rPr lang="en-GB" dirty="0">
                <a:latin typeface="Montserrat"/>
              </a:rPr>
              <a:t>Strings</a:t>
            </a:r>
            <a:endParaRPr lang="en-GB" dirty="0"/>
          </a:p>
          <a:p>
            <a:pPr lvl="3" indent="101600">
              <a:buFontTx/>
              <a:buNone/>
            </a:pPr>
            <a:r>
              <a:rPr lang="en-GB" sz="1800" dirty="0">
                <a:latin typeface="Courier New"/>
                <a:cs typeface="Courier New"/>
              </a:rPr>
              <a:t>'Norwegian Blue', "Mr. Khan's bike", </a:t>
            </a:r>
            <a:r>
              <a:rPr lang="en-GB" sz="1800" dirty="0" err="1">
                <a:latin typeface="Courier New"/>
                <a:cs typeface="Courier New"/>
              </a:rPr>
              <a:t>r'C</a:t>
            </a:r>
            <a:r>
              <a:rPr lang="en-GB" sz="1800" dirty="0">
                <a:latin typeface="Courier New"/>
                <a:cs typeface="Courier New"/>
              </a:rPr>
              <a:t>:\Numbers'</a:t>
            </a:r>
          </a:p>
          <a:p>
            <a:pPr marL="88900" lvl="2" indent="-88900">
              <a:spcAft>
                <a:spcPct val="0"/>
              </a:spcAft>
              <a:buNone/>
            </a:pPr>
            <a:r>
              <a:rPr lang="en-GB" dirty="0"/>
              <a:t>Tuples</a:t>
            </a:r>
          </a:p>
          <a:p>
            <a:pPr lvl="3" indent="101600">
              <a:buFontTx/>
              <a:buNone/>
            </a:pPr>
            <a:r>
              <a:rPr lang="en-GB" sz="1800" dirty="0">
                <a:latin typeface="Courier New" panose="02070309020205020404" pitchFamily="49" charset="0"/>
                <a:cs typeface="Courier New" panose="02070309020205020404" pitchFamily="49" charset="0"/>
              </a:rPr>
              <a:t>(47, 'Spam', 'Major', 683, 'Ovine Aviation')</a:t>
            </a:r>
          </a:p>
          <a:p>
            <a:pPr marL="88900" lvl="2" indent="-88900">
              <a:spcAft>
                <a:spcPct val="0"/>
              </a:spcAft>
              <a:buNone/>
            </a:pPr>
            <a:r>
              <a:rPr lang="en-GB" dirty="0"/>
              <a:t>Lists</a:t>
            </a:r>
          </a:p>
          <a:p>
            <a:pPr lvl="3" indent="101600">
              <a:buFontTx/>
              <a:buNone/>
            </a:pPr>
            <a:r>
              <a:rPr lang="en-GB" sz="1800" dirty="0">
                <a:latin typeface="Courier New" panose="02070309020205020404" pitchFamily="49" charset="0"/>
                <a:cs typeface="Courier New" panose="02070309020205020404" pitchFamily="49" charset="0"/>
              </a:rPr>
              <a:t>['Cheddar', ['Camembert', 'Brie'], 'Stilton']</a:t>
            </a:r>
          </a:p>
          <a:p>
            <a:pPr marL="88900" lvl="2" indent="-88900">
              <a:spcBef>
                <a:spcPct val="30000"/>
              </a:spcBef>
              <a:spcAft>
                <a:spcPct val="0"/>
              </a:spcAft>
              <a:buNone/>
            </a:pPr>
            <a:r>
              <a:rPr lang="en-GB" dirty="0" err="1">
                <a:latin typeface="Montserrat"/>
              </a:rPr>
              <a:t>Bytearrays</a:t>
            </a:r>
            <a:endParaRPr lang="en-GB" dirty="0">
              <a:latin typeface="Montserrat"/>
            </a:endParaRPr>
          </a:p>
          <a:p>
            <a:pPr marL="88900" lvl="3" indent="368300">
              <a:spcBef>
                <a:spcPct val="30000"/>
              </a:spcBef>
              <a:buNone/>
            </a:pPr>
            <a:r>
              <a:rPr lang="en-GB" sz="1800" dirty="0" err="1">
                <a:latin typeface="Courier New"/>
                <a:cs typeface="Courier New"/>
              </a:rPr>
              <a:t>bytearray</a:t>
            </a:r>
            <a:r>
              <a:rPr lang="en-GB" sz="1800" dirty="0">
                <a:latin typeface="Courier New"/>
                <a:cs typeface="Courier New"/>
              </a:rPr>
              <a:t>(</a:t>
            </a:r>
            <a:r>
              <a:rPr lang="en-GB" sz="1800" dirty="0" err="1">
                <a:latin typeface="Courier New"/>
                <a:cs typeface="Courier New"/>
              </a:rPr>
              <a:t>b'abc</a:t>
            </a:r>
            <a:r>
              <a:rPr lang="en-GB" sz="1800" dirty="0">
                <a:latin typeface="Courier New"/>
                <a:cs typeface="Courier New"/>
              </a:rPr>
              <a:t>')</a:t>
            </a:r>
          </a:p>
          <a:p>
            <a:pPr marL="88900" lvl="2" indent="-88900">
              <a:spcAft>
                <a:spcPct val="0"/>
              </a:spcAft>
              <a:buNone/>
            </a:pPr>
            <a:r>
              <a:rPr lang="en-GB" dirty="0"/>
              <a:t>Dictionaries</a:t>
            </a:r>
          </a:p>
          <a:p>
            <a:pPr lvl="3" indent="101600">
              <a:buFontTx/>
              <a:buNone/>
            </a:pPr>
            <a:r>
              <a:rPr lang="en-GB" sz="1800" dirty="0">
                <a:latin typeface="Courier New"/>
                <a:cs typeface="Courier New"/>
              </a:rPr>
              <a:t>{'</a:t>
            </a:r>
            <a:r>
              <a:rPr lang="en-GB" sz="1800" dirty="0" err="1">
                <a:latin typeface="Courier New"/>
                <a:cs typeface="Courier New"/>
              </a:rPr>
              <a:t>Sword':'Excalibur</a:t>
            </a:r>
            <a:r>
              <a:rPr lang="en-GB" sz="1800" dirty="0">
                <a:latin typeface="Courier New"/>
                <a:cs typeface="Courier New"/>
              </a:rPr>
              <a:t>', '</a:t>
            </a:r>
            <a:r>
              <a:rPr lang="en-GB" sz="1800" dirty="0" err="1">
                <a:latin typeface="Courier New"/>
                <a:cs typeface="Courier New"/>
              </a:rPr>
              <a:t>Bird':'Unladen</a:t>
            </a:r>
            <a:r>
              <a:rPr lang="en-GB" sz="1800" dirty="0">
                <a:latin typeface="Courier New"/>
                <a:cs typeface="Courier New"/>
              </a:rPr>
              <a:t> Swallow'}</a:t>
            </a:r>
          </a:p>
          <a:p>
            <a:pPr marL="88900" lvl="2" indent="-88900">
              <a:buNone/>
            </a:pPr>
            <a:r>
              <a:rPr lang="en-GB" dirty="0"/>
              <a:t>Sets</a:t>
            </a:r>
          </a:p>
          <a:p>
            <a:pPr lvl="3" indent="101600">
              <a:buFontTx/>
              <a:buNone/>
            </a:pPr>
            <a:r>
              <a:rPr lang="en-GB" sz="1800" dirty="0">
                <a:latin typeface="Courier New" panose="02070309020205020404" pitchFamily="49" charset="0"/>
                <a:cs typeface="Courier New" panose="02070309020205020404" pitchFamily="49" charset="0"/>
              </a:rPr>
              <a:t>{'Chapman', 'Cleese', 'Idle', 'Jones', 'Palin'}</a:t>
            </a:r>
          </a:p>
        </p:txBody>
      </p:sp>
      <p:sp>
        <p:nvSpPr>
          <p:cNvPr id="15" name="TextBox 14">
            <a:extLst>
              <a:ext uri="{FF2B5EF4-FFF2-40B4-BE49-F238E27FC236}">
                <a16:creationId xmlns:a16="http://schemas.microsoft.com/office/drawing/2014/main" id="{91A67706-931D-4464-8CCE-1E7418B2288F}"/>
              </a:ext>
            </a:extLst>
          </p:cNvPr>
          <p:cNvSpPr txBox="1">
            <a:spLocks noChangeArrowheads="1"/>
          </p:cNvSpPr>
          <p:nvPr/>
        </p:nvSpPr>
        <p:spPr bwMode="auto">
          <a:xfrm>
            <a:off x="846053" y="3438395"/>
            <a:ext cx="1144587" cy="339725"/>
          </a:xfrm>
          <a:prstGeom prst="rect">
            <a:avLst/>
          </a:prstGeom>
          <a:solidFill>
            <a:schemeClr val="bg1"/>
          </a:solidFill>
          <a:ln>
            <a:noFill/>
          </a:ln>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dirty="0">
                <a:ea typeface="MS PGothic" pitchFamily="34" charset="-128"/>
              </a:rPr>
              <a:t>Immutable</a:t>
            </a:r>
          </a:p>
        </p:txBody>
      </p:sp>
      <p:cxnSp>
        <p:nvCxnSpPr>
          <p:cNvPr id="16" name="Straight Connector 15">
            <a:extLst>
              <a:ext uri="{FF2B5EF4-FFF2-40B4-BE49-F238E27FC236}">
                <a16:creationId xmlns:a16="http://schemas.microsoft.com/office/drawing/2014/main" id="{CC7691B9-AE22-48F1-A270-822CB47D3A3E}"/>
              </a:ext>
            </a:extLst>
          </p:cNvPr>
          <p:cNvCxnSpPr>
            <a:cxnSpLocks noChangeShapeType="1"/>
          </p:cNvCxnSpPr>
          <p:nvPr/>
        </p:nvCxnSpPr>
        <p:spPr bwMode="auto">
          <a:xfrm>
            <a:off x="1875547" y="3839774"/>
            <a:ext cx="7750869" cy="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cxnSp>
      <p:sp>
        <p:nvSpPr>
          <p:cNvPr id="18" name="TextBox 17">
            <a:extLst>
              <a:ext uri="{FF2B5EF4-FFF2-40B4-BE49-F238E27FC236}">
                <a16:creationId xmlns:a16="http://schemas.microsoft.com/office/drawing/2014/main" id="{F236A13C-17E1-4E82-83D6-5EC965CC8DD7}"/>
              </a:ext>
            </a:extLst>
          </p:cNvPr>
          <p:cNvSpPr txBox="1">
            <a:spLocks noChangeArrowheads="1"/>
          </p:cNvSpPr>
          <p:nvPr/>
        </p:nvSpPr>
        <p:spPr bwMode="auto">
          <a:xfrm>
            <a:off x="1025787" y="4571967"/>
            <a:ext cx="914400" cy="338137"/>
          </a:xfrm>
          <a:prstGeom prst="rect">
            <a:avLst/>
          </a:prstGeom>
          <a:solidFill>
            <a:schemeClr val="bg1"/>
          </a:solidFill>
          <a:ln>
            <a:noFill/>
          </a:ln>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dirty="0">
                <a:ea typeface="MS PGothic" pitchFamily="34" charset="-128"/>
              </a:rPr>
              <a:t>Mutable</a:t>
            </a:r>
          </a:p>
        </p:txBody>
      </p:sp>
      <p:sp>
        <p:nvSpPr>
          <p:cNvPr id="2" name="Slide Number Placeholder 1">
            <a:extLst>
              <a:ext uri="{FF2B5EF4-FFF2-40B4-BE49-F238E27FC236}">
                <a16:creationId xmlns:a16="http://schemas.microsoft.com/office/drawing/2014/main" id="{A1D9DABD-0FEE-6F96-C8F6-28CD52E7DCB4}"/>
              </a:ext>
            </a:extLst>
          </p:cNvPr>
          <p:cNvSpPr>
            <a:spLocks noGrp="1"/>
          </p:cNvSpPr>
          <p:nvPr>
            <p:ph type="sldNum" sz="quarter" idx="4"/>
          </p:nvPr>
        </p:nvSpPr>
        <p:spPr/>
        <p:txBody>
          <a:bodyPr/>
          <a:lstStyle/>
          <a:p>
            <a:fld id="{EF892D59-8F09-EF4B-AD6D-DA609442F868}" type="slidenum">
              <a:rPr lang="en-GB" smtClean="0"/>
              <a:pPr/>
              <a:t>9</a:t>
            </a:fld>
            <a:endParaRPr lang="en-GB" dirty="0"/>
          </a:p>
        </p:txBody>
      </p:sp>
    </p:spTree>
    <p:extLst>
      <p:ext uri="{BB962C8B-B14F-4D97-AF65-F5344CB8AC3E}">
        <p14:creationId xmlns:p14="http://schemas.microsoft.com/office/powerpoint/2010/main" val="67367035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1"/>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001903" y="335178"/>
            <a:ext cx="11517818" cy="805001"/>
          </a:xfrm>
        </p:spPr>
        <p:txBody>
          <a:bodyPr/>
          <a:lstStyle/>
          <a:p>
            <a:pPr eaLnBrk="1" hangingPunct="1"/>
            <a:r>
              <a:rPr lang="en-GB" dirty="0"/>
              <a:t>Switching types</a:t>
            </a:r>
          </a:p>
        </p:txBody>
      </p:sp>
      <p:sp>
        <p:nvSpPr>
          <p:cNvPr id="14339" name="Rectangle 3"/>
          <p:cNvSpPr>
            <a:spLocks noGrp="1" noChangeArrowheads="1"/>
          </p:cNvSpPr>
          <p:nvPr>
            <p:ph type="body" idx="1"/>
          </p:nvPr>
        </p:nvSpPr>
        <p:spPr>
          <a:xfrm>
            <a:off x="341272" y="1140179"/>
            <a:ext cx="11516239" cy="4955354"/>
          </a:xfrm>
        </p:spPr>
        <p:txBody>
          <a:bodyPr>
            <a:normAutofit lnSpcReduction="10000"/>
          </a:bodyPr>
          <a:lstStyle/>
          <a:p>
            <a:pPr>
              <a:spcBef>
                <a:spcPts val="600"/>
              </a:spcBef>
            </a:pPr>
            <a:r>
              <a:rPr lang="en-GB" b="1" dirty="0"/>
              <a:t>Sometimes Python switches types automatically</a:t>
            </a:r>
          </a:p>
          <a:p>
            <a:pPr lvl="1">
              <a:spcBef>
                <a:spcPts val="600"/>
              </a:spcBef>
            </a:pPr>
            <a:endParaRPr lang="en-GB" dirty="0"/>
          </a:p>
          <a:p>
            <a:pPr lvl="1">
              <a:spcBef>
                <a:spcPts val="600"/>
              </a:spcBef>
            </a:pPr>
            <a:endParaRPr lang="en-GB" dirty="0"/>
          </a:p>
          <a:p>
            <a:pPr lvl="2">
              <a:spcBef>
                <a:spcPts val="600"/>
              </a:spcBef>
            </a:pPr>
            <a:endParaRPr lang="en-GB" dirty="0"/>
          </a:p>
          <a:p>
            <a:pPr>
              <a:spcBef>
                <a:spcPts val="600"/>
              </a:spcBef>
            </a:pPr>
            <a:r>
              <a:rPr lang="en-GB" b="1" dirty="0">
                <a:latin typeface="Montserrat"/>
              </a:rPr>
              <a:t>Sometimes you have to encourage it</a:t>
            </a:r>
          </a:p>
          <a:p>
            <a:pPr marL="457200" lvl="1" indent="-228600">
              <a:spcBef>
                <a:spcPts val="600"/>
              </a:spcBef>
              <a:buFont typeface="Arial" panose="020B0604020202020204" pitchFamily="34" charset="0"/>
              <a:buChar char="•"/>
            </a:pPr>
            <a:r>
              <a:rPr lang="en-GB" sz="1800" dirty="0"/>
              <a:t>This avoids unexpected changes of type.</a:t>
            </a:r>
          </a:p>
          <a:p>
            <a:pPr lvl="3">
              <a:spcBef>
                <a:spcPts val="600"/>
              </a:spcBef>
            </a:pPr>
            <a:endParaRPr lang="en-GB" dirty="0"/>
          </a:p>
          <a:p>
            <a:pPr lvl="2">
              <a:spcBef>
                <a:spcPts val="600"/>
              </a:spcBef>
            </a:pPr>
            <a:endParaRPr lang="en-GB" dirty="0"/>
          </a:p>
          <a:p>
            <a:pPr lvl="2">
              <a:spcBef>
                <a:spcPts val="600"/>
              </a:spcBef>
            </a:pPr>
            <a:endParaRPr lang="en-GB" sz="800" dirty="0"/>
          </a:p>
          <a:p>
            <a:pPr marL="457200" lvl="1" indent="-228600">
              <a:spcBef>
                <a:spcPts val="600"/>
              </a:spcBef>
              <a:buFont typeface="Arial" panose="020B0604020202020204" pitchFamily="34" charset="0"/>
              <a:buChar char="•"/>
            </a:pPr>
            <a:r>
              <a:rPr lang="en-GB" sz="1800" dirty="0">
                <a:latin typeface="Montserrat"/>
              </a:rPr>
              <a:t>Use the </a:t>
            </a:r>
            <a:r>
              <a:rPr lang="en-GB" sz="1800" b="0" dirty="0">
                <a:latin typeface="Courier New"/>
                <a:cs typeface="Courier New"/>
              </a:rPr>
              <a:t>str()</a:t>
            </a:r>
            <a:r>
              <a:rPr lang="en-GB" sz="1800" dirty="0">
                <a:latin typeface="Montserrat"/>
              </a:rPr>
              <a:t> function to return an object as a string.</a:t>
            </a:r>
          </a:p>
          <a:p>
            <a:pPr marL="457200" lvl="1" indent="-228600">
              <a:spcBef>
                <a:spcPts val="600"/>
              </a:spcBef>
              <a:buFont typeface="Arial" panose="020B0604020202020204" pitchFamily="34" charset="0"/>
              <a:buChar char="•"/>
            </a:pPr>
            <a:r>
              <a:rPr lang="en-GB" sz="1800" dirty="0"/>
              <a:t>Use </a:t>
            </a:r>
            <a:r>
              <a:rPr lang="en-GB" sz="1800" b="0" dirty="0">
                <a:latin typeface="Courier New" panose="02070309020205020404" pitchFamily="49" charset="0"/>
                <a:cs typeface="Courier New" panose="02070309020205020404" pitchFamily="49" charset="0"/>
              </a:rPr>
              <a:t>int()</a:t>
            </a:r>
            <a:r>
              <a:rPr lang="en-GB" sz="1800" dirty="0"/>
              <a:t> or </a:t>
            </a:r>
            <a:r>
              <a:rPr lang="en-GB" sz="1800" b="0" dirty="0">
                <a:latin typeface="Courier New" panose="02070309020205020404" pitchFamily="49" charset="0"/>
                <a:cs typeface="Courier New" panose="02070309020205020404" pitchFamily="49" charset="0"/>
              </a:rPr>
              <a:t>float()</a:t>
            </a:r>
            <a:r>
              <a:rPr lang="en-GB" sz="1800" dirty="0"/>
              <a:t> to return an object as a number.</a:t>
            </a:r>
          </a:p>
          <a:p>
            <a:pPr marL="457200" lvl="1" indent="-228600">
              <a:spcBef>
                <a:spcPts val="600"/>
              </a:spcBef>
              <a:buFont typeface="Arial" panose="020B0604020202020204" pitchFamily="34" charset="0"/>
              <a:buChar char="•"/>
            </a:pPr>
            <a:r>
              <a:rPr lang="en-GB" sz="1800" dirty="0"/>
              <a:t>Other functions available to return lists and tuples from strings.</a:t>
            </a:r>
          </a:p>
        </p:txBody>
      </p:sp>
      <p:sp>
        <p:nvSpPr>
          <p:cNvPr id="14340" name="Text Box 4"/>
          <p:cNvSpPr txBox="1">
            <a:spLocks noChangeArrowheads="1"/>
          </p:cNvSpPr>
          <p:nvPr/>
        </p:nvSpPr>
        <p:spPr bwMode="auto">
          <a:xfrm>
            <a:off x="1172221" y="3678558"/>
            <a:ext cx="7802354" cy="923330"/>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lIns="91440" tIns="45720" rIns="91440" bIns="45720" anchor="t">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a:cs typeface="Courier New"/>
              </a:rPr>
              <a:t>port = 80</a:t>
            </a:r>
            <a:endParaRPr lang="en-US" sz="1800" dirty="0">
              <a:latin typeface="Courier New"/>
              <a:cs typeface="Courier New"/>
            </a:endParaRPr>
          </a:p>
          <a:p>
            <a:pPr>
              <a:spcBef>
                <a:spcPct val="0"/>
              </a:spcBef>
            </a:pPr>
            <a:r>
              <a:rPr lang="en-GB" sz="1800" dirty="0">
                <a:latin typeface="Courier New"/>
                <a:cs typeface="Courier New"/>
              </a:rPr>
              <a:t>print("Unused port: "  +  port)</a:t>
            </a:r>
            <a:endParaRPr lang="en-US" sz="1800" dirty="0">
              <a:latin typeface="Courier New"/>
              <a:cs typeface="Courier New"/>
            </a:endParaRPr>
          </a:p>
          <a:p>
            <a:pPr>
              <a:spcBef>
                <a:spcPct val="0"/>
              </a:spcBef>
            </a:pPr>
            <a:r>
              <a:rPr lang="en-US" sz="1800" dirty="0" err="1">
                <a:solidFill>
                  <a:srgbClr val="C00000"/>
                </a:solidFill>
                <a:latin typeface="Courier New"/>
                <a:cs typeface="Courier New"/>
              </a:rPr>
              <a:t>TypeError</a:t>
            </a:r>
            <a:r>
              <a:rPr lang="en-US" sz="1800" dirty="0">
                <a:solidFill>
                  <a:srgbClr val="C00000"/>
                </a:solidFill>
                <a:latin typeface="Courier New"/>
                <a:cs typeface="Courier New"/>
              </a:rPr>
              <a:t>: Can't convert 'int' object to str implicitly</a:t>
            </a:r>
            <a:endParaRPr lang="en-GB" sz="1800" dirty="0">
              <a:solidFill>
                <a:srgbClr val="C00000"/>
              </a:solidFill>
              <a:latin typeface="Courier New"/>
              <a:cs typeface="Courier New"/>
            </a:endParaRPr>
          </a:p>
        </p:txBody>
      </p:sp>
      <p:sp>
        <p:nvSpPr>
          <p:cNvPr id="14341" name="Text Box 5"/>
          <p:cNvSpPr txBox="1">
            <a:spLocks noChangeArrowheads="1"/>
          </p:cNvSpPr>
          <p:nvPr/>
        </p:nvSpPr>
        <p:spPr bwMode="auto">
          <a:xfrm>
            <a:off x="1267223" y="6087215"/>
            <a:ext cx="7789863" cy="376238"/>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lIns="91440" tIns="45720" rIns="91440" bIns="45720" anchor="t">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latin typeface="Courier New"/>
                <a:cs typeface="Courier New"/>
              </a:rPr>
              <a:t>print("Unused port: " + </a:t>
            </a:r>
            <a:r>
              <a:rPr lang="en-GB" sz="1800" b="1" dirty="0">
                <a:latin typeface="Courier New"/>
                <a:cs typeface="Courier New"/>
              </a:rPr>
              <a:t>str</a:t>
            </a:r>
            <a:r>
              <a:rPr lang="en-GB" sz="1800" dirty="0">
                <a:latin typeface="Courier New"/>
                <a:cs typeface="Courier New"/>
              </a:rPr>
              <a:t>(port))</a:t>
            </a:r>
          </a:p>
        </p:txBody>
      </p:sp>
      <p:grpSp>
        <p:nvGrpSpPr>
          <p:cNvPr id="14342" name="Group 11"/>
          <p:cNvGrpSpPr>
            <a:grpSpLocks/>
          </p:cNvGrpSpPr>
          <p:nvPr/>
        </p:nvGrpSpPr>
        <p:grpSpPr bwMode="auto">
          <a:xfrm>
            <a:off x="1172221" y="1562419"/>
            <a:ext cx="7789863" cy="1200150"/>
            <a:chOff x="614" y="981"/>
            <a:chExt cx="4714" cy="756"/>
          </a:xfrm>
          <a:effectLst>
            <a:outerShdw blurRad="50800" dist="38100" dir="2700000" algn="tl" rotWithShape="0">
              <a:prstClr val="black">
                <a:alpha val="40000"/>
              </a:prstClr>
            </a:outerShdw>
          </a:effectLst>
        </p:grpSpPr>
        <p:sp>
          <p:nvSpPr>
            <p:cNvPr id="14344" name="Text Box 6"/>
            <p:cNvSpPr txBox="1">
              <a:spLocks noChangeArrowheads="1"/>
            </p:cNvSpPr>
            <p:nvPr/>
          </p:nvSpPr>
          <p:spPr bwMode="auto">
            <a:xfrm>
              <a:off x="614" y="981"/>
              <a:ext cx="4714" cy="756"/>
            </a:xfrm>
            <a:prstGeom prst="rect">
              <a:avLst/>
            </a:prstGeom>
            <a:solidFill>
              <a:schemeClr val="tx2">
                <a:lumMod val="20000"/>
                <a:lumOff val="80000"/>
              </a:schemeClr>
            </a:solidFill>
            <a:ln w="9525">
              <a:solidFill>
                <a:schemeClr val="tx1"/>
              </a:solidFill>
              <a:miter lim="800000"/>
              <a:headEnd/>
              <a:tailEnd/>
            </a:ln>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pt-BR" sz="1800" dirty="0">
                  <a:latin typeface="Courier New" panose="02070309020205020404" pitchFamily="49" charset="0"/>
                  <a:cs typeface="Courier New" panose="02070309020205020404" pitchFamily="49" charset="0"/>
                </a:rPr>
                <a:t>num = 42</a:t>
              </a:r>
            </a:p>
            <a:p>
              <a:pPr>
                <a:spcBef>
                  <a:spcPct val="0"/>
                </a:spcBef>
              </a:pPr>
              <a:r>
                <a:rPr lang="pt-BR" sz="1800" dirty="0">
                  <a:latin typeface="Courier New" panose="02070309020205020404" pitchFamily="49" charset="0"/>
                  <a:cs typeface="Courier New" panose="02070309020205020404" pitchFamily="49" charset="0"/>
                </a:rPr>
                <a:t>pi  = 3.142</a:t>
              </a:r>
            </a:p>
            <a:p>
              <a:pPr>
                <a:spcBef>
                  <a:spcPct val="0"/>
                </a:spcBef>
              </a:pPr>
              <a:r>
                <a:rPr lang="pt-BR" sz="1800" dirty="0">
                  <a:latin typeface="Courier New" panose="02070309020205020404" pitchFamily="49" charset="0"/>
                  <a:cs typeface="Courier New" panose="02070309020205020404" pitchFamily="49" charset="0"/>
                </a:rPr>
                <a:t>num = 42/pi</a:t>
              </a:r>
            </a:p>
            <a:p>
              <a:pPr>
                <a:spcBef>
                  <a:spcPct val="0"/>
                </a:spcBef>
              </a:pPr>
              <a:r>
                <a:rPr lang="pt-BR" sz="1800" dirty="0">
                  <a:latin typeface="Courier New" panose="02070309020205020404" pitchFamily="49" charset="0"/>
                  <a:cs typeface="Courier New" panose="02070309020205020404" pitchFamily="49" charset="0"/>
                </a:rPr>
                <a:t>print(num)</a:t>
              </a:r>
              <a:endParaRPr lang="en-GB" sz="1800" dirty="0">
                <a:latin typeface="Courier New" panose="02070309020205020404" pitchFamily="49" charset="0"/>
                <a:cs typeface="Courier New" panose="02070309020205020404" pitchFamily="49" charset="0"/>
              </a:endParaRPr>
            </a:p>
          </p:txBody>
        </p:sp>
        <p:sp>
          <p:nvSpPr>
            <p:cNvPr id="14345" name="Text Box 7"/>
            <p:cNvSpPr txBox="1">
              <a:spLocks noChangeArrowheads="1"/>
            </p:cNvSpPr>
            <p:nvPr/>
          </p:nvSpPr>
          <p:spPr bwMode="auto">
            <a:xfrm>
              <a:off x="3311" y="1472"/>
              <a:ext cx="1008" cy="213"/>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dirty="0">
                  <a:latin typeface="Courier New" panose="02070309020205020404" pitchFamily="49" charset="0"/>
                  <a:cs typeface="Courier New" panose="02070309020205020404" pitchFamily="49" charset="0"/>
                </a:rPr>
                <a:t>13.367281986</a:t>
              </a:r>
            </a:p>
          </p:txBody>
        </p:sp>
        <p:sp>
          <p:nvSpPr>
            <p:cNvPr id="14346" name="Text Box 8"/>
            <p:cNvSpPr txBox="1">
              <a:spLocks noChangeArrowheads="1"/>
            </p:cNvSpPr>
            <p:nvPr/>
          </p:nvSpPr>
          <p:spPr bwMode="auto">
            <a:xfrm>
              <a:off x="3298" y="1071"/>
              <a:ext cx="1827" cy="218"/>
            </a:xfrm>
            <a:prstGeom prst="rect">
              <a:avLst/>
            </a:prstGeom>
            <a:solidFill>
              <a:schemeClr val="bg1"/>
            </a:solidFill>
            <a:ln w="9525">
              <a:solidFill>
                <a:schemeClr val="tx1"/>
              </a:solidFill>
              <a:miter lim="800000"/>
              <a:headEnd/>
              <a:tailEnd/>
            </a:ln>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dirty="0" err="1">
                  <a:latin typeface="Courier New" panose="02070309020205020404" pitchFamily="49" charset="0"/>
                  <a:cs typeface="Courier New" panose="02070309020205020404" pitchFamily="49" charset="0"/>
                </a:rPr>
                <a:t>num</a:t>
              </a:r>
              <a:r>
                <a:rPr lang="en-GB" sz="1600" dirty="0"/>
                <a:t> gets automatic promotion</a:t>
              </a:r>
            </a:p>
          </p:txBody>
        </p:sp>
        <p:sp>
          <p:nvSpPr>
            <p:cNvPr id="14347" name="Line 9"/>
            <p:cNvSpPr>
              <a:spLocks noChangeShapeType="1"/>
            </p:cNvSpPr>
            <p:nvPr/>
          </p:nvSpPr>
          <p:spPr bwMode="auto">
            <a:xfrm>
              <a:off x="1647" y="1610"/>
              <a:ext cx="1651" cy="0"/>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a:p>
          </p:txBody>
        </p:sp>
      </p:grpSp>
      <p:sp>
        <p:nvSpPr>
          <p:cNvPr id="14343" name="Line 10"/>
          <p:cNvSpPr>
            <a:spLocks noChangeShapeType="1"/>
          </p:cNvSpPr>
          <p:nvPr/>
        </p:nvSpPr>
        <p:spPr bwMode="auto">
          <a:xfrm>
            <a:off x="5878107" y="1998982"/>
            <a:ext cx="0" cy="342900"/>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a:spAutoFit/>
          </a:bodyPr>
          <a:lstStyle/>
          <a:p>
            <a:endParaRPr lang="en-GB"/>
          </a:p>
        </p:txBody>
      </p:sp>
      <p:sp>
        <p:nvSpPr>
          <p:cNvPr id="2" name="Text Box 7">
            <a:extLst>
              <a:ext uri="{FF2B5EF4-FFF2-40B4-BE49-F238E27FC236}">
                <a16:creationId xmlns:a16="http://schemas.microsoft.com/office/drawing/2014/main" id="{B12B8560-899D-79C8-1299-B162AD78C487}"/>
              </a:ext>
            </a:extLst>
          </p:cNvPr>
          <p:cNvSpPr txBox="1">
            <a:spLocks noChangeArrowheads="1"/>
          </p:cNvSpPr>
          <p:nvPr/>
        </p:nvSpPr>
        <p:spPr bwMode="auto">
          <a:xfrm>
            <a:off x="7495640" y="6363399"/>
            <a:ext cx="2036135" cy="338554"/>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dirty="0">
                <a:latin typeface="Courier New" panose="02070309020205020404" pitchFamily="49" charset="0"/>
                <a:cs typeface="Courier New" panose="02070309020205020404" pitchFamily="49" charset="0"/>
              </a:rPr>
              <a:t>Unused port: 80</a:t>
            </a:r>
          </a:p>
        </p:txBody>
      </p:sp>
      <p:sp>
        <p:nvSpPr>
          <p:cNvPr id="3" name="Slide Number Placeholder 2">
            <a:extLst>
              <a:ext uri="{FF2B5EF4-FFF2-40B4-BE49-F238E27FC236}">
                <a16:creationId xmlns:a16="http://schemas.microsoft.com/office/drawing/2014/main" id="{BB1082A3-0088-EB70-3F85-BBB984B785CE}"/>
              </a:ext>
            </a:extLst>
          </p:cNvPr>
          <p:cNvSpPr>
            <a:spLocks noGrp="1"/>
          </p:cNvSpPr>
          <p:nvPr>
            <p:ph type="sldNum" sz="quarter" idx="4"/>
          </p:nvPr>
        </p:nvSpPr>
        <p:spPr/>
        <p:txBody>
          <a:bodyPr/>
          <a:lstStyle/>
          <a:p>
            <a:fld id="{EF892D59-8F09-EF4B-AD6D-DA609442F868}" type="slidenum">
              <a:rPr lang="en-GB" smtClean="0"/>
              <a:pPr/>
              <a:t>10</a:t>
            </a:fld>
            <a:endParaRPr lang="en-GB" dirty="0"/>
          </a:p>
        </p:txBody>
      </p:sp>
    </p:spTree>
    <p:extLst>
      <p:ext uri="{BB962C8B-B14F-4D97-AF65-F5344CB8AC3E}">
        <p14:creationId xmlns:p14="http://schemas.microsoft.com/office/powerpoint/2010/main" val="8260963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945613" y="326492"/>
            <a:ext cx="11517818" cy="805001"/>
          </a:xfrm>
        </p:spPr>
        <p:txBody>
          <a:bodyPr/>
          <a:lstStyle/>
          <a:p>
            <a:pPr eaLnBrk="1" hangingPunct="1"/>
            <a:r>
              <a:rPr lang="en-GB" dirty="0"/>
              <a:t>Python lists introduced</a:t>
            </a:r>
          </a:p>
        </p:txBody>
      </p:sp>
      <p:sp>
        <p:nvSpPr>
          <p:cNvPr id="15363" name="Rectangle 3"/>
          <p:cNvSpPr>
            <a:spLocks noGrp="1" noChangeArrowheads="1"/>
          </p:cNvSpPr>
          <p:nvPr>
            <p:ph type="body" idx="1"/>
          </p:nvPr>
        </p:nvSpPr>
        <p:spPr/>
        <p:txBody>
          <a:bodyPr/>
          <a:lstStyle/>
          <a:p>
            <a:r>
              <a:rPr lang="en-GB" b="1" dirty="0">
                <a:latin typeface="Montserrat"/>
              </a:rPr>
              <a:t>Python lists are similar to arrays in other languages</a:t>
            </a:r>
          </a:p>
          <a:p>
            <a:pPr marL="457200" lvl="1" indent="-228600">
              <a:buFont typeface="Arial" panose="020B0604020202020204" pitchFamily="34" charset="0"/>
              <a:buChar char="•"/>
            </a:pPr>
            <a:r>
              <a:rPr lang="en-GB" sz="1800" dirty="0"/>
              <a:t>Items may be accessed from the left by an index starting at 0.</a:t>
            </a:r>
          </a:p>
          <a:p>
            <a:pPr marL="457200" lvl="1" indent="-228600">
              <a:buFont typeface="Arial" panose="020B0604020202020204" pitchFamily="34" charset="0"/>
              <a:buChar char="•"/>
            </a:pPr>
            <a:r>
              <a:rPr lang="en-GB" sz="1800" dirty="0"/>
              <a:t>Items may be accessed from the right by an index starting at -1.</a:t>
            </a:r>
          </a:p>
          <a:p>
            <a:pPr marL="457200" lvl="1" indent="-228600">
              <a:buFont typeface="Arial" panose="020B0604020202020204" pitchFamily="34" charset="0"/>
              <a:buChar char="•"/>
            </a:pPr>
            <a:r>
              <a:rPr lang="en-GB" sz="1800" dirty="0"/>
              <a:t>Specified as a comma-separated list of objects inside [ ].</a:t>
            </a:r>
          </a:p>
          <a:p>
            <a:pPr lvl="1"/>
            <a:endParaRPr lang="en-GB" dirty="0"/>
          </a:p>
          <a:p>
            <a:pPr lvl="2"/>
            <a:endParaRPr lang="en-GB" dirty="0"/>
          </a:p>
          <a:p>
            <a:pPr lvl="2"/>
            <a:endParaRPr lang="en-GB" dirty="0"/>
          </a:p>
          <a:p>
            <a:pPr lvl="2"/>
            <a:endParaRPr lang="en-GB" dirty="0"/>
          </a:p>
          <a:p>
            <a:pPr lvl="2"/>
            <a:endParaRPr lang="en-GB" sz="800" dirty="0"/>
          </a:p>
          <a:p>
            <a:pPr lvl="2"/>
            <a:endParaRPr lang="en-GB" dirty="0"/>
          </a:p>
          <a:p>
            <a:r>
              <a:rPr lang="en-GB" b="1" dirty="0"/>
              <a:t>Multi-dimensional lists are just lists containing others:</a:t>
            </a:r>
          </a:p>
          <a:p>
            <a:pPr lvl="2"/>
            <a:endParaRPr lang="en-GB" dirty="0"/>
          </a:p>
          <a:p>
            <a:pPr lvl="1">
              <a:buFontTx/>
              <a:buNone/>
            </a:pPr>
            <a:endParaRPr lang="en-GB" dirty="0"/>
          </a:p>
        </p:txBody>
      </p:sp>
      <p:sp>
        <p:nvSpPr>
          <p:cNvPr id="15364" name="Text Box 5"/>
          <p:cNvSpPr txBox="1">
            <a:spLocks noChangeArrowheads="1"/>
          </p:cNvSpPr>
          <p:nvPr/>
        </p:nvSpPr>
        <p:spPr bwMode="auto">
          <a:xfrm>
            <a:off x="753692" y="5564620"/>
            <a:ext cx="7651750" cy="706438"/>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20000"/>
              </a:spcBef>
            </a:pPr>
            <a:r>
              <a:rPr lang="en-GB" sz="1800" dirty="0">
                <a:latin typeface="Courier New" panose="02070309020205020404" pitchFamily="49" charset="0"/>
                <a:cs typeface="Courier New" panose="02070309020205020404" pitchFamily="49" charset="0"/>
              </a:rPr>
              <a:t>cheese = ['Cheddar', ['Camembert', 'Brie'], 'Stilton']</a:t>
            </a:r>
          </a:p>
          <a:p>
            <a:pPr>
              <a:spcBef>
                <a:spcPct val="20000"/>
              </a:spcBef>
            </a:pPr>
            <a:r>
              <a:rPr lang="en-GB" sz="1800" dirty="0">
                <a:latin typeface="Courier New" panose="02070309020205020404" pitchFamily="49" charset="0"/>
                <a:cs typeface="Courier New" panose="02070309020205020404" pitchFamily="49" charset="0"/>
              </a:rPr>
              <a:t>print(cheese[1][0])</a:t>
            </a:r>
          </a:p>
        </p:txBody>
      </p:sp>
      <p:sp>
        <p:nvSpPr>
          <p:cNvPr id="15365" name="Text Box 6"/>
          <p:cNvSpPr txBox="1">
            <a:spLocks noChangeArrowheads="1"/>
          </p:cNvSpPr>
          <p:nvPr/>
        </p:nvSpPr>
        <p:spPr bwMode="auto">
          <a:xfrm>
            <a:off x="7549518" y="6150572"/>
            <a:ext cx="1293812" cy="346075"/>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dirty="0">
                <a:latin typeface="Courier New" panose="02070309020205020404" pitchFamily="49" charset="0"/>
                <a:cs typeface="Courier New" panose="02070309020205020404" pitchFamily="49" charset="0"/>
              </a:rPr>
              <a:t>Camembert</a:t>
            </a:r>
          </a:p>
        </p:txBody>
      </p:sp>
      <p:sp>
        <p:nvSpPr>
          <p:cNvPr id="15366" name="Text Box 7"/>
          <p:cNvSpPr txBox="1">
            <a:spLocks noChangeArrowheads="1"/>
          </p:cNvSpPr>
          <p:nvPr/>
        </p:nvSpPr>
        <p:spPr bwMode="auto">
          <a:xfrm>
            <a:off x="753692" y="2996546"/>
            <a:ext cx="7653338" cy="1366838"/>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20000"/>
              </a:spcBef>
            </a:pPr>
            <a:r>
              <a:rPr lang="en-GB" sz="1800" dirty="0">
                <a:latin typeface="Courier New" panose="02070309020205020404" pitchFamily="49" charset="0"/>
                <a:cs typeface="Courier New" panose="02070309020205020404" pitchFamily="49" charset="0"/>
              </a:rPr>
              <a:t>cheese = ['Cheddar', 'Stilton', 'Cornish </a:t>
            </a:r>
            <a:r>
              <a:rPr lang="en-GB" sz="1800" dirty="0" err="1">
                <a:latin typeface="Courier New" panose="02070309020205020404" pitchFamily="49" charset="0"/>
                <a:cs typeface="Courier New" panose="02070309020205020404" pitchFamily="49" charset="0"/>
              </a:rPr>
              <a:t>Yarg</a:t>
            </a:r>
            <a:r>
              <a:rPr lang="en-GB" sz="1800" dirty="0">
                <a:latin typeface="Courier New" panose="02070309020205020404" pitchFamily="49" charset="0"/>
                <a:cs typeface="Courier New" panose="02070309020205020404" pitchFamily="49" charset="0"/>
              </a:rPr>
              <a:t>']</a:t>
            </a:r>
          </a:p>
          <a:p>
            <a:pPr>
              <a:spcBef>
                <a:spcPct val="20000"/>
              </a:spcBef>
            </a:pPr>
            <a:r>
              <a:rPr lang="en-GB" sz="1800" dirty="0">
                <a:latin typeface="Courier New" panose="02070309020205020404" pitchFamily="49" charset="0"/>
                <a:cs typeface="Courier New" panose="02070309020205020404" pitchFamily="49" charset="0"/>
              </a:rPr>
              <a:t>print(cheese[1])</a:t>
            </a:r>
          </a:p>
          <a:p>
            <a:pPr>
              <a:spcBef>
                <a:spcPct val="20000"/>
              </a:spcBef>
            </a:pPr>
            <a:r>
              <a:rPr lang="en-GB" sz="1800" dirty="0">
                <a:latin typeface="Courier New" panose="02070309020205020404" pitchFamily="49" charset="0"/>
                <a:cs typeface="Courier New" panose="02070309020205020404" pitchFamily="49" charset="0"/>
              </a:rPr>
              <a:t>cheese[-1] = 'Red Leicester'</a:t>
            </a:r>
          </a:p>
          <a:p>
            <a:pPr>
              <a:spcBef>
                <a:spcPct val="20000"/>
              </a:spcBef>
            </a:pPr>
            <a:r>
              <a:rPr lang="en-GB" sz="1800" dirty="0">
                <a:latin typeface="Courier New" panose="02070309020205020404" pitchFamily="49" charset="0"/>
                <a:cs typeface="Courier New" panose="02070309020205020404" pitchFamily="49" charset="0"/>
              </a:rPr>
              <a:t>print(cheese)</a:t>
            </a:r>
          </a:p>
        </p:txBody>
      </p:sp>
      <p:sp>
        <p:nvSpPr>
          <p:cNvPr id="15367" name="Text Box 8"/>
          <p:cNvSpPr txBox="1">
            <a:spLocks noChangeArrowheads="1"/>
          </p:cNvSpPr>
          <p:nvPr/>
        </p:nvSpPr>
        <p:spPr bwMode="auto">
          <a:xfrm>
            <a:off x="3882392" y="4158405"/>
            <a:ext cx="4960938" cy="590550"/>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dirty="0">
                <a:latin typeface="Courier New" panose="02070309020205020404" pitchFamily="49" charset="0"/>
                <a:cs typeface="Courier New" panose="02070309020205020404" pitchFamily="49" charset="0"/>
              </a:rPr>
              <a:t>Stilton</a:t>
            </a:r>
          </a:p>
          <a:p>
            <a:pPr>
              <a:spcBef>
                <a:spcPct val="0"/>
              </a:spcBef>
            </a:pPr>
            <a:r>
              <a:rPr lang="en-GB" sz="1600" dirty="0">
                <a:latin typeface="Courier New" panose="02070309020205020404" pitchFamily="49" charset="0"/>
                <a:cs typeface="Courier New" panose="02070309020205020404" pitchFamily="49" charset="0"/>
              </a:rPr>
              <a:t>['Cheddar', 'Stilton', 'Red Leicester']</a:t>
            </a:r>
          </a:p>
        </p:txBody>
      </p:sp>
      <p:sp>
        <p:nvSpPr>
          <p:cNvPr id="2" name="Slide Number Placeholder 1">
            <a:extLst>
              <a:ext uri="{FF2B5EF4-FFF2-40B4-BE49-F238E27FC236}">
                <a16:creationId xmlns:a16="http://schemas.microsoft.com/office/drawing/2014/main" id="{628E16E8-6BA2-14A0-199D-6734D6D64E9B}"/>
              </a:ext>
            </a:extLst>
          </p:cNvPr>
          <p:cNvSpPr>
            <a:spLocks noGrp="1"/>
          </p:cNvSpPr>
          <p:nvPr>
            <p:ph type="sldNum" sz="quarter" idx="4"/>
          </p:nvPr>
        </p:nvSpPr>
        <p:spPr/>
        <p:txBody>
          <a:bodyPr/>
          <a:lstStyle/>
          <a:p>
            <a:fld id="{EF892D59-8F09-EF4B-AD6D-DA609442F868}" type="slidenum">
              <a:rPr lang="en-GB" smtClean="0"/>
              <a:pPr/>
              <a:t>11</a:t>
            </a:fld>
            <a:endParaRPr lang="en-GB" dirty="0"/>
          </a:p>
        </p:txBody>
      </p:sp>
    </p:spTree>
    <p:extLst>
      <p:ext uri="{BB962C8B-B14F-4D97-AF65-F5344CB8AC3E}">
        <p14:creationId xmlns:p14="http://schemas.microsoft.com/office/powerpoint/2010/main" val="703079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004990" y="342463"/>
            <a:ext cx="11517818" cy="805001"/>
          </a:xfrm>
        </p:spPr>
        <p:txBody>
          <a:bodyPr/>
          <a:lstStyle/>
          <a:p>
            <a:pPr eaLnBrk="1" hangingPunct="1"/>
            <a:r>
              <a:rPr lang="en-GB" dirty="0"/>
              <a:t>Python tuples introduced</a:t>
            </a:r>
          </a:p>
        </p:txBody>
      </p:sp>
      <p:sp>
        <p:nvSpPr>
          <p:cNvPr id="16387" name="Rectangle 3"/>
          <p:cNvSpPr>
            <a:spLocks noGrp="1" noChangeArrowheads="1"/>
          </p:cNvSpPr>
          <p:nvPr>
            <p:ph idx="1"/>
          </p:nvPr>
        </p:nvSpPr>
        <p:spPr/>
        <p:txBody>
          <a:bodyPr/>
          <a:lstStyle/>
          <a:p>
            <a:r>
              <a:rPr lang="en-GB" b="1" dirty="0"/>
              <a:t>Tuples are </a:t>
            </a:r>
            <a:r>
              <a:rPr lang="en-GB" b="1" i="1" dirty="0"/>
              <a:t>immutable</a:t>
            </a:r>
            <a:r>
              <a:rPr lang="en-GB" b="1" dirty="0"/>
              <a:t> (read-only) objects</a:t>
            </a:r>
          </a:p>
          <a:p>
            <a:pPr marL="457200" lvl="1" indent="-228600">
              <a:buFont typeface="Arial"/>
              <a:buChar char="•"/>
            </a:pPr>
            <a:r>
              <a:rPr lang="en-GB" sz="1800" dirty="0"/>
              <a:t>Specified as a comma-separated list of objects, often inside ( ).</a:t>
            </a:r>
          </a:p>
          <a:p>
            <a:pPr marL="457200" lvl="2" indent="-228600">
              <a:buFont typeface="Arial"/>
              <a:buChar char="•"/>
            </a:pPr>
            <a:r>
              <a:rPr lang="en-GB" sz="1800" dirty="0">
                <a:latin typeface="Montserrat"/>
              </a:rPr>
              <a:t>Can be specified inside ( ) sometimes required for precedence.</a:t>
            </a:r>
          </a:p>
          <a:p>
            <a:pPr marL="457200" lvl="2" indent="-228600">
              <a:buFont typeface="Arial"/>
              <a:buChar char="•"/>
            </a:pPr>
            <a:r>
              <a:rPr lang="en-GB" sz="1800" dirty="0">
                <a:latin typeface="Montserrat"/>
              </a:rPr>
              <a:t>The comma makes a tuple, not the ( ).</a:t>
            </a:r>
          </a:p>
          <a:p>
            <a:pPr marL="457200" lvl="1" indent="-228600">
              <a:buFont typeface="Arial"/>
              <a:buChar char="•"/>
            </a:pPr>
            <a:r>
              <a:rPr lang="en-GB" sz="1800" dirty="0"/>
              <a:t>Can be indexed in the same way as lists.</a:t>
            </a:r>
          </a:p>
          <a:p>
            <a:pPr marL="457200" lvl="2" indent="-228600">
              <a:buFont typeface="Arial"/>
              <a:buChar char="•"/>
            </a:pPr>
            <a:r>
              <a:rPr lang="en-GB" sz="1800" dirty="0">
                <a:latin typeface="Montserrat"/>
              </a:rPr>
              <a:t>Starting from 0 on the left or -1 on the right.</a:t>
            </a:r>
          </a:p>
          <a:p>
            <a:pPr lvl="2"/>
            <a:endParaRPr lang="en-GB" dirty="0"/>
          </a:p>
          <a:p>
            <a:pPr lvl="2"/>
            <a:endParaRPr lang="en-GB" dirty="0"/>
          </a:p>
          <a:p>
            <a:pPr lvl="2">
              <a:buFontTx/>
              <a:buNone/>
            </a:pPr>
            <a:endParaRPr lang="en-GB" dirty="0"/>
          </a:p>
          <a:p>
            <a:pPr lvl="2">
              <a:buFontTx/>
              <a:buNone/>
            </a:pPr>
            <a:endParaRPr lang="en-GB" dirty="0"/>
          </a:p>
          <a:p>
            <a:pPr lvl="1">
              <a:buFont typeface="Arial" panose="020B0604020202020204" pitchFamily="34" charset="0"/>
              <a:buChar char="•"/>
            </a:pPr>
            <a:r>
              <a:rPr lang="en-GB" sz="1800" dirty="0"/>
              <a:t>Can be reassigned, but not altered.</a:t>
            </a:r>
          </a:p>
          <a:p>
            <a:pPr lvl="2"/>
            <a:endParaRPr lang="en-GB" dirty="0"/>
          </a:p>
        </p:txBody>
      </p:sp>
      <p:sp>
        <p:nvSpPr>
          <p:cNvPr id="16388" name="Text Box 5"/>
          <p:cNvSpPr txBox="1">
            <a:spLocks noChangeArrowheads="1"/>
          </p:cNvSpPr>
          <p:nvPr/>
        </p:nvSpPr>
        <p:spPr bwMode="auto">
          <a:xfrm>
            <a:off x="804603" y="3617066"/>
            <a:ext cx="7578334" cy="1200150"/>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err="1">
                <a:latin typeface="Courier New" panose="02070309020205020404" pitchFamily="49" charset="0"/>
                <a:cs typeface="Courier New" panose="02070309020205020404" pitchFamily="49" charset="0"/>
              </a:rPr>
              <a:t>mytuple</a:t>
            </a:r>
            <a:r>
              <a:rPr lang="en-GB" sz="1800" dirty="0">
                <a:latin typeface="Courier New" panose="02070309020205020404" pitchFamily="49" charset="0"/>
                <a:cs typeface="Courier New" panose="02070309020205020404" pitchFamily="49" charset="0"/>
              </a:rPr>
              <a:t> = 'eggs', 'bacon', 'spam', 'tea'</a:t>
            </a:r>
          </a:p>
          <a:p>
            <a:pPr>
              <a:spcBef>
                <a:spcPct val="0"/>
              </a:spcBef>
            </a:pPr>
            <a:r>
              <a:rPr lang="fr-FR" sz="1800" dirty="0" err="1">
                <a:latin typeface="Courier New" panose="02070309020205020404" pitchFamily="49" charset="0"/>
                <a:cs typeface="Courier New" panose="02070309020205020404" pitchFamily="49" charset="0"/>
              </a:rPr>
              <a:t>print</a:t>
            </a:r>
            <a:r>
              <a:rPr lang="fr-FR" sz="1800" dirty="0">
                <a:latin typeface="Courier New" panose="02070309020205020404" pitchFamily="49" charset="0"/>
                <a:cs typeface="Courier New" panose="02070309020205020404" pitchFamily="49" charset="0"/>
              </a:rPr>
              <a:t>(</a:t>
            </a:r>
            <a:r>
              <a:rPr lang="fr-FR" sz="1800" dirty="0" err="1">
                <a:latin typeface="Courier New" panose="02070309020205020404" pitchFamily="49" charset="0"/>
                <a:cs typeface="Courier New" panose="02070309020205020404" pitchFamily="49" charset="0"/>
              </a:rPr>
              <a:t>mytuple</a:t>
            </a:r>
            <a:r>
              <a:rPr lang="fr-FR" sz="1800" dirty="0">
                <a:latin typeface="Courier New" panose="02070309020205020404" pitchFamily="49" charset="0"/>
                <a:cs typeface="Courier New" panose="02070309020205020404" pitchFamily="49" charset="0"/>
              </a:rPr>
              <a:t>)</a:t>
            </a:r>
          </a:p>
          <a:p>
            <a:pPr>
              <a:spcBef>
                <a:spcPct val="0"/>
              </a:spcBef>
            </a:pPr>
            <a:r>
              <a:rPr lang="fr-FR" sz="1800" dirty="0" err="1">
                <a:latin typeface="Courier New" panose="02070309020205020404" pitchFamily="49" charset="0"/>
                <a:cs typeface="Courier New" panose="02070309020205020404" pitchFamily="49" charset="0"/>
              </a:rPr>
              <a:t>print</a:t>
            </a:r>
            <a:r>
              <a:rPr lang="fr-FR" sz="1800" dirty="0">
                <a:latin typeface="Courier New" panose="02070309020205020404" pitchFamily="49" charset="0"/>
                <a:cs typeface="Courier New" panose="02070309020205020404" pitchFamily="49" charset="0"/>
              </a:rPr>
              <a:t>(</a:t>
            </a:r>
            <a:r>
              <a:rPr lang="fr-FR" sz="1800" dirty="0" err="1">
                <a:latin typeface="Courier New" panose="02070309020205020404" pitchFamily="49" charset="0"/>
                <a:cs typeface="Courier New" panose="02070309020205020404" pitchFamily="49" charset="0"/>
              </a:rPr>
              <a:t>mytuple</a:t>
            </a:r>
            <a:r>
              <a:rPr lang="fr-FR" sz="1800" dirty="0">
                <a:latin typeface="Courier New" panose="02070309020205020404" pitchFamily="49" charset="0"/>
                <a:cs typeface="Courier New" panose="02070309020205020404" pitchFamily="49" charset="0"/>
              </a:rPr>
              <a:t>[1])</a:t>
            </a:r>
          </a:p>
          <a:p>
            <a:pPr>
              <a:spcBef>
                <a:spcPct val="0"/>
              </a:spcBef>
            </a:pPr>
            <a:r>
              <a:rPr lang="fr-FR" sz="1800" dirty="0" err="1">
                <a:latin typeface="Courier New" panose="02070309020205020404" pitchFamily="49" charset="0"/>
                <a:cs typeface="Courier New" panose="02070309020205020404" pitchFamily="49" charset="0"/>
              </a:rPr>
              <a:t>print</a:t>
            </a:r>
            <a:r>
              <a:rPr lang="fr-FR" sz="1800" dirty="0">
                <a:latin typeface="Courier New" panose="02070309020205020404" pitchFamily="49" charset="0"/>
                <a:cs typeface="Courier New" panose="02070309020205020404" pitchFamily="49" charset="0"/>
              </a:rPr>
              <a:t>(</a:t>
            </a:r>
            <a:r>
              <a:rPr lang="fr-FR" sz="1800" dirty="0" err="1">
                <a:latin typeface="Courier New" panose="02070309020205020404" pitchFamily="49" charset="0"/>
                <a:cs typeface="Courier New" panose="02070309020205020404" pitchFamily="49" charset="0"/>
              </a:rPr>
              <a:t>mytuple</a:t>
            </a:r>
            <a:r>
              <a:rPr lang="fr-FR" sz="1800" dirty="0">
                <a:latin typeface="Courier New" panose="02070309020205020404" pitchFamily="49" charset="0"/>
                <a:cs typeface="Courier New" panose="02070309020205020404" pitchFamily="49" charset="0"/>
              </a:rPr>
              <a:t>[-1])</a:t>
            </a:r>
            <a:endParaRPr lang="en-GB" sz="1800" dirty="0">
              <a:latin typeface="Courier New" panose="02070309020205020404" pitchFamily="49" charset="0"/>
              <a:cs typeface="Courier New" panose="02070309020205020404" pitchFamily="49" charset="0"/>
            </a:endParaRPr>
          </a:p>
        </p:txBody>
      </p:sp>
      <p:sp>
        <p:nvSpPr>
          <p:cNvPr id="16389" name="Text Box 6"/>
          <p:cNvSpPr txBox="1">
            <a:spLocks noChangeArrowheads="1"/>
          </p:cNvSpPr>
          <p:nvPr/>
        </p:nvSpPr>
        <p:spPr bwMode="auto">
          <a:xfrm>
            <a:off x="803978" y="5605176"/>
            <a:ext cx="7574898" cy="615553"/>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lIns="91440" tIns="45720" rIns="91440" bIns="45720" anchor="t">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err="1">
                <a:latin typeface="Courier New" panose="02070309020205020404" pitchFamily="49" charset="0"/>
                <a:cs typeface="Courier New" panose="02070309020205020404" pitchFamily="49" charset="0"/>
              </a:rPr>
              <a:t>mytuple</a:t>
            </a:r>
            <a:r>
              <a:rPr lang="en-GB" sz="1800" dirty="0">
                <a:latin typeface="Courier New" panose="02070309020205020404" pitchFamily="49" charset="0"/>
                <a:cs typeface="Courier New" panose="02070309020205020404" pitchFamily="49" charset="0"/>
              </a:rPr>
              <a:t>[2] = 'spam'</a:t>
            </a:r>
          </a:p>
          <a:p>
            <a:r>
              <a:rPr lang="en-GB" sz="1600" dirty="0" err="1">
                <a:latin typeface="Courier New"/>
                <a:cs typeface="Courier New"/>
              </a:rPr>
              <a:t>TypeError</a:t>
            </a:r>
            <a:r>
              <a:rPr lang="en-GB" sz="1600" dirty="0">
                <a:latin typeface="Courier New"/>
                <a:cs typeface="Courier New"/>
              </a:rPr>
              <a:t>: 'tuple' object does not support item assignment</a:t>
            </a:r>
          </a:p>
        </p:txBody>
      </p:sp>
      <p:sp>
        <p:nvSpPr>
          <p:cNvPr id="16391" name="Text Box 9"/>
          <p:cNvSpPr txBox="1">
            <a:spLocks noChangeArrowheads="1"/>
          </p:cNvSpPr>
          <p:nvPr/>
        </p:nvSpPr>
        <p:spPr bwMode="auto">
          <a:xfrm>
            <a:off x="5275264" y="4328568"/>
            <a:ext cx="4105275" cy="835025"/>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dirty="0">
                <a:latin typeface="Courier New" panose="02070309020205020404" pitchFamily="49" charset="0"/>
                <a:cs typeface="Courier New" panose="02070309020205020404" pitchFamily="49" charset="0"/>
              </a:rPr>
              <a:t>('eggs', 'bacon', 'spam', 'tea')</a:t>
            </a:r>
          </a:p>
          <a:p>
            <a:pPr>
              <a:spcBef>
                <a:spcPct val="0"/>
              </a:spcBef>
            </a:pPr>
            <a:r>
              <a:rPr lang="en-GB" sz="1600" dirty="0">
                <a:latin typeface="Courier New" panose="02070309020205020404" pitchFamily="49" charset="0"/>
                <a:cs typeface="Courier New" panose="02070309020205020404" pitchFamily="49" charset="0"/>
              </a:rPr>
              <a:t>bacon</a:t>
            </a:r>
          </a:p>
          <a:p>
            <a:pPr>
              <a:spcBef>
                <a:spcPct val="0"/>
              </a:spcBef>
            </a:pPr>
            <a:r>
              <a:rPr lang="en-GB" sz="1600" dirty="0">
                <a:latin typeface="Courier New" panose="02070309020205020404" pitchFamily="49" charset="0"/>
                <a:cs typeface="Courier New" panose="02070309020205020404" pitchFamily="49" charset="0"/>
              </a:rPr>
              <a:t>tea</a:t>
            </a:r>
          </a:p>
        </p:txBody>
      </p:sp>
      <p:sp>
        <p:nvSpPr>
          <p:cNvPr id="2" name="Slide Number Placeholder 1">
            <a:extLst>
              <a:ext uri="{FF2B5EF4-FFF2-40B4-BE49-F238E27FC236}">
                <a16:creationId xmlns:a16="http://schemas.microsoft.com/office/drawing/2014/main" id="{3A047035-FA86-88BD-9A2D-BB30056F7CB3}"/>
              </a:ext>
            </a:extLst>
          </p:cNvPr>
          <p:cNvSpPr>
            <a:spLocks noGrp="1"/>
          </p:cNvSpPr>
          <p:nvPr>
            <p:ph type="sldNum" sz="quarter" idx="4"/>
          </p:nvPr>
        </p:nvSpPr>
        <p:spPr/>
        <p:txBody>
          <a:bodyPr/>
          <a:lstStyle/>
          <a:p>
            <a:fld id="{EF892D59-8F09-EF4B-AD6D-DA609442F868}" type="slidenum">
              <a:rPr lang="en-GB" smtClean="0"/>
              <a:pPr/>
              <a:t>12</a:t>
            </a:fld>
            <a:endParaRPr lang="en-GB" dirty="0"/>
          </a:p>
        </p:txBody>
      </p:sp>
    </p:spTree>
    <p:extLst>
      <p:ext uri="{BB962C8B-B14F-4D97-AF65-F5344CB8AC3E}">
        <p14:creationId xmlns:p14="http://schemas.microsoft.com/office/powerpoint/2010/main" val="34261574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004990" y="317423"/>
            <a:ext cx="11517818" cy="805001"/>
          </a:xfrm>
        </p:spPr>
        <p:txBody>
          <a:bodyPr/>
          <a:lstStyle/>
          <a:p>
            <a:pPr eaLnBrk="1" hangingPunct="1"/>
            <a:r>
              <a:rPr lang="en-GB" dirty="0"/>
              <a:t>Python dictionaries introduced</a:t>
            </a:r>
          </a:p>
        </p:txBody>
      </p:sp>
      <p:sp>
        <p:nvSpPr>
          <p:cNvPr id="17411" name="Rectangle 3"/>
          <p:cNvSpPr>
            <a:spLocks noGrp="1" noChangeArrowheads="1"/>
          </p:cNvSpPr>
          <p:nvPr>
            <p:ph type="body" idx="1"/>
          </p:nvPr>
        </p:nvSpPr>
        <p:spPr/>
        <p:txBody>
          <a:bodyPr/>
          <a:lstStyle/>
          <a:p>
            <a:r>
              <a:rPr lang="en-GB" b="1" dirty="0">
                <a:latin typeface="Montserrat"/>
              </a:rPr>
              <a:t>A Dictionary object is an "ordered" collection of objects [see notes about ordering]</a:t>
            </a:r>
          </a:p>
          <a:p>
            <a:pPr marL="457200" lvl="1" indent="-228600">
              <a:buFont typeface="Arial"/>
              <a:buChar char="•"/>
            </a:pPr>
            <a:r>
              <a:rPr lang="en-GB" dirty="0">
                <a:latin typeface="Montserrat"/>
              </a:rPr>
              <a:t>Constructed from { } or </a:t>
            </a:r>
            <a:r>
              <a:rPr lang="en-GB" dirty="0" err="1">
                <a:latin typeface="Montserrat"/>
              </a:rPr>
              <a:t>dict</a:t>
            </a:r>
            <a:r>
              <a:rPr lang="en-GB" dirty="0">
                <a:latin typeface="Montserrat"/>
              </a:rPr>
              <a:t>().</a:t>
            </a:r>
            <a:endParaRPr lang="en-GB" dirty="0"/>
          </a:p>
          <a:p>
            <a:pPr marL="457200" lvl="1" indent="-228600">
              <a:buFont typeface="Arial"/>
              <a:buChar char="•"/>
            </a:pPr>
            <a:endParaRPr lang="en-GB" dirty="0">
              <a:latin typeface="Montserrat"/>
              <a:cs typeface="Courier New"/>
            </a:endParaRPr>
          </a:p>
          <a:p>
            <a:pPr marL="457200" lvl="2" indent="-228600">
              <a:buFont typeface="Arial"/>
              <a:buChar char="•"/>
            </a:pPr>
            <a:r>
              <a:rPr lang="en-GB" sz="1800" dirty="0">
                <a:latin typeface="Montserrat"/>
              </a:rPr>
              <a:t>A key is a text string, or anything that yields a text string.</a:t>
            </a:r>
          </a:p>
          <a:p>
            <a:pPr marL="457200" lvl="2" indent="-228600">
              <a:buFont typeface="Arial"/>
              <a:buChar char="•"/>
            </a:pPr>
            <a:endParaRPr lang="en-GB" sz="1800" dirty="0">
              <a:latin typeface="Montserrat"/>
            </a:endParaRPr>
          </a:p>
          <a:p>
            <a:pPr marL="457200" lvl="2" indent="-228600">
              <a:buFont typeface="Arial"/>
              <a:buChar char="•"/>
            </a:pPr>
            <a:endParaRPr lang="en-GB" sz="1800" dirty="0">
              <a:latin typeface="Montserrat"/>
            </a:endParaRPr>
          </a:p>
          <a:p>
            <a:pPr marL="457200" lvl="2" indent="-228600">
              <a:buFont typeface="Arial"/>
              <a:buChar char="•"/>
            </a:pPr>
            <a:r>
              <a:rPr lang="en-GB" sz="1800" dirty="0">
                <a:latin typeface="Montserrat"/>
              </a:rPr>
              <a:t>Example:</a:t>
            </a:r>
          </a:p>
        </p:txBody>
      </p:sp>
      <p:sp>
        <p:nvSpPr>
          <p:cNvPr id="17412" name="Text Box 4"/>
          <p:cNvSpPr txBox="1">
            <a:spLocks noChangeArrowheads="1"/>
          </p:cNvSpPr>
          <p:nvPr/>
        </p:nvSpPr>
        <p:spPr bwMode="auto">
          <a:xfrm>
            <a:off x="823132" y="3937832"/>
            <a:ext cx="8069262" cy="2308324"/>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lIns="91440" tIns="45720" rIns="91440" bIns="45720" anchor="t">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cs typeface="Courier New" panose="02070309020205020404" pitchFamily="49" charset="0"/>
              </a:rPr>
              <a:t>mydict = {'</a:t>
            </a:r>
            <a:r>
              <a:rPr lang="en-GB" sz="1800" dirty="0" err="1">
                <a:latin typeface="Courier New" panose="02070309020205020404" pitchFamily="49" charset="0"/>
                <a:cs typeface="Courier New" panose="02070309020205020404" pitchFamily="49" charset="0"/>
              </a:rPr>
              <a:t>Australia':'Canberra</a:t>
            </a:r>
            <a:r>
              <a:rPr lang="en-GB" sz="1800" dirty="0">
                <a:latin typeface="Courier New" panose="02070309020205020404" pitchFamily="49" charset="0"/>
                <a:cs typeface="Courier New" panose="02070309020205020404" pitchFamily="49" charset="0"/>
              </a:rPr>
              <a:t>', '</a:t>
            </a:r>
            <a:r>
              <a:rPr lang="en-GB" sz="1800" dirty="0" err="1">
                <a:latin typeface="Courier New" panose="02070309020205020404" pitchFamily="49" charset="0"/>
                <a:cs typeface="Courier New" panose="02070309020205020404" pitchFamily="49" charset="0"/>
              </a:rPr>
              <a:t>Eire':'Dublin</a:t>
            </a:r>
            <a:r>
              <a:rPr lang="en-GB" sz="1800" dirty="0">
                <a:latin typeface="Courier New" panose="02070309020205020404" pitchFamily="49" charset="0"/>
                <a:cs typeface="Courier New" panose="02070309020205020404" pitchFamily="49" charset="0"/>
              </a:rPr>
              <a:t>',</a:t>
            </a:r>
          </a:p>
          <a:p>
            <a:pPr>
              <a:spcBef>
                <a:spcPct val="0"/>
              </a:spcBef>
            </a:pPr>
            <a:r>
              <a:rPr lang="en-GB" sz="1800" dirty="0">
                <a:latin typeface="Courier New" panose="02070309020205020404" pitchFamily="49" charset="0"/>
                <a:cs typeface="Courier New" panose="02070309020205020404" pitchFamily="49" charset="0"/>
              </a:rPr>
              <a:t>          '</a:t>
            </a:r>
            <a:r>
              <a:rPr lang="en-GB" sz="1800" dirty="0" err="1">
                <a:latin typeface="Courier New" panose="02070309020205020404" pitchFamily="49" charset="0"/>
                <a:cs typeface="Courier New" panose="02070309020205020404" pitchFamily="49" charset="0"/>
              </a:rPr>
              <a:t>France':'Paris</a:t>
            </a:r>
            <a:r>
              <a:rPr lang="en-GB" sz="1800" dirty="0">
                <a:latin typeface="Courier New" panose="02070309020205020404" pitchFamily="49" charset="0"/>
                <a:cs typeface="Courier New" panose="02070309020205020404" pitchFamily="49" charset="0"/>
              </a:rPr>
              <a:t>', '</a:t>
            </a:r>
            <a:r>
              <a:rPr lang="en-GB" sz="1800" dirty="0" err="1">
                <a:latin typeface="Courier New" panose="02070309020205020404" pitchFamily="49" charset="0"/>
                <a:cs typeface="Courier New" panose="02070309020205020404" pitchFamily="49" charset="0"/>
              </a:rPr>
              <a:t>Finland':'Helsinki</a:t>
            </a:r>
            <a:r>
              <a:rPr lang="en-GB" sz="1800" dirty="0">
                <a:latin typeface="Courier New" panose="02070309020205020404" pitchFamily="49" charset="0"/>
                <a:cs typeface="Courier New" panose="02070309020205020404" pitchFamily="49" charset="0"/>
              </a:rPr>
              <a:t>', </a:t>
            </a:r>
          </a:p>
          <a:p>
            <a:pPr>
              <a:spcBef>
                <a:spcPct val="0"/>
              </a:spcBef>
            </a:pPr>
            <a:r>
              <a:rPr lang="en-GB" sz="1800" dirty="0">
                <a:latin typeface="Courier New"/>
                <a:cs typeface="Courier New"/>
              </a:rPr>
              <a:t>          '</a:t>
            </a:r>
            <a:r>
              <a:rPr lang="en-GB" sz="1800" dirty="0" err="1">
                <a:latin typeface="Courier New"/>
                <a:cs typeface="Courier New"/>
              </a:rPr>
              <a:t>UK':'London</a:t>
            </a:r>
            <a:r>
              <a:rPr lang="en-GB" sz="1800" dirty="0">
                <a:latin typeface="Courier New"/>
                <a:cs typeface="Courier New"/>
              </a:rPr>
              <a:t>', '</a:t>
            </a:r>
            <a:r>
              <a:rPr lang="en-GB" sz="1800" dirty="0" err="1">
                <a:latin typeface="Courier New"/>
                <a:cs typeface="Courier New"/>
              </a:rPr>
              <a:t>US':'Washington</a:t>
            </a:r>
            <a:r>
              <a:rPr lang="en-GB" sz="1800" dirty="0">
                <a:latin typeface="Courier New"/>
                <a:cs typeface="Courier New"/>
              </a:rPr>
              <a:t>’</a:t>
            </a:r>
          </a:p>
          <a:p>
            <a:pPr>
              <a:spcBef>
                <a:spcPct val="0"/>
              </a:spcBef>
            </a:pPr>
            <a:r>
              <a:rPr lang="en-GB" sz="1800" dirty="0">
                <a:latin typeface="Courier New"/>
                <a:cs typeface="Courier New"/>
              </a:rPr>
              <a:t>}</a:t>
            </a:r>
            <a:endParaRPr lang="en-GB" dirty="0"/>
          </a:p>
          <a:p>
            <a:pPr>
              <a:spcBef>
                <a:spcPct val="0"/>
              </a:spcBef>
            </a:pPr>
            <a:r>
              <a:rPr lang="en-GB" sz="1800" dirty="0">
                <a:latin typeface="Courier New" panose="02070309020205020404" pitchFamily="49" charset="0"/>
                <a:cs typeface="Courier New" panose="02070309020205020404" pitchFamily="49" charset="0"/>
              </a:rPr>
              <a:t>print(mydict['UK'])</a:t>
            </a:r>
          </a:p>
          <a:p>
            <a:pPr>
              <a:spcBef>
                <a:spcPct val="0"/>
              </a:spcBef>
            </a:pPr>
            <a:endParaRPr lang="en-GB" sz="1800" dirty="0">
              <a:latin typeface="Courier New" panose="02070309020205020404" pitchFamily="49" charset="0"/>
              <a:cs typeface="Courier New" panose="02070309020205020404" pitchFamily="49" charset="0"/>
            </a:endParaRPr>
          </a:p>
          <a:p>
            <a:pPr>
              <a:spcBef>
                <a:spcPct val="0"/>
              </a:spcBef>
            </a:pPr>
            <a:r>
              <a:rPr lang="en-GB" sz="1800" dirty="0">
                <a:latin typeface="Courier New" panose="02070309020205020404" pitchFamily="49" charset="0"/>
                <a:cs typeface="Courier New" panose="02070309020205020404" pitchFamily="49" charset="0"/>
              </a:rPr>
              <a:t>country = 'Iceland'</a:t>
            </a:r>
          </a:p>
          <a:p>
            <a:pPr>
              <a:spcBef>
                <a:spcPct val="0"/>
              </a:spcBef>
            </a:pPr>
            <a:r>
              <a:rPr lang="en-GB" sz="1800" dirty="0">
                <a:latin typeface="Courier New" panose="02070309020205020404" pitchFamily="49" charset="0"/>
                <a:cs typeface="Courier New" panose="02070309020205020404" pitchFamily="49" charset="0"/>
              </a:rPr>
              <a:t>mydict[country] = 'Reykjavik'</a:t>
            </a:r>
          </a:p>
        </p:txBody>
      </p:sp>
      <p:sp>
        <p:nvSpPr>
          <p:cNvPr id="17413" name="Text Box 5"/>
          <p:cNvSpPr txBox="1">
            <a:spLocks noChangeArrowheads="1"/>
          </p:cNvSpPr>
          <p:nvPr/>
        </p:nvSpPr>
        <p:spPr bwMode="auto">
          <a:xfrm>
            <a:off x="6467712" y="5995579"/>
            <a:ext cx="2549525" cy="376238"/>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cs typeface="Courier New" panose="02070309020205020404" pitchFamily="49" charset="0"/>
              </a:rPr>
              <a:t>London</a:t>
            </a:r>
          </a:p>
        </p:txBody>
      </p:sp>
      <p:sp>
        <p:nvSpPr>
          <p:cNvPr id="2" name="Text Box 8">
            <a:extLst>
              <a:ext uri="{FF2B5EF4-FFF2-40B4-BE49-F238E27FC236}">
                <a16:creationId xmlns:a16="http://schemas.microsoft.com/office/drawing/2014/main" id="{C0B3794E-8391-2546-F114-C709668F6736}"/>
              </a:ext>
            </a:extLst>
          </p:cNvPr>
          <p:cNvSpPr txBox="1">
            <a:spLocks noChangeArrowheads="1"/>
          </p:cNvSpPr>
          <p:nvPr/>
        </p:nvSpPr>
        <p:spPr bwMode="auto">
          <a:xfrm>
            <a:off x="824996" y="2092103"/>
            <a:ext cx="8042586" cy="369332"/>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i="1" dirty="0" err="1">
                <a:latin typeface="Courier New"/>
                <a:ea typeface="+mn-lt"/>
                <a:cs typeface="+mn-lt"/>
              </a:rPr>
              <a:t>my</a:t>
            </a:r>
            <a:r>
              <a:rPr lang="en-GB" i="1" dirty="0" err="1">
                <a:latin typeface="Courier New"/>
                <a:ea typeface="+mn-lt"/>
                <a:cs typeface="Courier New"/>
              </a:rPr>
              <a:t>dict</a:t>
            </a:r>
            <a:r>
              <a:rPr lang="en-GB" i="1" dirty="0">
                <a:latin typeface="Courier New"/>
                <a:cs typeface="Courier New"/>
              </a:rPr>
              <a:t> </a:t>
            </a:r>
            <a:r>
              <a:rPr lang="en-GB" b="1" dirty="0">
                <a:latin typeface="Courier New"/>
                <a:cs typeface="Courier New"/>
              </a:rPr>
              <a:t>= {</a:t>
            </a:r>
            <a:r>
              <a:rPr lang="en-GB" b="1" dirty="0">
                <a:latin typeface="Courier New"/>
                <a:ea typeface="+mn-lt"/>
                <a:cs typeface="Courier New"/>
              </a:rPr>
              <a:t>'</a:t>
            </a:r>
            <a:r>
              <a:rPr lang="en-GB" i="1" dirty="0">
                <a:latin typeface="Courier New"/>
                <a:ea typeface="+mn-lt"/>
                <a:cs typeface="+mn-lt"/>
              </a:rPr>
              <a:t>key1</a:t>
            </a:r>
            <a:r>
              <a:rPr lang="en-GB" i="1" dirty="0">
                <a:latin typeface="Courier New"/>
                <a:cs typeface="Courier New"/>
              </a:rPr>
              <a:t>'</a:t>
            </a:r>
            <a:r>
              <a:rPr lang="en-GB" b="1" dirty="0">
                <a:latin typeface="Courier New"/>
                <a:ea typeface="+mn-lt"/>
                <a:cs typeface="Courier New"/>
              </a:rPr>
              <a:t>:</a:t>
            </a:r>
            <a:r>
              <a:rPr lang="en-GB" i="1" dirty="0">
                <a:latin typeface="Courier New"/>
                <a:ea typeface="+mn-lt"/>
                <a:cs typeface="+mn-lt"/>
              </a:rPr>
              <a:t>object1</a:t>
            </a:r>
            <a:r>
              <a:rPr lang="en-GB" b="1" dirty="0">
                <a:latin typeface="Courier New"/>
                <a:cs typeface="Courier New"/>
              </a:rPr>
              <a:t>,</a:t>
            </a:r>
            <a:r>
              <a:rPr lang="en-GB" b="1" dirty="0">
                <a:latin typeface="Courier New"/>
                <a:ea typeface="+mn-lt"/>
                <a:cs typeface="Courier New"/>
              </a:rPr>
              <a:t> '</a:t>
            </a:r>
            <a:r>
              <a:rPr lang="en-GB" i="1" dirty="0">
                <a:latin typeface="Courier New"/>
                <a:ea typeface="+mn-lt"/>
                <a:cs typeface="+mn-lt"/>
              </a:rPr>
              <a:t>key2</a:t>
            </a:r>
            <a:r>
              <a:rPr lang="en-GB" i="1" dirty="0">
                <a:latin typeface="Courier New"/>
                <a:cs typeface="Courier New"/>
              </a:rPr>
              <a:t>'</a:t>
            </a:r>
            <a:r>
              <a:rPr lang="en-GB" b="1" dirty="0">
                <a:latin typeface="Courier New"/>
                <a:ea typeface="+mn-lt"/>
                <a:cs typeface="Courier New"/>
              </a:rPr>
              <a:t>:</a:t>
            </a:r>
            <a:r>
              <a:rPr lang="en-GB" i="1" dirty="0">
                <a:latin typeface="Courier New"/>
                <a:ea typeface="+mn-lt"/>
                <a:cs typeface="+mn-lt"/>
              </a:rPr>
              <a:t>object2</a:t>
            </a:r>
            <a:r>
              <a:rPr lang="en-GB" b="1" dirty="0">
                <a:latin typeface="Courier New"/>
                <a:cs typeface="Courier New"/>
              </a:rPr>
              <a:t>,</a:t>
            </a:r>
            <a:r>
              <a:rPr lang="en-GB" b="1" dirty="0">
                <a:latin typeface="Courier New"/>
                <a:ea typeface="+mn-lt"/>
                <a:cs typeface="Courier New"/>
              </a:rPr>
              <a:t> '</a:t>
            </a:r>
            <a:r>
              <a:rPr lang="en-GB" i="1" dirty="0">
                <a:latin typeface="Courier New"/>
                <a:ea typeface="+mn-lt"/>
                <a:cs typeface="+mn-lt"/>
              </a:rPr>
              <a:t>key3</a:t>
            </a:r>
            <a:r>
              <a:rPr lang="en-GB" i="1" dirty="0">
                <a:latin typeface="Courier New"/>
                <a:cs typeface="Courier New"/>
              </a:rPr>
              <a:t>'</a:t>
            </a:r>
            <a:r>
              <a:rPr lang="en-GB" b="1" dirty="0">
                <a:latin typeface="Courier New"/>
                <a:cs typeface="Courier New"/>
              </a:rPr>
              <a:t>:</a:t>
            </a:r>
            <a:r>
              <a:rPr lang="en-GB" i="1" dirty="0">
                <a:latin typeface="Courier New"/>
                <a:ea typeface="+mn-lt"/>
                <a:cs typeface="+mn-lt"/>
              </a:rPr>
              <a:t>object3</a:t>
            </a:r>
            <a:r>
              <a:rPr lang="en-GB" b="1" dirty="0">
                <a:latin typeface="Courier New"/>
                <a:cs typeface="Courier New"/>
              </a:rPr>
              <a:t>}</a:t>
            </a:r>
            <a:endParaRPr lang="en-GB" dirty="0">
              <a:latin typeface="Courier New"/>
              <a:cs typeface="Courier New"/>
            </a:endParaRPr>
          </a:p>
        </p:txBody>
      </p:sp>
      <p:sp>
        <p:nvSpPr>
          <p:cNvPr id="3" name="Text Box 8">
            <a:extLst>
              <a:ext uri="{FF2B5EF4-FFF2-40B4-BE49-F238E27FC236}">
                <a16:creationId xmlns:a16="http://schemas.microsoft.com/office/drawing/2014/main" id="{47504350-F8BE-88A6-C019-F67A3F3B958C}"/>
              </a:ext>
            </a:extLst>
          </p:cNvPr>
          <p:cNvSpPr txBox="1">
            <a:spLocks noChangeArrowheads="1"/>
          </p:cNvSpPr>
          <p:nvPr/>
        </p:nvSpPr>
        <p:spPr bwMode="auto">
          <a:xfrm>
            <a:off x="824995" y="2920168"/>
            <a:ext cx="3493264" cy="369332"/>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i="1" dirty="0" err="1">
                <a:latin typeface="Courier New"/>
                <a:ea typeface="+mn-lt"/>
                <a:cs typeface="+mn-lt"/>
              </a:rPr>
              <a:t>mydict</a:t>
            </a:r>
            <a:r>
              <a:rPr lang="en-GB" b="1" dirty="0">
                <a:latin typeface="Courier New"/>
                <a:cs typeface="Courier New"/>
              </a:rPr>
              <a:t>[</a:t>
            </a:r>
            <a:r>
              <a:rPr lang="en-GB" b="1" dirty="0">
                <a:latin typeface="Courier New"/>
                <a:ea typeface="+mn-lt"/>
                <a:cs typeface="Courier New"/>
              </a:rPr>
              <a:t>'</a:t>
            </a:r>
            <a:r>
              <a:rPr lang="en-GB" i="1" dirty="0">
                <a:latin typeface="Courier New"/>
                <a:ea typeface="+mn-lt"/>
                <a:cs typeface="+mn-lt"/>
              </a:rPr>
              <a:t>key4</a:t>
            </a:r>
            <a:r>
              <a:rPr lang="en-GB" i="1" dirty="0">
                <a:latin typeface="Courier New"/>
                <a:ea typeface="+mn-lt"/>
                <a:cs typeface="Courier New"/>
              </a:rPr>
              <a:t>'</a:t>
            </a:r>
            <a:r>
              <a:rPr lang="en-GB" b="1" dirty="0">
                <a:latin typeface="Courier New"/>
                <a:cs typeface="Courier New"/>
              </a:rPr>
              <a:t>] =</a:t>
            </a:r>
            <a:r>
              <a:rPr lang="en-GB" b="1" dirty="0">
                <a:latin typeface="Courier New"/>
                <a:ea typeface="+mn-lt"/>
                <a:cs typeface="Courier New"/>
              </a:rPr>
              <a:t> </a:t>
            </a:r>
            <a:r>
              <a:rPr lang="en-GB" i="1" dirty="0">
                <a:latin typeface="Courier New"/>
                <a:ea typeface="+mn-lt"/>
                <a:cs typeface="+mn-lt"/>
              </a:rPr>
              <a:t>object4</a:t>
            </a:r>
            <a:endParaRPr lang="en-US" dirty="0">
              <a:latin typeface="Courier New"/>
              <a:cs typeface="Courier New"/>
            </a:endParaRPr>
          </a:p>
        </p:txBody>
      </p:sp>
      <p:sp>
        <p:nvSpPr>
          <p:cNvPr id="4" name="Slide Number Placeholder 3">
            <a:extLst>
              <a:ext uri="{FF2B5EF4-FFF2-40B4-BE49-F238E27FC236}">
                <a16:creationId xmlns:a16="http://schemas.microsoft.com/office/drawing/2014/main" id="{2E09F0B7-5EC6-CBD3-8D65-5D37B738AD84}"/>
              </a:ext>
            </a:extLst>
          </p:cNvPr>
          <p:cNvSpPr>
            <a:spLocks noGrp="1"/>
          </p:cNvSpPr>
          <p:nvPr>
            <p:ph type="sldNum" sz="quarter" idx="4"/>
          </p:nvPr>
        </p:nvSpPr>
        <p:spPr/>
        <p:txBody>
          <a:bodyPr/>
          <a:lstStyle/>
          <a:p>
            <a:fld id="{EF892D59-8F09-EF4B-AD6D-DA609442F868}" type="slidenum">
              <a:rPr lang="en-GB" smtClean="0"/>
              <a:pPr/>
              <a:t>13</a:t>
            </a:fld>
            <a:endParaRPr lang="en-GB" dirty="0"/>
          </a:p>
        </p:txBody>
      </p:sp>
    </p:spTree>
    <p:extLst>
      <p:ext uri="{BB962C8B-B14F-4D97-AF65-F5344CB8AC3E}">
        <p14:creationId xmlns:p14="http://schemas.microsoft.com/office/powerpoint/2010/main" val="18719368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81667" name="Rectangle 3"/>
          <p:cNvSpPr>
            <a:spLocks noGrp="1" noChangeArrowheads="1"/>
          </p:cNvSpPr>
          <p:nvPr>
            <p:ph type="body" sz="quarter" idx="10"/>
          </p:nvPr>
        </p:nvSpPr>
        <p:spPr/>
        <p:txBody>
          <a:bodyPr/>
          <a:lstStyle/>
          <a:p>
            <a:pPr>
              <a:lnSpc>
                <a:spcPct val="110000"/>
              </a:lnSpc>
            </a:pPr>
            <a:r>
              <a:rPr lang="en-GB" dirty="0"/>
              <a:t>Summary</a:t>
            </a:r>
          </a:p>
        </p:txBody>
      </p:sp>
      <p:sp>
        <p:nvSpPr>
          <p:cNvPr id="2" name="Text Placeholder 1">
            <a:extLst>
              <a:ext uri="{FF2B5EF4-FFF2-40B4-BE49-F238E27FC236}">
                <a16:creationId xmlns:a16="http://schemas.microsoft.com/office/drawing/2014/main" id="{332B793C-A20F-4CD7-8DBC-3B1BEDFD1110}"/>
              </a:ext>
            </a:extLst>
          </p:cNvPr>
          <p:cNvSpPr>
            <a:spLocks noGrp="1"/>
          </p:cNvSpPr>
          <p:nvPr>
            <p:ph type="body" sz="quarter" idx="15"/>
          </p:nvPr>
        </p:nvSpPr>
        <p:spPr>
          <a:xfrm>
            <a:off x="4789910" y="720226"/>
            <a:ext cx="7147149" cy="5112343"/>
          </a:xfrm>
        </p:spPr>
        <p:txBody>
          <a:bodyPr/>
          <a:lstStyle/>
          <a:p>
            <a:pPr marL="228600" indent="-228600">
              <a:lnSpc>
                <a:spcPct val="110000"/>
              </a:lnSpc>
              <a:spcBef>
                <a:spcPts val="600"/>
              </a:spcBef>
            </a:pPr>
            <a:r>
              <a:rPr lang="en-GB" sz="2000" b="1" dirty="0"/>
              <a:t>A Python variable is a reference to an object.</a:t>
            </a:r>
            <a:endParaRPr lang="en-US" sz="2000" dirty="0"/>
          </a:p>
          <a:p>
            <a:pPr marL="228600" indent="-228600">
              <a:lnSpc>
                <a:spcPct val="110000"/>
              </a:lnSpc>
              <a:spcBef>
                <a:spcPts val="600"/>
              </a:spcBef>
            </a:pPr>
            <a:r>
              <a:rPr lang="en-GB" sz="2000" b="1" dirty="0"/>
              <a:t>Python variable names are case-sensitive</a:t>
            </a:r>
          </a:p>
          <a:p>
            <a:pPr marL="457200" lvl="2" indent="-228600">
              <a:spcBef>
                <a:spcPts val="600"/>
              </a:spcBef>
            </a:pPr>
            <a:r>
              <a:rPr lang="en-GB" dirty="0">
                <a:latin typeface="Montserrat"/>
              </a:rPr>
              <a:t>Watch out for leading underscores.</a:t>
            </a:r>
          </a:p>
          <a:p>
            <a:pPr marL="228600" indent="-228600">
              <a:lnSpc>
                <a:spcPct val="110000"/>
              </a:lnSpc>
              <a:spcBef>
                <a:spcPts val="600"/>
              </a:spcBef>
            </a:pPr>
            <a:r>
              <a:rPr lang="en-GB" sz="2000" b="1" dirty="0"/>
              <a:t>Variables are accessed using operators and methods.</a:t>
            </a:r>
          </a:p>
          <a:p>
            <a:pPr marL="457200" lvl="2" indent="-228600">
              <a:spcBef>
                <a:spcPts val="600"/>
              </a:spcBef>
            </a:pPr>
            <a:r>
              <a:rPr lang="en-GB" dirty="0" err="1">
                <a:latin typeface="Courier New"/>
                <a:cs typeface="Courier New"/>
              </a:rPr>
              <a:t>dir</a:t>
            </a:r>
            <a:r>
              <a:rPr lang="en-GB" dirty="0">
                <a:latin typeface="Courier New"/>
                <a:cs typeface="Courier New"/>
              </a:rPr>
              <a:t>(</a:t>
            </a:r>
            <a:r>
              <a:rPr lang="en-GB" i="1" dirty="0">
                <a:latin typeface="Montserrat"/>
              </a:rPr>
              <a:t>object</a:t>
            </a:r>
            <a:r>
              <a:rPr lang="en-GB" dirty="0">
                <a:latin typeface="Courier New"/>
                <a:cs typeface="Courier New"/>
              </a:rPr>
              <a:t>)</a:t>
            </a:r>
            <a:r>
              <a:rPr lang="en-GB" dirty="0">
                <a:latin typeface="Montserrat"/>
              </a:rPr>
              <a:t> lists the methods available.</a:t>
            </a:r>
          </a:p>
          <a:p>
            <a:pPr marL="228600" indent="-228600">
              <a:lnSpc>
                <a:spcPct val="110000"/>
              </a:lnSpc>
              <a:spcBef>
                <a:spcPts val="600"/>
              </a:spcBef>
            </a:pPr>
            <a:r>
              <a:rPr lang="en-GB" sz="2000" b="1" dirty="0"/>
              <a:t>Lists are like arrays in other languages.</a:t>
            </a:r>
          </a:p>
          <a:p>
            <a:pPr marL="228600" indent="-228600">
              <a:lnSpc>
                <a:spcPct val="110000"/>
              </a:lnSpc>
              <a:spcBef>
                <a:spcPts val="600"/>
              </a:spcBef>
            </a:pPr>
            <a:r>
              <a:rPr lang="en-GB" sz="2000" b="1" dirty="0"/>
              <a:t>Tuples are "immutable’.</a:t>
            </a:r>
          </a:p>
          <a:p>
            <a:pPr marL="457200" lvl="2" indent="-228600">
              <a:spcBef>
                <a:spcPts val="600"/>
              </a:spcBef>
            </a:pPr>
            <a:r>
              <a:rPr lang="en-GB" dirty="0"/>
              <a:t>But can contain variables.</a:t>
            </a:r>
          </a:p>
          <a:p>
            <a:pPr marL="228600" indent="-228600">
              <a:lnSpc>
                <a:spcPct val="110000"/>
              </a:lnSpc>
              <a:spcBef>
                <a:spcPts val="600"/>
              </a:spcBef>
            </a:pPr>
            <a:r>
              <a:rPr lang="en-GB" sz="2000" b="1" dirty="0"/>
              <a:t>Dictionaries store objects accessed by keys:</a:t>
            </a:r>
          </a:p>
          <a:p>
            <a:pPr marL="457200" lvl="4" indent="-228600">
              <a:spcBef>
                <a:spcPts val="600"/>
              </a:spcBef>
            </a:pPr>
            <a:r>
              <a:rPr lang="en-GB" dirty="0"/>
              <a:t>Keys are unique.</a:t>
            </a:r>
          </a:p>
          <a:p>
            <a:pPr marL="457200" lvl="4" indent="-228600">
              <a:spcBef>
                <a:spcPts val="600"/>
              </a:spcBef>
            </a:pPr>
            <a:r>
              <a:rPr lang="en-GB" dirty="0"/>
              <a:t>Keys are not ordered.</a:t>
            </a:r>
          </a:p>
          <a:p>
            <a:pPr>
              <a:spcBef>
                <a:spcPts val="600"/>
              </a:spcBef>
            </a:pPr>
            <a:endParaRPr lang="en-GB" sz="2000" dirty="0"/>
          </a:p>
        </p:txBody>
      </p:sp>
      <p:sp>
        <p:nvSpPr>
          <p:cNvPr id="3" name="Slide Number Placeholder 2">
            <a:extLst>
              <a:ext uri="{FF2B5EF4-FFF2-40B4-BE49-F238E27FC236}">
                <a16:creationId xmlns:a16="http://schemas.microsoft.com/office/drawing/2014/main" id="{02E6A830-2870-9C12-A6C4-E8C35DB0E16C}"/>
              </a:ext>
            </a:extLst>
          </p:cNvPr>
          <p:cNvSpPr>
            <a:spLocks noGrp="1"/>
          </p:cNvSpPr>
          <p:nvPr>
            <p:ph type="sldNum" sz="quarter" idx="4"/>
          </p:nvPr>
        </p:nvSpPr>
        <p:spPr/>
        <p:txBody>
          <a:bodyPr/>
          <a:lstStyle/>
          <a:p>
            <a:fld id="{EF892D59-8F09-EF4B-AD6D-DA609442F868}" type="slidenum">
              <a:rPr lang="en-GB" smtClean="0"/>
              <a:pPr/>
              <a:t>14</a:t>
            </a:fld>
            <a:endParaRPr lang="en-GB"/>
          </a:p>
        </p:txBody>
      </p:sp>
    </p:spTree>
    <p:extLst>
      <p:ext uri="{BB962C8B-B14F-4D97-AF65-F5344CB8AC3E}">
        <p14:creationId xmlns:p14="http://schemas.microsoft.com/office/powerpoint/2010/main" val="427508635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2000"/>
                                  </p:stCondLst>
                                  <p:childTnLst>
                                    <p:set>
                                      <p:cBhvr>
                                        <p:cTn id="6" dur="1" fill="hold">
                                          <p:stCondLst>
                                            <p:cond delay="0"/>
                                          </p:stCondLst>
                                        </p:cTn>
                                        <p:tgtEl>
                                          <p:spTgt spid="881667">
                                            <p:txEl>
                                              <p:pRg st="0" end="0"/>
                                            </p:txEl>
                                          </p:spTgt>
                                        </p:tgtEl>
                                        <p:attrNameLst>
                                          <p:attrName>style.visibility</p:attrName>
                                        </p:attrNameLst>
                                      </p:cBhvr>
                                      <p:to>
                                        <p:strVal val="visible"/>
                                      </p:to>
                                    </p:set>
                                    <p:animEffect transition="in" filter="slide(fromTop)">
                                      <p:cBhvr>
                                        <p:cTn id="7" dur="500"/>
                                        <p:tgtEl>
                                          <p:spTgt spid="88166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1667" grpId="0" build="p" autoUpdateAnimBg="0" advAuto="200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2209800" y="6248400"/>
            <a:ext cx="19050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anchor="ctr"/>
          <a:lstStyle/>
          <a:p>
            <a:endParaRPr lang="en-US"/>
          </a:p>
        </p:txBody>
      </p:sp>
      <p:sp>
        <p:nvSpPr>
          <p:cNvPr id="2" name="Text Placeholder 1">
            <a:extLst>
              <a:ext uri="{FF2B5EF4-FFF2-40B4-BE49-F238E27FC236}">
                <a16:creationId xmlns:a16="http://schemas.microsoft.com/office/drawing/2014/main" id="{E699DCF4-3F4C-2868-6B67-8AF9E82BAB56}"/>
              </a:ext>
            </a:extLst>
          </p:cNvPr>
          <p:cNvSpPr>
            <a:spLocks noGrp="1"/>
          </p:cNvSpPr>
          <p:nvPr>
            <p:ph type="body" sz="quarter" idx="10"/>
          </p:nvPr>
        </p:nvSpPr>
        <p:spPr>
          <a:xfrm>
            <a:off x="409768" y="875296"/>
            <a:ext cx="3443732" cy="2751998"/>
          </a:xfrm>
        </p:spPr>
        <p:txBody>
          <a:bodyPr/>
          <a:lstStyle/>
          <a:p>
            <a:r>
              <a:rPr lang="en-GB" dirty="0">
                <a:solidFill>
                  <a:schemeClr val="tx1"/>
                </a:solidFill>
              </a:rPr>
              <a:t>Python operators</a:t>
            </a:r>
            <a:endParaRPr lang="en-US" dirty="0">
              <a:solidFill>
                <a:schemeClr val="tx1"/>
              </a:solidFill>
            </a:endParaRPr>
          </a:p>
          <a:p>
            <a:endParaRPr lang="en-GB" dirty="0">
              <a:solidFill>
                <a:schemeClr val="tx1"/>
              </a:solidFill>
            </a:endParaRPr>
          </a:p>
        </p:txBody>
      </p:sp>
      <p:sp>
        <p:nvSpPr>
          <p:cNvPr id="3" name="Text Placeholder 2">
            <a:extLst>
              <a:ext uri="{FF2B5EF4-FFF2-40B4-BE49-F238E27FC236}">
                <a16:creationId xmlns:a16="http://schemas.microsoft.com/office/drawing/2014/main" id="{30C813D1-F3D9-1BE0-77E6-F69DE9E4FDC5}"/>
              </a:ext>
            </a:extLst>
          </p:cNvPr>
          <p:cNvSpPr>
            <a:spLocks noGrp="1"/>
          </p:cNvSpPr>
          <p:nvPr>
            <p:ph type="body" sz="quarter" idx="15"/>
          </p:nvPr>
        </p:nvSpPr>
        <p:spPr/>
        <p:txBody>
          <a:bodyPr/>
          <a:lstStyle/>
          <a:p>
            <a:endParaRPr lang="en-GB"/>
          </a:p>
        </p:txBody>
      </p:sp>
      <p:sp>
        <p:nvSpPr>
          <p:cNvPr id="19461" name="AutoShape 6"/>
          <p:cNvSpPr>
            <a:spLocks noChangeArrowheads="1"/>
          </p:cNvSpPr>
          <p:nvPr/>
        </p:nvSpPr>
        <p:spPr bwMode="auto">
          <a:xfrm>
            <a:off x="4795734" y="879313"/>
            <a:ext cx="6993754" cy="5431842"/>
          </a:xfrm>
          <a:prstGeom prst="roundRect">
            <a:avLst>
              <a:gd name="adj" fmla="val 16667"/>
            </a:avLst>
          </a:prstGeom>
          <a:solidFill>
            <a:schemeClr val="bg2">
              <a:lumMod val="20000"/>
              <a:lumOff val="80000"/>
            </a:schemeClr>
          </a:solidFill>
          <a:ln w="12700">
            <a:solidFill>
              <a:schemeClr val="tx1"/>
            </a:solidFill>
            <a:round/>
            <a:headEnd/>
            <a:tailEnd/>
          </a:ln>
        </p:spPr>
        <p:txBody>
          <a:bodyPr wrap="square" lIns="90488" tIns="44450" rIns="90488" bIns="44450" anchor="t">
            <a:spAutoFit/>
          </a:bodyPr>
          <a:lstStyle/>
          <a:p>
            <a:pPr>
              <a:spcBef>
                <a:spcPct val="10000"/>
              </a:spcBef>
            </a:pPr>
            <a:r>
              <a:rPr lang="en-GB" b="1" dirty="0">
                <a:solidFill>
                  <a:srgbClr val="0000FF"/>
                </a:solidFill>
                <a:latin typeface="Courier New" panose="02070309020205020404" pitchFamily="49" charset="0"/>
                <a:cs typeface="Courier New" panose="02070309020205020404" pitchFamily="49" charset="0"/>
              </a:rPr>
              <a:t>or	</a:t>
            </a:r>
            <a:r>
              <a:rPr lang="en-GB" b="1" dirty="0">
                <a:latin typeface="Courier New" pitchFamily="49" charset="0"/>
              </a:rPr>
              <a:t>		</a:t>
            </a:r>
            <a:r>
              <a:rPr lang="en-GB" b="1" dirty="0"/>
              <a:t>logical OR</a:t>
            </a:r>
          </a:p>
          <a:p>
            <a:pPr>
              <a:spcBef>
                <a:spcPct val="10000"/>
              </a:spcBef>
            </a:pPr>
            <a:r>
              <a:rPr lang="en-GB" b="1" dirty="0">
                <a:solidFill>
                  <a:srgbClr val="0000FF"/>
                </a:solidFill>
                <a:latin typeface="Courier New" panose="02070309020205020404" pitchFamily="49" charset="0"/>
                <a:cs typeface="Courier New" panose="02070309020205020404" pitchFamily="49" charset="0"/>
              </a:rPr>
              <a:t>and	</a:t>
            </a:r>
            <a:r>
              <a:rPr lang="en-GB" b="1" dirty="0">
                <a:solidFill>
                  <a:srgbClr val="0000FF"/>
                </a:solidFill>
              </a:rPr>
              <a:t>		</a:t>
            </a:r>
            <a:r>
              <a:rPr lang="en-GB" b="1" dirty="0"/>
              <a:t>logical AND</a:t>
            </a:r>
          </a:p>
          <a:p>
            <a:pPr>
              <a:spcBef>
                <a:spcPct val="10000"/>
              </a:spcBef>
            </a:pPr>
            <a:r>
              <a:rPr lang="en-GB" b="1" dirty="0">
                <a:solidFill>
                  <a:srgbClr val="0000FF"/>
                </a:solidFill>
                <a:latin typeface="Courier New" panose="02070309020205020404" pitchFamily="49" charset="0"/>
                <a:cs typeface="Courier New" panose="02070309020205020404" pitchFamily="49" charset="0"/>
              </a:rPr>
              <a:t>not	</a:t>
            </a:r>
            <a:r>
              <a:rPr lang="en-GB" b="1" dirty="0">
                <a:solidFill>
                  <a:srgbClr val="0000FF"/>
                </a:solidFill>
              </a:rPr>
              <a:t>		</a:t>
            </a:r>
            <a:r>
              <a:rPr lang="en-GB" b="1" dirty="0"/>
              <a:t>logical NOT</a:t>
            </a:r>
          </a:p>
          <a:p>
            <a:pPr>
              <a:spcBef>
                <a:spcPct val="10000"/>
              </a:spcBef>
            </a:pPr>
            <a:r>
              <a:rPr lang="en-GB" b="1" dirty="0">
                <a:solidFill>
                  <a:srgbClr val="0000FF"/>
                </a:solidFill>
                <a:latin typeface="Courier New" panose="02070309020205020404" pitchFamily="49" charset="0"/>
                <a:cs typeface="Courier New" panose="02070309020205020404" pitchFamily="49" charset="0"/>
              </a:rPr>
              <a:t>&lt; &lt;= &gt; &gt;=</a:t>
            </a:r>
            <a:r>
              <a:rPr lang="en-GB" b="1" dirty="0">
                <a:solidFill>
                  <a:srgbClr val="0000FF"/>
                </a:solidFill>
              </a:rPr>
              <a:t>		</a:t>
            </a:r>
            <a:r>
              <a:rPr lang="en-GB" b="1" dirty="0"/>
              <a:t>comparison operators</a:t>
            </a:r>
          </a:p>
          <a:p>
            <a:pPr>
              <a:spcBef>
                <a:spcPct val="10000"/>
              </a:spcBef>
            </a:pPr>
            <a:r>
              <a:rPr lang="en-GB" b="1" dirty="0">
                <a:solidFill>
                  <a:srgbClr val="0000FF"/>
                </a:solidFill>
                <a:latin typeface="Courier New" panose="02070309020205020404" pitchFamily="49" charset="0"/>
                <a:cs typeface="Courier New" panose="02070309020205020404" pitchFamily="49" charset="0"/>
              </a:rPr>
              <a:t>== !=	</a:t>
            </a:r>
            <a:r>
              <a:rPr lang="en-GB" b="1" dirty="0">
                <a:solidFill>
                  <a:srgbClr val="0000FF"/>
                </a:solidFill>
              </a:rPr>
              <a:t>		</a:t>
            </a:r>
            <a:r>
              <a:rPr lang="en-GB" b="1" dirty="0"/>
              <a:t>equality operators</a:t>
            </a:r>
          </a:p>
          <a:p>
            <a:pPr>
              <a:spcBef>
                <a:spcPct val="10000"/>
              </a:spcBef>
            </a:pPr>
            <a:r>
              <a:rPr lang="en-GB" b="1" dirty="0">
                <a:solidFill>
                  <a:srgbClr val="0000C8"/>
                </a:solidFill>
                <a:latin typeface="Courier New" panose="02070309020205020404" pitchFamily="49" charset="0"/>
                <a:cs typeface="Courier New" panose="02070309020205020404" pitchFamily="49" charset="0"/>
              </a:rPr>
              <a:t>is</a:t>
            </a:r>
            <a:r>
              <a:rPr lang="en-GB" b="1" dirty="0">
                <a:latin typeface="Courier New" panose="02070309020205020404" pitchFamily="49" charset="0"/>
                <a:cs typeface="Courier New" panose="02070309020205020404" pitchFamily="49" charset="0"/>
              </a:rPr>
              <a:t>	</a:t>
            </a:r>
            <a:r>
              <a:rPr lang="en-GB" b="1" dirty="0"/>
              <a:t>		object identity test</a:t>
            </a:r>
          </a:p>
          <a:p>
            <a:pPr>
              <a:spcBef>
                <a:spcPct val="10000"/>
              </a:spcBef>
            </a:pPr>
            <a:r>
              <a:rPr lang="en-GB" b="1" dirty="0">
                <a:solidFill>
                  <a:srgbClr val="0000C8"/>
                </a:solidFill>
                <a:latin typeface="Courier New" panose="02070309020205020404" pitchFamily="49" charset="0"/>
                <a:cs typeface="Courier New" panose="02070309020205020404" pitchFamily="49" charset="0"/>
              </a:rPr>
              <a:t>in	</a:t>
            </a:r>
            <a:r>
              <a:rPr lang="en-GB" b="1" dirty="0"/>
              <a:t>		object membership test</a:t>
            </a:r>
          </a:p>
          <a:p>
            <a:pPr>
              <a:spcBef>
                <a:spcPct val="10000"/>
              </a:spcBef>
            </a:pPr>
            <a:r>
              <a:rPr lang="en-GB" b="1" dirty="0">
                <a:solidFill>
                  <a:srgbClr val="0000FF"/>
                </a:solidFill>
                <a:latin typeface="Courier New" panose="02070309020205020404" pitchFamily="49" charset="0"/>
                <a:cs typeface="Courier New" panose="02070309020205020404" pitchFamily="49" charset="0"/>
              </a:rPr>
              <a:t>|  ^</a:t>
            </a:r>
            <a:r>
              <a:rPr lang="en-GB" b="1" dirty="0">
                <a:latin typeface="Courier New" panose="02070309020205020404" pitchFamily="49" charset="0"/>
                <a:cs typeface="Courier New" panose="02070309020205020404" pitchFamily="49" charset="0"/>
              </a:rPr>
              <a:t>	</a:t>
            </a:r>
            <a:r>
              <a:rPr lang="en-GB" b="1" dirty="0"/>
              <a:t>		binary OR, XOR</a:t>
            </a:r>
          </a:p>
          <a:p>
            <a:pPr>
              <a:spcBef>
                <a:spcPct val="10000"/>
              </a:spcBef>
            </a:pPr>
            <a:r>
              <a:rPr lang="en-GB" b="1" dirty="0">
                <a:solidFill>
                  <a:srgbClr val="0000FF"/>
                </a:solidFill>
                <a:latin typeface="Courier New" panose="02070309020205020404" pitchFamily="49" charset="0"/>
                <a:cs typeface="Courier New" panose="02070309020205020404" pitchFamily="49" charset="0"/>
              </a:rPr>
              <a:t>&amp;</a:t>
            </a:r>
            <a:r>
              <a:rPr lang="en-GB" b="1" dirty="0">
                <a:latin typeface="Courier New" panose="02070309020205020404" pitchFamily="49" charset="0"/>
                <a:cs typeface="Courier New" panose="02070309020205020404" pitchFamily="49" charset="0"/>
              </a:rPr>
              <a:t>	</a:t>
            </a:r>
            <a:r>
              <a:rPr lang="en-GB" b="1" dirty="0"/>
              <a:t>		binary AND</a:t>
            </a:r>
          </a:p>
          <a:p>
            <a:pPr>
              <a:spcBef>
                <a:spcPct val="10000"/>
              </a:spcBef>
            </a:pPr>
            <a:r>
              <a:rPr lang="en-GB" b="1" dirty="0">
                <a:solidFill>
                  <a:srgbClr val="0000FF"/>
                </a:solidFill>
                <a:latin typeface="Courier New" panose="02070309020205020404" pitchFamily="49" charset="0"/>
                <a:cs typeface="Courier New" panose="02070309020205020404" pitchFamily="49" charset="0"/>
              </a:rPr>
              <a:t>&lt;&lt;  &gt;&gt;	</a:t>
            </a:r>
            <a:r>
              <a:rPr lang="en-GB" b="1" dirty="0"/>
              <a:t>		binary shift</a:t>
            </a:r>
            <a:endParaRPr lang="en-GB" b="1" i="1" dirty="0"/>
          </a:p>
          <a:p>
            <a:pPr>
              <a:spcBef>
                <a:spcPct val="10000"/>
              </a:spcBef>
            </a:pPr>
            <a:r>
              <a:rPr lang="en-GB" b="1" dirty="0">
                <a:solidFill>
                  <a:srgbClr val="0000FF"/>
                </a:solidFill>
                <a:latin typeface="Courier New" panose="02070309020205020404" pitchFamily="49" charset="0"/>
                <a:cs typeface="Courier New" panose="02070309020205020404" pitchFamily="49" charset="0"/>
              </a:rPr>
              <a:t>- +	</a:t>
            </a:r>
            <a:r>
              <a:rPr lang="en-GB" b="1" dirty="0">
                <a:solidFill>
                  <a:srgbClr val="0000FF"/>
                </a:solidFill>
              </a:rPr>
              <a:t>	</a:t>
            </a:r>
            <a:r>
              <a:rPr lang="en-GB" b="1" dirty="0"/>
              <a:t>	subtract, add</a:t>
            </a:r>
          </a:p>
          <a:p>
            <a:pPr marL="2571750" indent="-2571750">
              <a:spcBef>
                <a:spcPct val="10000"/>
              </a:spcBef>
            </a:pPr>
            <a:r>
              <a:rPr lang="en-GB" b="1" dirty="0">
                <a:solidFill>
                  <a:srgbClr val="0000FF"/>
                </a:solidFill>
                <a:latin typeface="Courier New" panose="02070309020205020404" pitchFamily="49" charset="0"/>
                <a:cs typeface="Courier New" panose="02070309020205020404" pitchFamily="49" charset="0"/>
              </a:rPr>
              <a:t>*  / // %</a:t>
            </a:r>
            <a:r>
              <a:rPr lang="en-GB" b="1" dirty="0">
                <a:latin typeface="Courier New" pitchFamily="49" charset="0"/>
              </a:rPr>
              <a:t>		</a:t>
            </a:r>
            <a:r>
              <a:rPr lang="en-GB" b="1" dirty="0"/>
              <a:t>multiply, divide, integer-divide, modulo</a:t>
            </a:r>
          </a:p>
          <a:p>
            <a:pPr>
              <a:spcBef>
                <a:spcPct val="10000"/>
              </a:spcBef>
            </a:pPr>
            <a:r>
              <a:rPr lang="en-GB" b="1" dirty="0">
                <a:solidFill>
                  <a:srgbClr val="0000FF"/>
                </a:solidFill>
                <a:latin typeface="Courier New"/>
                <a:cs typeface="Courier New"/>
              </a:rPr>
              <a:t>@</a:t>
            </a:r>
            <a:r>
              <a:rPr lang="en-GB" b="1" dirty="0"/>
              <a:t>			matrix multiplication (3.5)</a:t>
            </a:r>
          </a:p>
          <a:p>
            <a:pPr>
              <a:spcBef>
                <a:spcPct val="10000"/>
              </a:spcBef>
            </a:pPr>
            <a:r>
              <a:rPr lang="en-GB" b="1" dirty="0">
                <a:solidFill>
                  <a:srgbClr val="0000FF"/>
                </a:solidFill>
                <a:latin typeface="Courier New" panose="02070309020205020404" pitchFamily="49" charset="0"/>
                <a:cs typeface="Courier New" panose="02070309020205020404" pitchFamily="49" charset="0"/>
              </a:rPr>
              <a:t>~ **	</a:t>
            </a:r>
            <a:r>
              <a:rPr lang="en-GB" b="1" dirty="0"/>
              <a:t>		complement, exponentiation</a:t>
            </a:r>
          </a:p>
          <a:p>
            <a:pPr>
              <a:spcBef>
                <a:spcPct val="10000"/>
              </a:spcBef>
            </a:pPr>
            <a:r>
              <a:rPr lang="en-GB" b="1" dirty="0">
                <a:solidFill>
                  <a:srgbClr val="0000FF"/>
                </a:solidFill>
                <a:latin typeface="Courier New"/>
                <a:cs typeface="Courier New"/>
              </a:rPr>
              <a:t>await</a:t>
            </a:r>
            <a:r>
              <a:rPr lang="en-GB" b="1" dirty="0"/>
              <a:t>			await expression (3.5)</a:t>
            </a:r>
          </a:p>
        </p:txBody>
      </p:sp>
      <p:sp>
        <p:nvSpPr>
          <p:cNvPr id="4" name="Slide Number Placeholder 3">
            <a:extLst>
              <a:ext uri="{FF2B5EF4-FFF2-40B4-BE49-F238E27FC236}">
                <a16:creationId xmlns:a16="http://schemas.microsoft.com/office/drawing/2014/main" id="{7C9CD8B3-66C2-2855-0FEA-5CB44AA93762}"/>
              </a:ext>
            </a:extLst>
          </p:cNvPr>
          <p:cNvSpPr>
            <a:spLocks noGrp="1"/>
          </p:cNvSpPr>
          <p:nvPr>
            <p:ph type="sldNum" sz="quarter" idx="4"/>
          </p:nvPr>
        </p:nvSpPr>
        <p:spPr/>
        <p:txBody>
          <a:bodyPr/>
          <a:lstStyle/>
          <a:p>
            <a:fld id="{EF892D59-8F09-EF4B-AD6D-DA609442F868}" type="slidenum">
              <a:rPr lang="en-GB" smtClean="0"/>
              <a:pPr/>
              <a:t>15</a:t>
            </a:fld>
            <a:endParaRPr lang="en-GB" dirty="0"/>
          </a:p>
        </p:txBody>
      </p:sp>
    </p:spTree>
    <p:extLst>
      <p:ext uri="{BB962C8B-B14F-4D97-AF65-F5344CB8AC3E}">
        <p14:creationId xmlns:p14="http://schemas.microsoft.com/office/powerpoint/2010/main" val="3424342128"/>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body" sz="quarter" idx="10"/>
          </p:nvPr>
        </p:nvSpPr>
        <p:spPr/>
        <p:txBody>
          <a:bodyPr/>
          <a:lstStyle/>
          <a:p>
            <a:r>
              <a:rPr lang="en-GB" dirty="0">
                <a:solidFill>
                  <a:schemeClr val="tx1"/>
                </a:solidFill>
              </a:rPr>
              <a:t>Python reserved words</a:t>
            </a:r>
            <a:endParaRPr lang="en-US" dirty="0">
              <a:solidFill>
                <a:schemeClr val="tx1"/>
              </a:solidFill>
            </a:endParaRPr>
          </a:p>
          <a:p>
            <a:endParaRPr lang="en-GB" sz="1800" dirty="0">
              <a:solidFill>
                <a:schemeClr val="tx1"/>
              </a:solidFill>
            </a:endParaRPr>
          </a:p>
        </p:txBody>
      </p:sp>
      <p:sp>
        <p:nvSpPr>
          <p:cNvPr id="20484" name="Text Box 4"/>
          <p:cNvSpPr txBox="1">
            <a:spLocks noChangeArrowheads="1"/>
          </p:cNvSpPr>
          <p:nvPr/>
        </p:nvSpPr>
        <p:spPr bwMode="auto">
          <a:xfrm>
            <a:off x="4825129" y="1897545"/>
            <a:ext cx="6182395" cy="2585323"/>
          </a:xfrm>
          <a:prstGeom prst="rect">
            <a:avLst/>
          </a:prstGeom>
          <a:solidFill>
            <a:schemeClr val="bg2">
              <a:lumMod val="20000"/>
              <a:lumOff val="80000"/>
            </a:schemeClr>
          </a:solidFill>
          <a:ln w="9525">
            <a:solidFill>
              <a:schemeClr val="tx1"/>
            </a:solidFill>
            <a:miter lim="800000"/>
            <a:headEnd/>
            <a:tailEnd/>
          </a:ln>
        </p:spPr>
        <p:txBody>
          <a:bodyPr wrap="square">
            <a:spAutoFit/>
          </a:bodyPr>
          <a:lstStyle>
            <a:lvl1pPr defTabSz="1828800">
              <a:tabLst>
                <a:tab pos="1254125" algn="l"/>
                <a:tab pos="2508250" algn="l"/>
                <a:tab pos="3762375" algn="l"/>
                <a:tab pos="5205413" algn="l"/>
                <a:tab pos="6461125" algn="l"/>
                <a:tab pos="7537450" algn="l"/>
              </a:tabLst>
              <a:defRPr sz="1000">
                <a:solidFill>
                  <a:schemeClr val="tx1"/>
                </a:solidFill>
                <a:latin typeface="Arial" charset="0"/>
              </a:defRPr>
            </a:lvl1pPr>
            <a:lvl2pPr marL="742950" indent="-285750" defTabSz="1828800">
              <a:tabLst>
                <a:tab pos="1254125" algn="l"/>
                <a:tab pos="2508250" algn="l"/>
                <a:tab pos="3762375" algn="l"/>
                <a:tab pos="5205413" algn="l"/>
                <a:tab pos="6461125" algn="l"/>
                <a:tab pos="7537450" algn="l"/>
              </a:tabLst>
              <a:defRPr sz="1000">
                <a:solidFill>
                  <a:schemeClr val="tx1"/>
                </a:solidFill>
                <a:latin typeface="Arial" charset="0"/>
              </a:defRPr>
            </a:lvl2pPr>
            <a:lvl3pPr marL="1143000" indent="-228600" defTabSz="1828800">
              <a:tabLst>
                <a:tab pos="1254125" algn="l"/>
                <a:tab pos="2508250" algn="l"/>
                <a:tab pos="3762375" algn="l"/>
                <a:tab pos="5205413" algn="l"/>
                <a:tab pos="6461125" algn="l"/>
                <a:tab pos="7537450" algn="l"/>
              </a:tabLst>
              <a:defRPr sz="1000">
                <a:solidFill>
                  <a:schemeClr val="tx1"/>
                </a:solidFill>
                <a:latin typeface="Arial" charset="0"/>
              </a:defRPr>
            </a:lvl3pPr>
            <a:lvl4pPr marL="1600200" indent="-228600" defTabSz="1828800">
              <a:tabLst>
                <a:tab pos="1254125" algn="l"/>
                <a:tab pos="2508250" algn="l"/>
                <a:tab pos="3762375" algn="l"/>
                <a:tab pos="5205413" algn="l"/>
                <a:tab pos="6461125" algn="l"/>
                <a:tab pos="7537450" algn="l"/>
              </a:tabLst>
              <a:defRPr sz="1000">
                <a:solidFill>
                  <a:schemeClr val="tx1"/>
                </a:solidFill>
                <a:latin typeface="Arial" charset="0"/>
              </a:defRPr>
            </a:lvl4pPr>
            <a:lvl5pPr marL="2057400" indent="-228600" defTabSz="1828800">
              <a:tabLst>
                <a:tab pos="1254125" algn="l"/>
                <a:tab pos="2508250" algn="l"/>
                <a:tab pos="3762375" algn="l"/>
                <a:tab pos="5205413" algn="l"/>
                <a:tab pos="6461125" algn="l"/>
                <a:tab pos="7537450" algn="l"/>
              </a:tabLst>
              <a:defRPr sz="1000">
                <a:solidFill>
                  <a:schemeClr val="tx1"/>
                </a:solidFill>
                <a:latin typeface="Arial" charset="0"/>
              </a:defRPr>
            </a:lvl5pPr>
            <a:lvl6pPr marL="2514600" indent="-228600" defTabSz="1828800" eaLnBrk="0" fontAlgn="base" hangingPunct="0">
              <a:spcBef>
                <a:spcPct val="50000"/>
              </a:spcBef>
              <a:spcAft>
                <a:spcPct val="0"/>
              </a:spcAft>
              <a:tabLst>
                <a:tab pos="1254125" algn="l"/>
                <a:tab pos="2508250" algn="l"/>
                <a:tab pos="3762375" algn="l"/>
                <a:tab pos="5205413" algn="l"/>
                <a:tab pos="6461125" algn="l"/>
                <a:tab pos="7537450" algn="l"/>
              </a:tabLst>
              <a:defRPr sz="1000">
                <a:solidFill>
                  <a:schemeClr val="tx1"/>
                </a:solidFill>
                <a:latin typeface="Arial" charset="0"/>
              </a:defRPr>
            </a:lvl6pPr>
            <a:lvl7pPr marL="2971800" indent="-228600" defTabSz="1828800" eaLnBrk="0" fontAlgn="base" hangingPunct="0">
              <a:spcBef>
                <a:spcPct val="50000"/>
              </a:spcBef>
              <a:spcAft>
                <a:spcPct val="0"/>
              </a:spcAft>
              <a:tabLst>
                <a:tab pos="1254125" algn="l"/>
                <a:tab pos="2508250" algn="l"/>
                <a:tab pos="3762375" algn="l"/>
                <a:tab pos="5205413" algn="l"/>
                <a:tab pos="6461125" algn="l"/>
                <a:tab pos="7537450" algn="l"/>
              </a:tabLst>
              <a:defRPr sz="1000">
                <a:solidFill>
                  <a:schemeClr val="tx1"/>
                </a:solidFill>
                <a:latin typeface="Arial" charset="0"/>
              </a:defRPr>
            </a:lvl7pPr>
            <a:lvl8pPr marL="3429000" indent="-228600" defTabSz="1828800" eaLnBrk="0" fontAlgn="base" hangingPunct="0">
              <a:spcBef>
                <a:spcPct val="50000"/>
              </a:spcBef>
              <a:spcAft>
                <a:spcPct val="0"/>
              </a:spcAft>
              <a:tabLst>
                <a:tab pos="1254125" algn="l"/>
                <a:tab pos="2508250" algn="l"/>
                <a:tab pos="3762375" algn="l"/>
                <a:tab pos="5205413" algn="l"/>
                <a:tab pos="6461125" algn="l"/>
                <a:tab pos="7537450" algn="l"/>
              </a:tabLst>
              <a:defRPr sz="1000">
                <a:solidFill>
                  <a:schemeClr val="tx1"/>
                </a:solidFill>
                <a:latin typeface="Arial" charset="0"/>
              </a:defRPr>
            </a:lvl8pPr>
            <a:lvl9pPr marL="3886200" indent="-228600" defTabSz="1828800" eaLnBrk="0" fontAlgn="base" hangingPunct="0">
              <a:spcBef>
                <a:spcPct val="50000"/>
              </a:spcBef>
              <a:spcAft>
                <a:spcPct val="0"/>
              </a:spcAft>
              <a:tabLst>
                <a:tab pos="1254125" algn="l"/>
                <a:tab pos="2508250" algn="l"/>
                <a:tab pos="3762375" algn="l"/>
                <a:tab pos="5205413" algn="l"/>
                <a:tab pos="6461125" algn="l"/>
                <a:tab pos="7537450" algn="l"/>
              </a:tabLst>
              <a:defRPr sz="1000">
                <a:solidFill>
                  <a:schemeClr val="tx1"/>
                </a:solidFill>
                <a:latin typeface="Arial" charset="0"/>
              </a:defRPr>
            </a:lvl9pPr>
          </a:lstStyle>
          <a:p>
            <a:r>
              <a:rPr lang="en-GB" sz="1800" dirty="0">
                <a:latin typeface="Courier New" panose="02070309020205020404" pitchFamily="49" charset="0"/>
                <a:cs typeface="Courier New" panose="02070309020205020404" pitchFamily="49" charset="0"/>
              </a:rPr>
              <a:t>False      class       from          or</a:t>
            </a:r>
          </a:p>
          <a:p>
            <a:r>
              <a:rPr lang="en-GB" sz="1800" dirty="0">
                <a:latin typeface="Courier New" panose="02070309020205020404" pitchFamily="49" charset="0"/>
                <a:cs typeface="Courier New" panose="02070309020205020404" pitchFamily="49" charset="0"/>
              </a:rPr>
              <a:t>None       continue    global        pass</a:t>
            </a:r>
          </a:p>
          <a:p>
            <a:r>
              <a:rPr lang="en-GB" sz="1800" dirty="0">
                <a:latin typeface="Courier New" panose="02070309020205020404" pitchFamily="49" charset="0"/>
                <a:cs typeface="Courier New" panose="02070309020205020404" pitchFamily="49" charset="0"/>
              </a:rPr>
              <a:t>True       def         if            raise</a:t>
            </a:r>
          </a:p>
          <a:p>
            <a:r>
              <a:rPr lang="en-GB" sz="1800" dirty="0">
                <a:latin typeface="Courier New" panose="02070309020205020404" pitchFamily="49" charset="0"/>
                <a:cs typeface="Courier New" panose="02070309020205020404" pitchFamily="49" charset="0"/>
              </a:rPr>
              <a:t>and        del         import        return</a:t>
            </a:r>
          </a:p>
          <a:p>
            <a:r>
              <a:rPr lang="en-GB" sz="1800" dirty="0">
                <a:latin typeface="Courier New" panose="02070309020205020404" pitchFamily="49" charset="0"/>
                <a:cs typeface="Courier New" panose="02070309020205020404" pitchFamily="49" charset="0"/>
              </a:rPr>
              <a:t>as         </a:t>
            </a:r>
            <a:r>
              <a:rPr lang="en-GB" sz="1800" dirty="0" err="1">
                <a:latin typeface="Courier New" panose="02070309020205020404" pitchFamily="49" charset="0"/>
                <a:cs typeface="Courier New" panose="02070309020205020404" pitchFamily="49" charset="0"/>
              </a:rPr>
              <a:t>elif</a:t>
            </a:r>
            <a:r>
              <a:rPr lang="en-GB" sz="1800" dirty="0">
                <a:latin typeface="Courier New" panose="02070309020205020404" pitchFamily="49" charset="0"/>
                <a:cs typeface="Courier New" panose="02070309020205020404" pitchFamily="49" charset="0"/>
              </a:rPr>
              <a:t>        in            try</a:t>
            </a:r>
          </a:p>
          <a:p>
            <a:r>
              <a:rPr lang="en-GB" sz="1800" dirty="0">
                <a:latin typeface="Courier New" panose="02070309020205020404" pitchFamily="49" charset="0"/>
                <a:cs typeface="Courier New" panose="02070309020205020404" pitchFamily="49" charset="0"/>
              </a:rPr>
              <a:t>assert     else        is            while</a:t>
            </a:r>
          </a:p>
          <a:p>
            <a:r>
              <a:rPr lang="en-GB" sz="1800" dirty="0">
                <a:latin typeface="Courier New" panose="02070309020205020404" pitchFamily="49" charset="0"/>
                <a:cs typeface="Courier New" panose="02070309020205020404" pitchFamily="49" charset="0"/>
              </a:rPr>
              <a:t>async      except      lambda        with</a:t>
            </a:r>
          </a:p>
          <a:p>
            <a:r>
              <a:rPr lang="en-GB" sz="1800" dirty="0">
                <a:latin typeface="Courier New" panose="02070309020205020404" pitchFamily="49" charset="0"/>
                <a:cs typeface="Courier New" panose="02070309020205020404" pitchFamily="49" charset="0"/>
              </a:rPr>
              <a:t>await      finally     nonlocal      yield</a:t>
            </a:r>
          </a:p>
          <a:p>
            <a:r>
              <a:rPr lang="en-GB" sz="1800" dirty="0">
                <a:latin typeface="Courier New" panose="02070309020205020404" pitchFamily="49" charset="0"/>
                <a:cs typeface="Courier New" panose="02070309020205020404" pitchFamily="49" charset="0"/>
              </a:rPr>
              <a:t>break      for         not </a:t>
            </a:r>
          </a:p>
        </p:txBody>
      </p:sp>
      <p:sp>
        <p:nvSpPr>
          <p:cNvPr id="3" name="TextBox 2">
            <a:extLst>
              <a:ext uri="{FF2B5EF4-FFF2-40B4-BE49-F238E27FC236}">
                <a16:creationId xmlns:a16="http://schemas.microsoft.com/office/drawing/2014/main" id="{A1A2A0A8-2FB5-4CB3-0D80-71941BD9DF6D}"/>
              </a:ext>
            </a:extLst>
          </p:cNvPr>
          <p:cNvSpPr txBox="1"/>
          <p:nvPr/>
        </p:nvSpPr>
        <p:spPr>
          <a:xfrm>
            <a:off x="4247213" y="1399082"/>
            <a:ext cx="7607508" cy="55399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GB" sz="1800" cap="all" dirty="0">
                <a:solidFill>
                  <a:srgbClr val="000000"/>
                </a:solidFill>
                <a:latin typeface="Montserrat Black" panose="00000A00000000000000" pitchFamily="2" charset="0"/>
              </a:rPr>
              <a:t>THE FOLLOWING ARE ILLEGAL AS VARIABLE OR FUNCTION NAMES IN PYTHON</a:t>
            </a:r>
            <a:endParaRPr lang="en-GB" dirty="0">
              <a:solidFill>
                <a:srgbClr val="000000"/>
              </a:solidFill>
            </a:endParaRPr>
          </a:p>
        </p:txBody>
      </p:sp>
      <p:sp>
        <p:nvSpPr>
          <p:cNvPr id="2" name="Slide Number Placeholder 1">
            <a:extLst>
              <a:ext uri="{FF2B5EF4-FFF2-40B4-BE49-F238E27FC236}">
                <a16:creationId xmlns:a16="http://schemas.microsoft.com/office/drawing/2014/main" id="{8C207585-C26D-5ED3-7CC4-F98FD23CB875}"/>
              </a:ext>
            </a:extLst>
          </p:cNvPr>
          <p:cNvSpPr>
            <a:spLocks noGrp="1"/>
          </p:cNvSpPr>
          <p:nvPr>
            <p:ph type="sldNum" sz="quarter" idx="4"/>
          </p:nvPr>
        </p:nvSpPr>
        <p:spPr/>
        <p:txBody>
          <a:bodyPr/>
          <a:lstStyle/>
          <a:p>
            <a:fld id="{EF892D59-8F09-EF4B-AD6D-DA609442F868}" type="slidenum">
              <a:rPr lang="en-GB" smtClean="0"/>
              <a:pPr/>
              <a:t>16</a:t>
            </a:fld>
            <a:endParaRPr lang="en-GB" dirty="0"/>
          </a:p>
        </p:txBody>
      </p:sp>
    </p:spTree>
    <p:extLst>
      <p:ext uri="{BB962C8B-B14F-4D97-AF65-F5344CB8AC3E}">
        <p14:creationId xmlns:p14="http://schemas.microsoft.com/office/powerpoint/2010/main" val="152881522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887A65B979AB34BA89C213ABB051ADE" ma:contentTypeVersion="13" ma:contentTypeDescription="Create a new document." ma:contentTypeScope="" ma:versionID="17f4625ec0b5ee2f091b8da15c267a76">
  <xsd:schema xmlns:xsd="http://www.w3.org/2001/XMLSchema" xmlns:xs="http://www.w3.org/2001/XMLSchema" xmlns:p="http://schemas.microsoft.com/office/2006/metadata/properties" xmlns:ns2="3cd1066a-245b-4400-ad94-398f95c475c9" xmlns:ns3="9d579490-102d-4bf3-8643-974e67683526" targetNamespace="http://schemas.microsoft.com/office/2006/metadata/properties" ma:root="true" ma:fieldsID="5379349c0f1ffc6b5f8ef1afda789c3f" ns2:_="" ns3:_="">
    <xsd:import namespace="3cd1066a-245b-4400-ad94-398f95c475c9"/>
    <xsd:import namespace="9d579490-102d-4bf3-8643-974e6768352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2:MediaServiceAutoTags" minOccurs="0"/>
                <xsd:element ref="ns2:MediaServiceGenerationTime" minOccurs="0"/>
                <xsd:element ref="ns2:MediaServiceEventHashCode"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cd1066a-245b-4400-ad94-398f95c475c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d579490-102d-4bf3-8643-974e67683526"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8D1C456-D3FD-4644-BED1-942F7EE07DE0}">
  <ds:schemaRefs>
    <ds:schemaRef ds:uri="http://schemas.microsoft.com/sharepoint/v3/contenttype/forms"/>
  </ds:schemaRefs>
</ds:datastoreItem>
</file>

<file path=customXml/itemProps2.xml><?xml version="1.0" encoding="utf-8"?>
<ds:datastoreItem xmlns:ds="http://schemas.openxmlformats.org/officeDocument/2006/customXml" ds:itemID="{C7F1DD2F-83D9-421B-9635-543F3E3F4FF5}">
  <ds:schemaRefs>
    <ds:schemaRef ds:uri="http://purl.org/dc/elements/1.1/"/>
    <ds:schemaRef ds:uri="http://schemas.microsoft.com/office/2006/metadata/properties"/>
    <ds:schemaRef ds:uri="5658a7d0-6a08-4b10-980f-26d551ebb763"/>
    <ds:schemaRef ds:uri="http://purl.org/dc/terms/"/>
    <ds:schemaRef ds:uri="http://schemas.openxmlformats.org/package/2006/metadata/core-properties"/>
    <ds:schemaRef ds:uri="2adca231-d9e0-4ab7-b9c8-e8741ed43f47"/>
    <ds:schemaRef ds:uri="http://purl.org/dc/dcmitype/"/>
    <ds:schemaRef ds:uri="http://schemas.microsoft.com/office/2006/documentManagement/types"/>
    <ds:schemaRef ds:uri="http://schemas.microsoft.com/office/infopath/2007/PartnerControls"/>
    <ds:schemaRef ds:uri="http://www.w3.org/XML/1998/namespace"/>
  </ds:schemaRefs>
</ds:datastoreItem>
</file>

<file path=customXml/itemProps3.xml><?xml version="1.0" encoding="utf-8"?>
<ds:datastoreItem xmlns:ds="http://schemas.openxmlformats.org/officeDocument/2006/customXml" ds:itemID="{D3E4026F-835A-40DD-BCBF-169EFAA8A41A}"/>
</file>

<file path=docProps/app.xml><?xml version="1.0" encoding="utf-8"?>
<Properties xmlns="http://schemas.openxmlformats.org/officeDocument/2006/extended-properties" xmlns:vt="http://schemas.openxmlformats.org/officeDocument/2006/docPropsVTypes">
  <Template/>
  <TotalTime>1602</TotalTime>
  <Words>4328</Words>
  <Application>Microsoft Office PowerPoint</Application>
  <PresentationFormat>Widescreen</PresentationFormat>
  <Paragraphs>429</Paragraphs>
  <Slides>16</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Calibri</vt:lpstr>
      <vt:lpstr>Courier New</vt:lpstr>
      <vt:lpstr>Arial</vt:lpstr>
      <vt:lpstr>MS PGothic</vt:lpstr>
      <vt:lpstr>Montserrat</vt:lpstr>
      <vt:lpstr>Montserrat Black</vt:lpstr>
      <vt:lpstr>Master</vt:lpstr>
      <vt:lpstr>Python 3 Programming</vt:lpstr>
      <vt:lpstr>PowerPoint Presentation</vt:lpstr>
      <vt:lpstr>Python is object oriented</vt:lpstr>
      <vt:lpstr>Python variables</vt:lpstr>
      <vt:lpstr>Variable names</vt:lpstr>
      <vt:lpstr>Type specific methods</vt:lpstr>
      <vt:lpstr>Operators and type</vt:lpstr>
      <vt:lpstr>Augmented assignments</vt:lpstr>
      <vt:lpstr>Python 3 types</vt:lpstr>
      <vt:lpstr>Switching types</vt:lpstr>
      <vt:lpstr>Python lists introduced</vt:lpstr>
      <vt:lpstr>Python tuples introduced</vt:lpstr>
      <vt:lpstr>Python dictionaries introduced</vt:lpstr>
      <vt:lpstr>PowerPoint Presentation</vt:lpstr>
      <vt:lpstr>PowerPoint Presentation</vt:lpstr>
      <vt:lpstr>PowerPoint Presentation</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Singh, Vaishali</dc:creator>
  <cp:keywords/>
  <dc:description/>
  <cp:lastModifiedBy>Evans, Josie</cp:lastModifiedBy>
  <cp:revision>479</cp:revision>
  <cp:lastPrinted>2019-07-03T09:46:41Z</cp:lastPrinted>
  <dcterms:created xsi:type="dcterms:W3CDTF">2019-09-05T08:17:12Z</dcterms:created>
  <dcterms:modified xsi:type="dcterms:W3CDTF">2024-02-20T08:29:45Z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hapter">
    <vt:lpwstr>1</vt:lpwstr>
  </property>
  <property fmtid="{D5CDD505-2E9C-101B-9397-08002B2CF9AE}" pid="3" name="ContentTypeId">
    <vt:lpwstr>0x0101005887A65B979AB34BA89C213ABB051ADE</vt:lpwstr>
  </property>
  <property fmtid="{D5CDD505-2E9C-101B-9397-08002B2CF9AE}" pid="4" name="BookType">
    <vt:lpwstr>3</vt:lpwstr>
  </property>
  <property fmtid="{D5CDD505-2E9C-101B-9397-08002B2CF9AE}" pid="5" name="MediaServiceImageTags">
    <vt:lpwstr/>
  </property>
</Properties>
</file>